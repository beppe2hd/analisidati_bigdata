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30"/>
  </p:notesMasterIdLst>
  <p:sldIdLst>
    <p:sldId id="28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embeddedFontLst>
    <p:embeddedFont>
      <p:font typeface="Economica" panose="02000506040000020004" pitchFamily="2" charset="77"/>
      <p:regular r:id="rId31"/>
      <p:bold r:id="rId32"/>
      <p:italic r:id="rId33"/>
      <p:boldItalic r:id="rId34"/>
    </p:embeddedFont>
    <p:embeddedFont>
      <p:font typeface="Merriweather Sans" pitchFamily="2" charset="77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ExtraBold" panose="020B0906030804020204" pitchFamily="34" charset="0"/>
      <p:bold r:id="rId43"/>
      <p:italic r:id="rId44"/>
      <p:boldItalic r:id="rId45"/>
    </p:embeddedFont>
    <p:embeddedFont>
      <p:font typeface="Tahoma" panose="020B0604030504040204" pitchFamily="34" charset="0"/>
      <p:regular r:id="rId46"/>
      <p:bold r:id="rId47"/>
    </p:embeddedFont>
  </p:embeddedFontLst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/>
    <p:restoredTop sz="94694"/>
  </p:normalViewPr>
  <p:slideViewPr>
    <p:cSldViewPr snapToGrid="0">
      <p:cViewPr varScale="1">
        <p:scale>
          <a:sx n="123" d="100"/>
          <a:sy n="123" d="100"/>
        </p:scale>
        <p:origin x="208" y="8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E3FF87E-ADEE-FAAC-745D-E3F703A3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736235af6_0_0:notes">
            <a:extLst>
              <a:ext uri="{FF2B5EF4-FFF2-40B4-BE49-F238E27FC236}">
                <a16:creationId xmlns:a16="http://schemas.microsoft.com/office/drawing/2014/main" id="{5719CE22-15DC-A1D9-E440-CC7BD3B91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736235af6_0_0:notes">
            <a:extLst>
              <a:ext uri="{FF2B5EF4-FFF2-40B4-BE49-F238E27FC236}">
                <a16:creationId xmlns:a16="http://schemas.microsoft.com/office/drawing/2014/main" id="{7515739B-2EEA-EAE8-B8A3-10A35B933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806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736235a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736235a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8a7f8e12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88a7f8e123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81502d0b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81502d0b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881502d0bd_0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81502d0b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81502d0b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881502d0bd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81502d0bd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81502d0bd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881502d0bd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81502d0b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81502d0bd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881502d0bd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81502d0b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81502d0b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881502d0bd_0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881502d0bd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881502d0bd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881502d0bd_0_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8a7f8e12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88a7f8e123_0_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81502d0bd_0_1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881502d0b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81502d0bd_0_1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881502d0bd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81502d0bd_0_17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881502d0bd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81502d0bd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81502d0bd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81502d0bd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81502d0bd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881502d0bd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881502d0bd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1502d0bd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1502d0bd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881502d0bd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881502d0bd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81502d0bd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81502d0bd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881502d0bd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881502d0bd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881502d0b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881502d0b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881502d0bd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881502d0bd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881502d0bd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881502d0bd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81502d0bd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81502d0bd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881502d0bd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881502d0bd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81502d0bd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881502d0bd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28B5CB5E-4D62-6F64-1F1A-DE21CCCA2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51435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00">
              <a:ea typeface="+mn-ea"/>
            </a:endParaRP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E0B269DB-9067-E88D-41B8-3B07C392182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768328" y="-1882378"/>
            <a:ext cx="1607344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00">
              <a:ea typeface="+mn-ea"/>
            </a:endParaRPr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8E7BA452-2D19-F66B-3CB1-6CD6E5EFC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828801"/>
            <a:ext cx="1828800" cy="171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00">
              <a:ea typeface="+mn-ea"/>
            </a:endParaRPr>
          </a:p>
        </p:txBody>
      </p:sp>
      <p:pic>
        <p:nvPicPr>
          <p:cNvPr id="5" name="Picture 35" descr="awtri_4c UPDATE_color">
            <a:extLst>
              <a:ext uri="{FF2B5EF4-FFF2-40B4-BE49-F238E27FC236}">
                <a16:creationId xmlns:a16="http://schemas.microsoft.com/office/drawing/2014/main" id="{5641F287-64E2-B135-A677-28C596C72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462462"/>
            <a:ext cx="684213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6" descr="elmasri_thumb">
            <a:extLst>
              <a:ext uri="{FF2B5EF4-FFF2-40B4-BE49-F238E27FC236}">
                <a16:creationId xmlns:a16="http://schemas.microsoft.com/office/drawing/2014/main" id="{AC748A14-794D-7BB1-F76F-888ED6131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6" y="1885950"/>
            <a:ext cx="1724025" cy="160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14300"/>
            <a:ext cx="7086600" cy="1714500"/>
          </a:xfrm>
        </p:spPr>
        <p:txBody>
          <a:bodyPr wrap="none" anchor="ctr"/>
          <a:lstStyle>
            <a:lvl1pPr>
              <a:defRPr sz="4950">
                <a:solidFill>
                  <a:srgbClr val="99003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1943100"/>
            <a:ext cx="6629400" cy="142875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7A1712BB-8E2D-093E-A791-A6BAFE9934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4798219"/>
            <a:ext cx="449580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675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 altLang="en-US"/>
              <a:t>Copyright © 2007 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1630190401"/>
      </p:ext>
    </p:extLst>
  </p:cSld>
  <p:clrMapOvr>
    <a:masterClrMapping/>
  </p:clrMapOvr>
  <p:transition spd="med"/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500"/>
            </a:lvl1pPr>
            <a:lvl2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500"/>
            </a:lvl2pPr>
            <a:lvl3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350"/>
            </a:lvl3pPr>
            <a:lvl4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200"/>
            </a:lvl4pPr>
            <a:lvl5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03877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0882598"/>
      </p:ext>
    </p:extLst>
  </p:cSld>
  <p:clrMapOvr>
    <a:masterClrMapping/>
  </p:clrMapOvr>
  <p:transition spd="med"/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200150"/>
            <a:ext cx="4070350" cy="3429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4" y="1200150"/>
            <a:ext cx="4071937" cy="3429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71801"/>
      </p:ext>
    </p:extLst>
  </p:cSld>
  <p:clrMapOvr>
    <a:masterClrMapping/>
  </p:clrMapOvr>
  <p:transition spd="med"/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21430"/>
      </p:ext>
    </p:extLst>
  </p:cSld>
  <p:clrMapOvr>
    <a:masterClrMapping/>
  </p:clrMapOvr>
  <p:transition spd="med"/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28537"/>
      </p:ext>
    </p:extLst>
  </p:cSld>
  <p:clrMapOvr>
    <a:masterClrMapping/>
  </p:clrMapOvr>
  <p:transition spd="med"/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945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7145022"/>
      </p:ext>
    </p:extLst>
  </p:cSld>
  <p:clrMapOvr>
    <a:masterClrMapping/>
  </p:clrMapOvr>
  <p:transition spd="med"/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7376438"/>
      </p:ext>
    </p:extLst>
  </p:cSld>
  <p:clrMapOvr>
    <a:masterClrMapping/>
  </p:clrMapOvr>
  <p:transition spd="med"/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372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286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>
            <a:extLst>
              <a:ext uri="{FF2B5EF4-FFF2-40B4-BE49-F238E27FC236}">
                <a16:creationId xmlns:a16="http://schemas.microsoft.com/office/drawing/2014/main" id="{B9485963-F642-C24D-6941-1B4B51FC8516}"/>
              </a:ext>
            </a:extLst>
          </p:cNvPr>
          <p:cNvGrpSpPr>
            <a:grpSpLocks/>
          </p:cNvGrpSpPr>
          <p:nvPr/>
        </p:nvGrpSpPr>
        <p:grpSpPr bwMode="auto">
          <a:xfrm>
            <a:off x="8936038" y="1087041"/>
            <a:ext cx="207962" cy="4056459"/>
            <a:chOff x="5606" y="889"/>
            <a:chExt cx="154" cy="3431"/>
          </a:xfrm>
        </p:grpSpPr>
        <p:sp>
          <p:nvSpPr>
            <p:cNvPr id="2" name="Rectangle 38">
              <a:extLst>
                <a:ext uri="{FF2B5EF4-FFF2-40B4-BE49-F238E27FC236}">
                  <a16:creationId xmlns:a16="http://schemas.microsoft.com/office/drawing/2014/main" id="{CDF3093B-6C36-D9CF-A2A4-29939AF55D79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157394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5" name="Group 44">
              <a:extLst>
                <a:ext uri="{FF2B5EF4-FFF2-40B4-BE49-F238E27FC236}">
                  <a16:creationId xmlns:a16="http://schemas.microsoft.com/office/drawing/2014/main" id="{402FB482-BCA6-FDF6-B8C9-3011F26F6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id="{9C40FDAE-BAEF-C808-E0B7-2287044E317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rgbClr val="DC4C4C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2400" dirty="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3" name="Rectangle 32">
                <a:extLst>
                  <a:ext uri="{FF2B5EF4-FFF2-40B4-BE49-F238E27FC236}">
                    <a16:creationId xmlns:a16="http://schemas.microsoft.com/office/drawing/2014/main" id="{27111B1F-EEC1-3444-58A6-6A149568437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E17070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240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id="{6FF57294-8D84-40B7-A97D-99386C5AB675}"/>
              </a:ext>
            </a:extLst>
          </p:cNvPr>
          <p:cNvSpPr>
            <a:spLocks noChangeArrowheads="1"/>
          </p:cNvSpPr>
          <p:nvPr/>
        </p:nvSpPr>
        <p:spPr bwMode="gray">
          <a:xfrm rot="16200000">
            <a:off x="4544418" y="-3512543"/>
            <a:ext cx="58341" cy="9140825"/>
          </a:xfrm>
          <a:prstGeom prst="rect">
            <a:avLst/>
          </a:prstGeom>
          <a:solidFill>
            <a:srgbClr val="589CB4"/>
          </a:solidFill>
          <a:ln>
            <a:noFill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DC0F7037-92D3-7E0A-55A9-404906483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1" y="227410"/>
            <a:ext cx="7796213" cy="74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 dirty="0"/>
          </a:p>
        </p:txBody>
      </p:sp>
      <p:sp>
        <p:nvSpPr>
          <p:cNvPr id="1030" name="Rectangle 21">
            <a:extLst>
              <a:ext uri="{FF2B5EF4-FFF2-40B4-BE49-F238E27FC236}">
                <a16:creationId xmlns:a16="http://schemas.microsoft.com/office/drawing/2014/main" id="{76ECBC8F-AE27-B907-9DD9-44EDABE8E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4" y="1200150"/>
            <a:ext cx="829468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id="{40B1C141-1CC7-64E8-4630-CC3D077F1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857750"/>
            <a:ext cx="3276600" cy="22741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675" dirty="0"/>
              <a:t>Copyright © 2016 Ramez Elmasri and Shamkant B. Navathe</a:t>
            </a:r>
          </a:p>
        </p:txBody>
      </p:sp>
      <p:pic>
        <p:nvPicPr>
          <p:cNvPr id="1032" name="Picture 1">
            <a:extLst>
              <a:ext uri="{FF2B5EF4-FFF2-40B4-BE49-F238E27FC236}">
                <a16:creationId xmlns:a16="http://schemas.microsoft.com/office/drawing/2014/main" id="{C8E023D0-8323-E1E5-B043-AAAAD3E8D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88" y="222647"/>
            <a:ext cx="617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">
            <a:extLst>
              <a:ext uri="{FF2B5EF4-FFF2-40B4-BE49-F238E27FC236}">
                <a16:creationId xmlns:a16="http://schemas.microsoft.com/office/drawing/2014/main" id="{6275177B-8634-1E6B-FE52-284EBAE8D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976" y="576263"/>
            <a:ext cx="404813" cy="30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0">
            <a:extLst>
              <a:ext uri="{FF2B5EF4-FFF2-40B4-BE49-F238E27FC236}">
                <a16:creationId xmlns:a16="http://schemas.microsoft.com/office/drawing/2014/main" id="{61D99BA9-F869-2243-3E31-2C6563A62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188" y="4858941"/>
            <a:ext cx="3276600" cy="22741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US" altLang="en-US" sz="788" b="1" dirty="0" err="1"/>
              <a:t>Analisi</a:t>
            </a:r>
            <a:r>
              <a:rPr lang="en-US" altLang="en-US" sz="788" b="1" dirty="0"/>
              <a:t> </a:t>
            </a:r>
            <a:r>
              <a:rPr lang="en-US" altLang="en-US" sz="788" b="1" dirty="0" err="1"/>
              <a:t>dei</a:t>
            </a:r>
            <a:r>
              <a:rPr lang="en-US" altLang="en-US" sz="788" b="1" dirty="0"/>
              <a:t> </a:t>
            </a:r>
            <a:r>
              <a:rPr lang="en-US" altLang="en-US" sz="788" b="1" dirty="0" err="1"/>
              <a:t>dati</a:t>
            </a:r>
            <a:r>
              <a:rPr lang="en-US" altLang="en-US" sz="788" b="1" dirty="0"/>
              <a:t> e big data  -  Marco Del Coco</a:t>
            </a:r>
          </a:p>
        </p:txBody>
      </p:sp>
    </p:spTree>
    <p:extLst>
      <p:ext uri="{BB962C8B-B14F-4D97-AF65-F5344CB8AC3E}">
        <p14:creationId xmlns:p14="http://schemas.microsoft.com/office/powerpoint/2010/main" val="35048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 spd="med"/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800000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800000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800000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800000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itchFamily="2" charset="2"/>
        <a:buChar char="n"/>
        <a:defRPr sz="1800">
          <a:solidFill>
            <a:schemeClr val="tx2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1600">
          <a:solidFill>
            <a:srgbClr val="DC4C4C"/>
          </a:solidFill>
          <a:latin typeface="+mn-lt"/>
          <a:ea typeface="ＭＳ Ｐゴシック" panose="020B0600070205080204" pitchFamily="34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400">
          <a:solidFill>
            <a:schemeClr val="tx2"/>
          </a:solidFill>
          <a:latin typeface="+mn-lt"/>
          <a:ea typeface="ＭＳ Ｐゴシック" panose="020B0600070205080204" pitchFamily="34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1200">
          <a:solidFill>
            <a:srgbClr val="106380"/>
          </a:solidFill>
          <a:latin typeface="+mn-lt"/>
          <a:ea typeface="ＭＳ Ｐゴシック" panose="020B0600070205080204" pitchFamily="34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200">
          <a:solidFill>
            <a:schemeClr val="tx2"/>
          </a:solidFill>
          <a:latin typeface="+mn-lt"/>
          <a:ea typeface="ＭＳ Ｐゴシック" panose="020B0600070205080204" pitchFamily="34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500">
          <a:solidFill>
            <a:schemeClr val="tx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500">
          <a:solidFill>
            <a:schemeClr val="tx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500">
          <a:solidFill>
            <a:schemeClr val="tx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5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63B800F6-7284-0A52-B6E9-D9F02CC5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3;p18">
            <a:extLst>
              <a:ext uri="{FF2B5EF4-FFF2-40B4-BE49-F238E27FC236}">
                <a16:creationId xmlns:a16="http://schemas.microsoft.com/office/drawing/2014/main" id="{6DCA7CDB-B02B-B927-3B1E-050D9D95B7D7}"/>
              </a:ext>
            </a:extLst>
          </p:cNvPr>
          <p:cNvSpPr txBox="1">
            <a:spLocks/>
          </p:cNvSpPr>
          <p:nvPr/>
        </p:nvSpPr>
        <p:spPr bwMode="auto">
          <a:xfrm>
            <a:off x="519545" y="1714500"/>
            <a:ext cx="70866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chemeClr val="accent1"/>
                </a:solidFill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E1D7CC"/>
                </a:solidFill>
                <a:latin typeface="Arial" charset="0"/>
                <a:ea typeface="ＭＳ Ｐゴシック" panose="020B0600070205080204" pitchFamily="34" charset="-128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E1D7CC"/>
                </a:solidFill>
                <a:latin typeface="Arial" charset="0"/>
                <a:ea typeface="ＭＳ Ｐゴシック" panose="020B0600070205080204" pitchFamily="34" charset="-128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E1D7CC"/>
                </a:solidFill>
                <a:latin typeface="Arial" charset="0"/>
                <a:ea typeface="ＭＳ Ｐゴシック" panose="020B0600070205080204" pitchFamily="34" charset="-128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E1D7CC"/>
                </a:solidFill>
                <a:latin typeface="Arial" charset="0"/>
                <a:ea typeface="ＭＳ Ｐゴシック" panose="020B0600070205080204" pitchFamily="34" charset="-128"/>
              </a:defRPr>
            </a:lvl5pPr>
            <a:lvl6pPr marL="342900" lvl="5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800000"/>
                </a:solidFill>
                <a:latin typeface="Arial" charset="0"/>
              </a:defRPr>
            </a:lvl6pPr>
            <a:lvl7pPr marL="685800" lvl="6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800000"/>
                </a:solidFill>
                <a:latin typeface="Arial" charset="0"/>
              </a:defRPr>
            </a:lvl7pPr>
            <a:lvl8pPr marL="1028700" lvl="7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800000"/>
                </a:solidFill>
                <a:latin typeface="Arial" charset="0"/>
              </a:defRPr>
            </a:lvl8pPr>
            <a:lvl9pPr marL="1371600" lvl="8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800000"/>
                </a:solidFill>
                <a:latin typeface="Arial" charset="0"/>
              </a:defRPr>
            </a:lvl9pPr>
          </a:lstStyle>
          <a:p>
            <a:pPr>
              <a:buClr>
                <a:schemeClr val="lt1"/>
              </a:buClr>
              <a:buSzPts val="3994"/>
              <a:buFont typeface="Open Sans ExtraBold"/>
              <a:buNone/>
            </a:pPr>
            <a:r>
              <a:rPr lang="en-GB" sz="3600" kern="0" dirty="0"/>
              <a:t>Introduction to neo4J </a:t>
            </a:r>
          </a:p>
          <a:p>
            <a:pPr>
              <a:buClr>
                <a:schemeClr val="lt1"/>
              </a:buClr>
              <a:buSzPts val="3994"/>
              <a:buFont typeface="Open Sans ExtraBold"/>
              <a:buNone/>
            </a:pPr>
            <a:r>
              <a:rPr lang="en-GB" sz="3600" kern="0" dirty="0"/>
              <a:t>and Cypher</a:t>
            </a:r>
            <a:endParaRPr lang="en-GB" sz="3000" kern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DAA2F7-F7DA-1731-D4D5-484BCF16E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908" y="3236209"/>
            <a:ext cx="2441864" cy="916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502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session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cover: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Property graph database anatomy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to Cypher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Continuing your graph journey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</a:pPr>
            <a:r>
              <a:rPr lang="en"/>
              <a:t>So what does a (property) graph look like?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602625" y="1228900"/>
            <a:ext cx="8637000" cy="3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The main data element from which graphs are constructed </a:t>
            </a:r>
            <a:b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800" i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Graph components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4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Jane</a:t>
            </a:r>
            <a:endParaRPr sz="1800" b="1"/>
          </a:p>
        </p:txBody>
      </p:sp>
      <p:sp>
        <p:nvSpPr>
          <p:cNvPr id="116" name="Google Shape;116;p21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car</a:t>
            </a:r>
            <a:endParaRPr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Graph components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5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195300" y="1221317"/>
            <a:ext cx="8637000" cy="3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The main data element from which graphs are constructed </a:t>
            </a:r>
            <a:br>
              <a:rPr lang="en" sz="18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A link between two nodes.  Has:</a:t>
            </a:r>
            <a:endParaRPr sz="18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○"/>
            </a:pPr>
            <a:r>
              <a:rPr lang="en" sz="18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Direction</a:t>
            </a:r>
            <a:endParaRPr sz="18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○"/>
            </a:pPr>
            <a:r>
              <a:rPr lang="en" sz="18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Type</a:t>
            </a:r>
            <a:endParaRPr sz="1800" b="1" i="1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 i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A node without relationships is permitted.  A relationship without nodes is not</a:t>
            </a:r>
            <a:endParaRPr sz="1800" i="1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5" name="Google Shape;125;p22"/>
          <p:cNvCxnSpPr>
            <a:stCxn id="126" idx="2"/>
            <a:endCxn id="127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27" name="Google Shape;127;p22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Jane</a:t>
            </a:r>
            <a:endParaRPr sz="1800" b="1"/>
          </a:p>
        </p:txBody>
      </p:sp>
      <p:sp>
        <p:nvSpPr>
          <p:cNvPr id="126" name="Google Shape;126;p22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car</a:t>
            </a:r>
            <a:endParaRPr sz="1800" b="1"/>
          </a:p>
        </p:txBody>
      </p:sp>
      <p:sp>
        <p:nvSpPr>
          <p:cNvPr id="128" name="Google Shape;128;p22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graph database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6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7" name="Google Shape;137;p23"/>
          <p:cNvCxnSpPr>
            <a:stCxn id="138" idx="2"/>
            <a:endCxn id="139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39" name="Google Shape;139;p23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  <p:sp>
        <p:nvSpPr>
          <p:cNvPr id="141" name="Google Shape;141;p23"/>
          <p:cNvSpPr txBox="1"/>
          <p:nvPr/>
        </p:nvSpPr>
        <p:spPr>
          <a:xfrm>
            <a:off x="5516450" y="3455800"/>
            <a:ext cx="21516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8144431" y="2708853"/>
            <a:ext cx="792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graph database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48" name="Google Shape;148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7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1" name="Google Shape;151;p24"/>
          <p:cNvCxnSpPr>
            <a:stCxn id="152" idx="2"/>
            <a:endCxn id="153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3" name="Google Shape;153;p24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:Person</a:t>
            </a:r>
            <a:endParaRPr sz="1200" b="1"/>
          </a:p>
        </p:txBody>
      </p:sp>
      <p:sp>
        <p:nvSpPr>
          <p:cNvPr id="152" name="Google Shape;152;p24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:Car</a:t>
            </a:r>
            <a:endParaRPr sz="1200" b="1"/>
          </a:p>
        </p:txBody>
      </p:sp>
      <p:sp>
        <p:nvSpPr>
          <p:cNvPr id="154" name="Google Shape;154;p24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  <p:sp>
        <p:nvSpPr>
          <p:cNvPr id="155" name="Google Shape;155;p24"/>
          <p:cNvSpPr txBox="1"/>
          <p:nvPr/>
        </p:nvSpPr>
        <p:spPr>
          <a:xfrm>
            <a:off x="611600" y="2063375"/>
            <a:ext cx="51237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sz="2000" b="1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Define node category (optional)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graph database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61" name="Google Shape;161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8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4" name="Google Shape;164;p25"/>
          <p:cNvCxnSpPr>
            <a:stCxn id="165" idx="2"/>
            <a:endCxn id="166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6" name="Google Shape;166;p25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:Person</a:t>
            </a:r>
            <a:endParaRPr sz="1200" b="1"/>
          </a:p>
        </p:txBody>
      </p:sp>
      <p:sp>
        <p:nvSpPr>
          <p:cNvPr id="165" name="Google Shape;165;p25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:Car</a:t>
            </a:r>
            <a:endParaRPr sz="1200" b="1"/>
          </a:p>
        </p:txBody>
      </p:sp>
      <p:sp>
        <p:nvSpPr>
          <p:cNvPr id="167" name="Google Shape;167;p25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  <p:sp>
        <p:nvSpPr>
          <p:cNvPr id="168" name="Google Shape;168;p25"/>
          <p:cNvSpPr txBox="1"/>
          <p:nvPr/>
        </p:nvSpPr>
        <p:spPr>
          <a:xfrm>
            <a:off x="611600" y="2063375"/>
            <a:ext cx="51237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sz="2000" b="1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Define node category (optional)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Can have more than one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8144431" y="2708853"/>
            <a:ext cx="792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:Asset</a:t>
            </a:r>
            <a:endParaRPr sz="12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Property graph database</a:t>
            </a:r>
            <a:endParaRPr dirty="0">
              <a:solidFill>
                <a:srgbClr val="666666"/>
              </a:solidFill>
            </a:endParaRPr>
          </a:p>
        </p:txBody>
      </p:sp>
      <p:sp>
        <p:nvSpPr>
          <p:cNvPr id="175" name="Google Shape;175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9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7" name="Google Shape;177;p26"/>
          <p:cNvCxnSpPr>
            <a:stCxn id="178" idx="2"/>
            <a:endCxn id="179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79" name="Google Shape;179;p26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:Person</a:t>
            </a:r>
            <a:endParaRPr sz="1200" b="1"/>
          </a:p>
        </p:txBody>
      </p:sp>
      <p:sp>
        <p:nvSpPr>
          <p:cNvPr id="178" name="Google Shape;178;p26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:Car</a:t>
            </a:r>
            <a:endParaRPr sz="1200" b="1"/>
          </a:p>
        </p:txBody>
      </p:sp>
      <p:sp>
        <p:nvSpPr>
          <p:cNvPr id="180" name="Google Shape;180;p26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  <p:sp>
        <p:nvSpPr>
          <p:cNvPr id="181" name="Google Shape;181;p26"/>
          <p:cNvSpPr txBox="1"/>
          <p:nvPr/>
        </p:nvSpPr>
        <p:spPr>
          <a:xfrm>
            <a:off x="611600" y="2063375"/>
            <a:ext cx="51333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sz="2000" b="1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Define node category (optional)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Can have more than one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611590" y="3282565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Properties</a:t>
            </a:r>
            <a:endParaRPr sz="2000" b="1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Enrich a node or relationship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000" dirty="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 need for nulls!</a:t>
            </a:r>
            <a:endParaRPr sz="20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5516450" y="3455800"/>
            <a:ext cx="21516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latin typeface="Open Sans"/>
                <a:ea typeface="Open Sans"/>
                <a:cs typeface="Open Sans"/>
                <a:sym typeface="Open Sans"/>
              </a:rPr>
              <a:t>name: Jane</a:t>
            </a:r>
            <a:endParaRPr sz="1800" i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7831200" y="3455800"/>
            <a:ext cx="11604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latin typeface="Open Sans"/>
                <a:ea typeface="Open Sans"/>
                <a:cs typeface="Open Sans"/>
                <a:sym typeface="Open Sans"/>
              </a:rPr>
              <a:t>make: Volvo</a:t>
            </a:r>
            <a:endParaRPr sz="1800" i="1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latin typeface="Open Sans"/>
                <a:ea typeface="Open Sans"/>
                <a:cs typeface="Open Sans"/>
                <a:sym typeface="Open Sans"/>
              </a:rPr>
              <a:t>model: V60</a:t>
            </a:r>
            <a:endParaRPr sz="1800" i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6659450" y="3151000"/>
            <a:ext cx="21516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latin typeface="Open Sans"/>
                <a:ea typeface="Open Sans"/>
                <a:cs typeface="Open Sans"/>
                <a:sym typeface="Open Sans"/>
              </a:rPr>
              <a:t>since: 2018</a:t>
            </a:r>
            <a:endParaRPr sz="1800" i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8144431" y="2708853"/>
            <a:ext cx="792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:Asset</a:t>
            </a:r>
            <a:endParaRPr sz="12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</a:pPr>
            <a:r>
              <a:rPr lang="en"/>
              <a:t>How do I query the graph?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/>
          <p:nvPr/>
        </p:nvSpPr>
        <p:spPr>
          <a:xfrm>
            <a:off x="380275" y="1128450"/>
            <a:ext cx="854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7839818" y="4789223"/>
            <a:ext cx="2121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Merriweather Sans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11</a:t>
            </a:fld>
            <a:r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￼</a:t>
            </a:r>
            <a:endParaRPr sz="900"/>
          </a:p>
        </p:txBody>
      </p:sp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311700" y="18392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Cypher</a:t>
            </a:r>
            <a:endParaRPr dirty="0"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pattern-matching query language made for graphs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/>
          <p:nvPr/>
        </p:nvSpPr>
        <p:spPr>
          <a:xfrm>
            <a:off x="380275" y="1128450"/>
            <a:ext cx="854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7839818" y="4789223"/>
            <a:ext cx="2121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Merriweather Sans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12</a:t>
            </a:fld>
            <a:r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￼</a:t>
            </a:r>
            <a:endParaRPr sz="900"/>
          </a:p>
        </p:txBody>
      </p:sp>
      <p:sp>
        <p:nvSpPr>
          <p:cNvPr id="207" name="Google Shape;207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Cypher</a:t>
            </a:r>
            <a:endParaRPr/>
          </a:p>
        </p:txBody>
      </p:sp>
      <p:sp>
        <p:nvSpPr>
          <p:cNvPr id="208" name="Google Shape;208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pattern matching query language made for graphs</a:t>
            </a:r>
            <a:b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33333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Expressive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Pattern-Matching</a:t>
            </a:r>
            <a:endParaRPr sz="22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380275" y="1128450"/>
            <a:ext cx="854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7839818" y="4789223"/>
            <a:ext cx="2121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Merriweather Sans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13</a:t>
            </a:fld>
            <a:r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￼</a:t>
            </a:r>
            <a:endParaRPr sz="900"/>
          </a:p>
        </p:txBody>
      </p:sp>
      <p:sp>
        <p:nvSpPr>
          <p:cNvPr id="215" name="Google Shape;215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Cypher</a:t>
            </a:r>
            <a:endParaRPr/>
          </a:p>
        </p:txBody>
      </p:sp>
      <p:sp>
        <p:nvSpPr>
          <p:cNvPr id="216" name="Google Shape;216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 pattern matching query language made for graphs</a:t>
            </a:r>
            <a:br>
              <a:rPr lang="en" sz="2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D9D9D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D9D9D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Expressive</a:t>
            </a: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D9D9D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Pattern Matching</a:t>
            </a: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With ASCII ART ¯\_(ツ)_/¯</a:t>
            </a:r>
            <a:endParaRPr sz="22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MATCH to retrieve nodes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//Match all nodes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(n)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3" name="Google Shape;2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673" y="1237369"/>
            <a:ext cx="3343303" cy="15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MATCH to retrieve nodes</a:t>
            </a:r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//Match all nodes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(n) 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//Match all nodes with a Person label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(n:Person)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0" name="Google Shape;23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673" y="1237369"/>
            <a:ext cx="3343303" cy="15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MATCH to retrieve nodes</a:t>
            </a:r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//Match all nodes</a:t>
            </a: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(n) </a:t>
            </a: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//Match all nodes with a Person label</a:t>
            </a: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</a:t>
            </a:r>
            <a:r>
              <a:rPr lang="en" sz="1400" dirty="0" err="1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n:Person</a:t>
            </a: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//Match all nodes with a Person label and property name is "Tom Hanks"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MATCH (</a:t>
            </a:r>
            <a:r>
              <a:rPr lang="en" sz="1400" dirty="0" err="1">
                <a:latin typeface="Courier New"/>
                <a:ea typeface="Courier New"/>
                <a:cs typeface="Courier New"/>
                <a:sym typeface="Courier New"/>
              </a:rPr>
              <a:t>n:Person</a:t>
            </a: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 {name: "Tom Hanks"}) 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673" y="1237369"/>
            <a:ext cx="3343303" cy="15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 MATCH and properties to retrieve nodes </a:t>
            </a:r>
            <a:endParaRPr sz="2700"/>
          </a:p>
        </p:txBody>
      </p:sp>
      <p:sp>
        <p:nvSpPr>
          <p:cNvPr id="242" name="Google Shape;242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is "Tom Hanks" - Inline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(p:Person {name: "Tom Hanks"}) //Only works with exact matches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 MATCH and properties to retrieve nodes </a:t>
            </a:r>
            <a:endParaRPr sz="2700"/>
          </a:p>
        </p:txBody>
      </p:sp>
      <p:sp>
        <p:nvSpPr>
          <p:cNvPr id="248" name="Google Shape;248;p3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is "Tom Hanks" - Inline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 {name: "Tom Hanks"}) //Only works with exact matches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equals "Tom Hanks"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(p:Person)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WHERE p.name = "Tom Hanks"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 MATCH and properties to retrieve nodes </a:t>
            </a:r>
            <a:endParaRPr sz="270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is "Tom Hanks" - Inline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 {name: "Tom Hanks"}) //Only works with exact matches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equals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WHERE p.name =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//Return nodes with label Movie, released property is between 1991 and 1999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(m:Movie)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WHERE m.released &gt; 1990 AND m.released &lt; 2000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m;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2" name="Google Shape;262;p37"/>
          <p:cNvPicPr preferRelativeResize="0"/>
          <p:nvPr/>
        </p:nvPicPr>
        <p:blipFill rotWithShape="1">
          <a:blip r:embed="rId3">
            <a:alphaModFix/>
          </a:blip>
          <a:srcRect t="9133" b="13335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//Find all the movies Tom Hanks acted in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(:Person {name:"Tom Hanks"})-[:ACTED_IN]-&gt;(m:Movie)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m.title;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9" name="Google Shape;269;p38"/>
          <p:cNvPicPr preferRelativeResize="0"/>
          <p:nvPr/>
        </p:nvPicPr>
        <p:blipFill rotWithShape="1">
          <a:blip r:embed="rId3">
            <a:alphaModFix/>
          </a:blip>
          <a:srcRect t="9133" b="13335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sp>
        <p:nvSpPr>
          <p:cNvPr id="274" name="Google Shape;274;p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//Find all the movies Tom Hanks acted in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(:Person {name:"Tom Hanks"})-[:ACTED_IN]-&gt;(m:Movie)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m.title;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//Find all the movies Tom Hanks directed and order by latest movie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(:Person {name:"Tom Hanks"})-[:DIRECTED]-&gt;(m:Movie)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m.title, m.released ORDER BY m.released DESC;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3">
            <a:alphaModFix/>
          </a:blip>
          <a:srcRect t="9133" b="13335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sp>
        <p:nvSpPr>
          <p:cNvPr id="281" name="Google Shape;281;p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//Find all the movies Tom Hanks acted in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(:Person {name:"Tom Hanks"})-[:ACTED_IN]-&gt;(m:Movie)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m.title;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//Find all the movies Tom Hanks directed and order by latest movie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(:Person {name:"Tom Hanks"})-[:DIRECTED]-&gt;(m:Movie)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m.title, m.released ORDER BY m.released DESC;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//Find all of the co-actors Tom Hanks have worked with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(:Person {name:"Tom Hanks"})--&gt;(:Movie)&lt;-[:ACTED_IN]-(coActor:Person)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coActor.name;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3" name="Google Shape;283;p40"/>
          <p:cNvPicPr preferRelativeResize="0"/>
          <p:nvPr/>
        </p:nvPicPr>
        <p:blipFill rotWithShape="1">
          <a:blip r:embed="rId3">
            <a:alphaModFix/>
          </a:blip>
          <a:srcRect t="9133" b="13335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endParaRPr/>
          </a:p>
        </p:txBody>
      </p:sp>
      <p:sp>
        <p:nvSpPr>
          <p:cNvPr id="288" name="Google Shape;288;p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//Create a person node called "Tom Hanks"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CREATE (p:Person {name:"Tom Hanks"});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endParaRPr/>
          </a:p>
        </p:txBody>
      </p:sp>
      <p:sp>
        <p:nvSpPr>
          <p:cNvPr id="294" name="Google Shape;294;p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//Create a person node called "Tom Hanks"</a:t>
            </a: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CREATE (</a:t>
            </a:r>
            <a:r>
              <a:rPr lang="en" sz="1400" dirty="0" err="1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p:Person</a:t>
            </a: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" sz="1400" dirty="0" err="1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name:"Tom</a:t>
            </a:r>
            <a:r>
              <a:rPr lang="en" sz="1400" dirty="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 Hanks"});</a:t>
            </a: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//Create an ACTED_IN relationship between "Tom Hanks" and "Apollo 13"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MATCH (</a:t>
            </a:r>
            <a:r>
              <a:rPr lang="en" sz="1400" dirty="0" err="1">
                <a:latin typeface="Courier New"/>
                <a:ea typeface="Courier New"/>
                <a:cs typeface="Courier New"/>
                <a:sym typeface="Courier New"/>
              </a:rPr>
              <a:t>p:Person</a:t>
            </a: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" sz="1400" dirty="0" err="1">
                <a:latin typeface="Courier New"/>
                <a:ea typeface="Courier New"/>
                <a:cs typeface="Courier New"/>
                <a:sym typeface="Courier New"/>
              </a:rPr>
              <a:t>name:"Tom</a:t>
            </a: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 Hanks"}), (</a:t>
            </a:r>
            <a:r>
              <a:rPr lang="en" sz="1400" dirty="0" err="1">
                <a:latin typeface="Courier New"/>
                <a:ea typeface="Courier New"/>
                <a:cs typeface="Courier New"/>
                <a:sym typeface="Courier New"/>
              </a:rPr>
              <a:t>m:Movie</a:t>
            </a: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" sz="1400" dirty="0" err="1">
                <a:latin typeface="Courier New"/>
                <a:ea typeface="Courier New"/>
                <a:cs typeface="Courier New"/>
                <a:sym typeface="Courier New"/>
              </a:rPr>
              <a:t>title:"Apollo</a:t>
            </a: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 13"})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CREATE (p)-[:ACTED_IN]-&gt;(m);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endParaRPr/>
          </a:p>
        </p:txBody>
      </p:sp>
      <p:sp>
        <p:nvSpPr>
          <p:cNvPr id="300" name="Google Shape;300;p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//Create a person node called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CREATE (p:Person {name:"Tom Hanks"});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//Create an ACTED_IN relationship between "Tom Hanks" and "Apollo 13"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 {name:"Tom Hanks"}), (m:Movie {title:"Apollo 13"})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CREATE (p)-[:ACTED_IN]-&gt;(m);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//Create the pattern of "Tom Hanks" ACTED_IN "Apollo 13"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//This will create the entire pattern, nodes and all!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CREATE (:Person {name:"Tom Hanks")-[:ACTED_IN]-&gt;(:Movie {title:"Apollo 13});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20F6-7BCE-840B-57E7-65041007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Hops of distance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44A2E-E73C-70F7-60DE-BA7857121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“Find the shortest path between two actors”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 path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shortestPath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a:Person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{name: 'Keanu Reeves'})-[*]-(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b:Person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{name: 'Tom Hanks'})</a:t>
            </a: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path;</a:t>
            </a:r>
          </a:p>
        </p:txBody>
      </p:sp>
    </p:spTree>
    <p:extLst>
      <p:ext uri="{BB962C8B-B14F-4D97-AF65-F5344CB8AC3E}">
        <p14:creationId xmlns:p14="http://schemas.microsoft.com/office/powerpoint/2010/main" val="2983027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D967-1A1B-A21E-2D4E-7280595B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Hops of distance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B832D-C0A1-3D59-EE72-80DD6C726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“Find the path between Tom Hanks and co-actors in 2 hops”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 path =</a:t>
            </a: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tom:Person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{name: 'Tom Hanks'})-[:ACTED_IN]-&gt;(:Movie)&lt;-[:ACTED_IN]-</a:t>
            </a: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(:Person)-[:ACTED_IN]-&gt;(:Movie)&lt;-[:ACTED_IN]-(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candidate:Person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candidate &lt;&gt; tom</a:t>
            </a: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path</a:t>
            </a: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LIMIT 20;</a:t>
            </a:r>
          </a:p>
        </p:txBody>
      </p:sp>
    </p:spTree>
    <p:extLst>
      <p:ext uri="{BB962C8B-B14F-4D97-AF65-F5344CB8AC3E}">
        <p14:creationId xmlns:p14="http://schemas.microsoft.com/office/powerpoint/2010/main" val="37788896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B58F282-D680-3E40-BAA0-C834AFA52925}" vid="{641FFC18-1A8E-6446-AF59-59AFE3328ED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1080</TotalTime>
  <Words>1172</Words>
  <Application>Microsoft Macintosh PowerPoint</Application>
  <PresentationFormat>On-screen Show (16:9)</PresentationFormat>
  <Paragraphs>233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Wingdings</vt:lpstr>
      <vt:lpstr>ＭＳ Ｐゴシック</vt:lpstr>
      <vt:lpstr>Economica</vt:lpstr>
      <vt:lpstr>Merriweather Sans</vt:lpstr>
      <vt:lpstr>Open Sans ExtraBold</vt:lpstr>
      <vt:lpstr>Courier New</vt:lpstr>
      <vt:lpstr>Arial</vt:lpstr>
      <vt:lpstr>Calibri</vt:lpstr>
      <vt:lpstr>Open Sans</vt:lpstr>
      <vt:lpstr>Tahoma</vt:lpstr>
      <vt:lpstr>Theme1</vt:lpstr>
      <vt:lpstr>PowerPoint Presentation</vt:lpstr>
      <vt:lpstr>In this session</vt:lpstr>
      <vt:lpstr>So what does a (property) graph look like?</vt:lpstr>
      <vt:lpstr>Graph components</vt:lpstr>
      <vt:lpstr>Graph components</vt:lpstr>
      <vt:lpstr>Property graph database</vt:lpstr>
      <vt:lpstr>Property graph database</vt:lpstr>
      <vt:lpstr>Property graph database</vt:lpstr>
      <vt:lpstr>Property graph database</vt:lpstr>
      <vt:lpstr>How do I query the graph?</vt:lpstr>
      <vt:lpstr>Cypher</vt:lpstr>
      <vt:lpstr>Cypher</vt:lpstr>
      <vt:lpstr>Cypher</vt:lpstr>
      <vt:lpstr>Use MATCH to retrieve nodes</vt:lpstr>
      <vt:lpstr>Use MATCH to retrieve nodes</vt:lpstr>
      <vt:lpstr>Use MATCH to retrieve nodes</vt:lpstr>
      <vt:lpstr>Use MATCH and properties to retrieve nodes </vt:lpstr>
      <vt:lpstr>Use MATCH and properties to retrieve nodes </vt:lpstr>
      <vt:lpstr>Use MATCH and properties to retrieve nodes </vt:lpstr>
      <vt:lpstr>Extending the MATCH</vt:lpstr>
      <vt:lpstr>Extending the MATCH</vt:lpstr>
      <vt:lpstr>Extending the MATCH</vt:lpstr>
      <vt:lpstr>Extending the MATCH</vt:lpstr>
      <vt:lpstr>CREATE </vt:lpstr>
      <vt:lpstr>CREATE </vt:lpstr>
      <vt:lpstr>CREATE </vt:lpstr>
      <vt:lpstr>1 Hops of distance</vt:lpstr>
      <vt:lpstr>2 Hops of distance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Esperto Alba Project</cp:lastModifiedBy>
  <cp:revision>4</cp:revision>
  <dcterms:modified xsi:type="dcterms:W3CDTF">2026-05-11T07:29:10Z</dcterms:modified>
</cp:coreProperties>
</file>