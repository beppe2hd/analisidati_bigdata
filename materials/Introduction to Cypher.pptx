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55"/>
  </p:notesMasterIdLst>
  <p:sldIdLst>
    <p:sldId id="284" r:id="rId2"/>
    <p:sldId id="257" r:id="rId3"/>
    <p:sldId id="258" r:id="rId4"/>
    <p:sldId id="259" r:id="rId5"/>
    <p:sldId id="260" r:id="rId6"/>
    <p:sldId id="261" r:id="rId7"/>
    <p:sldId id="262" r:id="rId8"/>
    <p:sldId id="263" r:id="rId9"/>
    <p:sldId id="264" r:id="rId10"/>
    <p:sldId id="265" r:id="rId11"/>
    <p:sldId id="266" r:id="rId12"/>
    <p:sldId id="268" r:id="rId13"/>
    <p:sldId id="285" r:id="rId14"/>
    <p:sldId id="286" r:id="rId15"/>
    <p:sldId id="287" r:id="rId16"/>
    <p:sldId id="288" r:id="rId17"/>
    <p:sldId id="289" r:id="rId18"/>
    <p:sldId id="293" r:id="rId19"/>
    <p:sldId id="294" r:id="rId20"/>
    <p:sldId id="295" r:id="rId21"/>
    <p:sldId id="296" r:id="rId22"/>
    <p:sldId id="290" r:id="rId23"/>
    <p:sldId id="292" r:id="rId24"/>
    <p:sldId id="297" r:id="rId25"/>
    <p:sldId id="298" r:id="rId26"/>
    <p:sldId id="299" r:id="rId27"/>
    <p:sldId id="300" r:id="rId28"/>
    <p:sldId id="301" r:id="rId29"/>
    <p:sldId id="303" r:id="rId30"/>
    <p:sldId id="304" r:id="rId31"/>
    <p:sldId id="305" r:id="rId32"/>
    <p:sldId id="306" r:id="rId33"/>
    <p:sldId id="307" r:id="rId34"/>
    <p:sldId id="308" r:id="rId35"/>
    <p:sldId id="309" r:id="rId36"/>
    <p:sldId id="310" r:id="rId37"/>
    <p:sldId id="302" r:id="rId38"/>
    <p:sldId id="291" r:id="rId39"/>
    <p:sldId id="269" r:id="rId40"/>
    <p:sldId id="270" r:id="rId41"/>
    <p:sldId id="271" r:id="rId42"/>
    <p:sldId id="272" r:id="rId43"/>
    <p:sldId id="273" r:id="rId44"/>
    <p:sldId id="274" r:id="rId45"/>
    <p:sldId id="275" r:id="rId46"/>
    <p:sldId id="276" r:id="rId47"/>
    <p:sldId id="277" r:id="rId48"/>
    <p:sldId id="278" r:id="rId49"/>
    <p:sldId id="279" r:id="rId50"/>
    <p:sldId id="280" r:id="rId51"/>
    <p:sldId id="281" r:id="rId52"/>
    <p:sldId id="282" r:id="rId53"/>
    <p:sldId id="283" r:id="rId54"/>
  </p:sldIdLst>
  <p:sldSz cx="9144000" cy="5143500" type="screen16x9"/>
  <p:notesSz cx="6858000" cy="9144000"/>
  <p:embeddedFontLst>
    <p:embeddedFont>
      <p:font typeface="Economica" panose="02000506040000020004"/>
      <p:regular r:id="rId56"/>
      <p:bold r:id="rId57"/>
      <p:italic r:id="rId58"/>
      <p:boldItalic r:id="rId59"/>
    </p:embeddedFont>
    <p:embeddedFont>
      <p:font typeface="Merriweather Sans" pitchFamily="2" charset="77"/>
      <p:regular r:id="rId60"/>
      <p:bold r:id="rId61"/>
      <p:italic r:id="rId62"/>
      <p:boldItalic r:id="rId63"/>
    </p:embeddedFont>
    <p:embeddedFont>
      <p:font typeface="Open Sans" panose="020B0606030504020204" pitchFamily="34" charset="0"/>
      <p:regular r:id="rId64"/>
      <p:bold r:id="rId65"/>
      <p:italic r:id="rId66"/>
      <p:boldItalic r:id="rId67"/>
    </p:embeddedFont>
    <p:embeddedFont>
      <p:font typeface="Open Sans ExtraBold" panose="020B0906030804020204"/>
      <p:bold r:id="rId68"/>
      <p:italic r:id="rId69"/>
      <p:boldItalic r:id="rId70"/>
    </p:embeddedFont>
    <p:embeddedFont>
      <p:font typeface="Tahoma" panose="020B0604030504040204" pitchFamily="34" charset="0"/>
      <p:regular r:id="rId71"/>
      <p:bold r:id="rId72"/>
    </p:embeddedFont>
  </p:embeddedFontLst>
  <p:defaultTextStyle>
    <a:defPPr>
      <a:defRPr lang="en-CA"/>
    </a:defPPr>
    <a:lvl1pPr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78"/>
    <p:restoredTop sz="94643"/>
  </p:normalViewPr>
  <p:slideViewPr>
    <p:cSldViewPr snapToGrid="0">
      <p:cViewPr>
        <p:scale>
          <a:sx n="150" d="100"/>
          <a:sy n="150" d="100"/>
        </p:scale>
        <p:origin x="520" y="53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8.fntdata"/><Relationship Id="rId68" Type="http://schemas.openxmlformats.org/officeDocument/2006/relationships/font" Target="fonts/font13.fnt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font" Target="fonts/font3.fntdata"/><Relationship Id="rId66" Type="http://schemas.openxmlformats.org/officeDocument/2006/relationships/font" Target="fonts/font11.fntdata"/><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font" Target="fonts/font6.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1.fntdata"/><Relationship Id="rId64" Type="http://schemas.openxmlformats.org/officeDocument/2006/relationships/font" Target="fonts/font9.fntdata"/><Relationship Id="rId69" Type="http://schemas.openxmlformats.org/officeDocument/2006/relationships/font" Target="fonts/font1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17.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4.fntdata"/><Relationship Id="rId67" Type="http://schemas.openxmlformats.org/officeDocument/2006/relationships/font" Target="fonts/font1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font" Target="fonts/font7.fntdata"/><Relationship Id="rId70" Type="http://schemas.openxmlformats.org/officeDocument/2006/relationships/font" Target="fonts/font15.fntdata"/><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2.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5.fntdata"/><Relationship Id="rId65" Type="http://schemas.openxmlformats.org/officeDocument/2006/relationships/font" Target="fonts/font10.fntdata"/><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notesMaster" Target="notesMasters/notesMaster1.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font" Target="fonts/font1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a:extLst>
            <a:ext uri="{FF2B5EF4-FFF2-40B4-BE49-F238E27FC236}">
              <a16:creationId xmlns:a16="http://schemas.microsoft.com/office/drawing/2014/main" id="{3E3FF87E-ADEE-FAAC-745D-E3F703A3174B}"/>
            </a:ext>
          </a:extLst>
        </p:cNvPr>
        <p:cNvGrpSpPr/>
        <p:nvPr/>
      </p:nvGrpSpPr>
      <p:grpSpPr>
        <a:xfrm>
          <a:off x="0" y="0"/>
          <a:ext cx="0" cy="0"/>
          <a:chOff x="0" y="0"/>
          <a:chExt cx="0" cy="0"/>
        </a:xfrm>
      </p:grpSpPr>
      <p:sp>
        <p:nvSpPr>
          <p:cNvPr id="97" name="Google Shape;97;g9736235af6_0_0:notes">
            <a:extLst>
              <a:ext uri="{FF2B5EF4-FFF2-40B4-BE49-F238E27FC236}">
                <a16:creationId xmlns:a16="http://schemas.microsoft.com/office/drawing/2014/main" id="{5719CE22-15DC-A1D9-E440-CC7BD3B916F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9736235af6_0_0:notes">
            <a:extLst>
              <a:ext uri="{FF2B5EF4-FFF2-40B4-BE49-F238E27FC236}">
                <a16:creationId xmlns:a16="http://schemas.microsoft.com/office/drawing/2014/main" id="{7515739B-2EEA-EAE8-B8A3-10A35B933A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88064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9736235af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9736235af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88a7f8e123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4" name="Google Shape;104;g88a7f8e123_0_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881502d0bd_0_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 name="Google Shape;109;g881502d0bd_0_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g881502d0bd_0_80:notes"/>
          <p:cNvSpPr txBox="1">
            <a:spLocks noGrp="1"/>
          </p:cNvSpPr>
          <p:nvPr>
            <p:ph type="sldNum" idx="12"/>
          </p:nvPr>
        </p:nvSpPr>
        <p:spPr>
          <a:xfrm>
            <a:off x="3884613" y="8685213"/>
            <a:ext cx="2971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881502d0bd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881502d0bd_0_8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g881502d0bd_0_89:notes"/>
          <p:cNvSpPr txBox="1">
            <a:spLocks noGrp="1"/>
          </p:cNvSpPr>
          <p:nvPr>
            <p:ph type="sldNum" idx="12"/>
          </p:nvPr>
        </p:nvSpPr>
        <p:spPr>
          <a:xfrm>
            <a:off x="3884613" y="8685213"/>
            <a:ext cx="2971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881502d0bd_0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881502d0bd_0_10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g881502d0bd_0_100:notes"/>
          <p:cNvSpPr txBox="1">
            <a:spLocks noGrp="1"/>
          </p:cNvSpPr>
          <p:nvPr>
            <p:ph type="sldNum" idx="12"/>
          </p:nvPr>
        </p:nvSpPr>
        <p:spPr>
          <a:xfrm>
            <a:off x="3884613" y="8685213"/>
            <a:ext cx="2971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881502d0bd_0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881502d0bd_0_1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g881502d0bd_0_113:notes"/>
          <p:cNvSpPr txBox="1">
            <a:spLocks noGrp="1"/>
          </p:cNvSpPr>
          <p:nvPr>
            <p:ph type="sldNum" idx="12"/>
          </p:nvPr>
        </p:nvSpPr>
        <p:spPr>
          <a:xfrm>
            <a:off x="3884613" y="8685213"/>
            <a:ext cx="2971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881502d0bd_0_1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881502d0bd_0_1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g881502d0bd_0_1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881502d0bd_0_1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 name="Google Shape;172;g881502d0bd_0_1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g881502d0bd_0_1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88a7f8e12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0" name="Google Shape;190;g88a7f8e123_0_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881502d0bd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g881502d0bd_0_1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881502d0bd_0_17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g881502d0bd_0_1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0D7CF397-EDF6-156F-E386-D93EB6F714BD}"/>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1E0DA0FF-336F-2CDC-3817-FC71EE56070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76BC80AE-9A2A-ACF8-2F56-EC68CAFCB7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510928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FBCCF5FC-6688-0B73-8FC4-0DDB44A7BF51}"/>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ADEA1F73-00E2-73AC-1250-EF718481B18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A85A3A30-A907-46FB-208C-596F8E10E54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187885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0679774D-0D93-1263-0827-45D68DB77EAE}"/>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9B7C8DB0-171A-8BFA-4160-2CD5BCFA170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5D984E89-7602-A902-6B9B-734B633625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898782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5C29697B-8F9A-0077-D754-0C620D212277}"/>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894920B8-09AA-885C-EDDB-6D12CB21F5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3D2B8765-2DD0-3363-94D9-922C6A0740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96577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61D9482A-5D70-6E22-EFA2-0FC71D947FA5}"/>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6F649751-80A4-D80B-23AD-E233C43CC9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83964321-0A97-BBEB-3FD7-3A03B272D6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088708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CEF60ABB-E811-A3FA-8B34-2B007DEB5853}"/>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55466D2C-F83E-C0B5-13A3-395AAC6D89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BFD6C7C3-DA7F-C6A3-FA81-F79A232146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99770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07435708-E09D-5465-415C-7C9F717FEEBD}"/>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F6B2E948-5EA9-824A-22B1-638571E8BE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313592F6-BC0F-C252-8415-D65ACD36AC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795164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668F1AAB-4810-0EF7-BAB6-929E97EF3E58}"/>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F54F45B3-0807-2A4C-64B0-6A0BD360FCD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47DABF0D-45F3-E1B6-DE3A-46BD025A24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891964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572C3FE9-78B4-4017-62A8-2DF3A33558AA}"/>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90FBF640-4BB0-C98C-022B-BAFB0D395A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3296E8BE-7CF2-7136-208C-55CB3E04D8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745698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6401754A-728F-EB5C-94A1-C8B87996EF95}"/>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61B3082A-4392-ED02-ACD3-25F01A0547D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AD1F680D-6952-9A4B-51B8-9387503448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119222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D5E9252A-200B-F27A-F73D-4F8B29501B71}"/>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A1C0BFD2-2890-ADF8-DB3F-A2BD1354294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146F5C96-7798-D03C-8B94-8EB1EA7E26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56947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C3FBC8EA-FA2D-6839-F043-1BEDAFB43167}"/>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8701E866-1734-8743-6672-92BA334C80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6C5E7CEE-DAD4-17BE-C042-C2DB1749F9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242016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3D6B1733-A381-637D-C867-4E1F936A5FED}"/>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8D7E61B1-6ADB-3F57-4723-E3F00538B9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25D347B9-8E21-8A7A-9626-C3D5FF6A3A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7417351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3FB800AC-00DE-2F6D-82D9-18678AC117B9}"/>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96EFD580-A155-68FE-C2EC-E2F8614AD1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AEABFD8E-E3AA-DC93-7EB9-573CE9F157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092378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1CC73466-A776-F037-0C86-E77DD59BFE74}"/>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498EA1B4-989C-4318-0D7B-84A7B5D9BB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E826C148-A0C5-5D91-37CD-2B78F385BB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8341367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881502d0bd_0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881502d0bd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g881502d0bd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881502d0bd_0_1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881502d0bd_0_1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881502d0bd_0_2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881502d0bd_0_2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881502d0bd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881502d0bd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881502d0bd_0_2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881502d0bd_0_2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881502d0bd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881502d0bd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881502d0bd_0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5" name="Google Shape;265;g881502d0bd_0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881502d0bd_0_2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2" name="Google Shape;272;g881502d0bd_0_2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881502d0bd_0_2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881502d0bd_0_2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881502d0bd_0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6" name="Google Shape;286;g881502d0bd_0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881502d0bd_0_2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2" name="Google Shape;292;g881502d0bd_0_2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881502d0bd_0_2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881502d0bd_0_2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2" name="Rectangle 44">
            <a:extLst>
              <a:ext uri="{FF2B5EF4-FFF2-40B4-BE49-F238E27FC236}">
                <a16:creationId xmlns:a16="http://schemas.microsoft.com/office/drawing/2014/main" id="{28B5CB5E-4D62-6F64-1F1A-DE21CCCA22DE}"/>
              </a:ext>
            </a:extLst>
          </p:cNvPr>
          <p:cNvSpPr>
            <a:spLocks noChangeArrowheads="1"/>
          </p:cNvSpPr>
          <p:nvPr/>
        </p:nvSpPr>
        <p:spPr bwMode="auto">
          <a:xfrm>
            <a:off x="8305800" y="0"/>
            <a:ext cx="609600" cy="5143500"/>
          </a:xfrm>
          <a:prstGeom prst="rect">
            <a:avLst/>
          </a:prstGeom>
          <a:gradFill rotWithShape="1">
            <a:gsLst>
              <a:gs pos="0">
                <a:srgbClr val="677228">
                  <a:alpha val="43999"/>
                </a:srgbClr>
              </a:gs>
              <a:gs pos="100000">
                <a:srgbClr val="5A6423"/>
              </a:gs>
            </a:gsLst>
            <a:lin ang="5400000" scaled="1"/>
          </a:gradFill>
          <a:ln>
            <a:noFill/>
          </a:ln>
        </p:spPr>
        <p:txBody>
          <a:bodyPr wrap="none" anchor="ct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pPr eaLnBrk="1" hangingPunct="1">
              <a:defRPr/>
            </a:pPr>
            <a:endParaRPr lang="en-US" altLang="en-US" sz="1800">
              <a:ea typeface="+mn-ea"/>
            </a:endParaRPr>
          </a:p>
        </p:txBody>
      </p:sp>
      <p:sp>
        <p:nvSpPr>
          <p:cNvPr id="3" name="Rectangle 47">
            <a:extLst>
              <a:ext uri="{FF2B5EF4-FFF2-40B4-BE49-F238E27FC236}">
                <a16:creationId xmlns:a16="http://schemas.microsoft.com/office/drawing/2014/main" id="{E0B269DB-9067-E88D-41B8-3B07C3921824}"/>
              </a:ext>
            </a:extLst>
          </p:cNvPr>
          <p:cNvSpPr>
            <a:spLocks noChangeArrowheads="1"/>
          </p:cNvSpPr>
          <p:nvPr/>
        </p:nvSpPr>
        <p:spPr bwMode="auto">
          <a:xfrm rot="16200000">
            <a:off x="3768328" y="-1882378"/>
            <a:ext cx="1607344" cy="9144000"/>
          </a:xfrm>
          <a:prstGeom prst="rect">
            <a:avLst/>
          </a:prstGeom>
          <a:solidFill>
            <a:srgbClr val="677228">
              <a:alpha val="43921"/>
            </a:srgbClr>
          </a:solidFill>
          <a:ln>
            <a:noFill/>
          </a:ln>
        </p:spPr>
        <p:txBody>
          <a:bodyPr wrap="none" anchor="ct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pPr eaLnBrk="1" hangingPunct="1">
              <a:defRPr/>
            </a:pPr>
            <a:endParaRPr lang="en-US" altLang="en-US" sz="1800">
              <a:ea typeface="+mn-ea"/>
            </a:endParaRPr>
          </a:p>
        </p:txBody>
      </p:sp>
      <p:sp>
        <p:nvSpPr>
          <p:cNvPr id="4" name="Rectangle 48">
            <a:extLst>
              <a:ext uri="{FF2B5EF4-FFF2-40B4-BE49-F238E27FC236}">
                <a16:creationId xmlns:a16="http://schemas.microsoft.com/office/drawing/2014/main" id="{8E7BA452-2D19-F66B-3CB1-6CD6E5EFC363}"/>
              </a:ext>
            </a:extLst>
          </p:cNvPr>
          <p:cNvSpPr>
            <a:spLocks noChangeArrowheads="1"/>
          </p:cNvSpPr>
          <p:nvPr/>
        </p:nvSpPr>
        <p:spPr bwMode="auto">
          <a:xfrm>
            <a:off x="7315200" y="1828801"/>
            <a:ext cx="1828800" cy="1718072"/>
          </a:xfrm>
          <a:prstGeom prst="rect">
            <a:avLst/>
          </a:prstGeom>
          <a:solidFill>
            <a:schemeClr val="bg1"/>
          </a:solidFill>
          <a:ln>
            <a:noFill/>
          </a:ln>
        </p:spPr>
        <p:txBody>
          <a:bodyPr wrap="none" anchor="ct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pPr eaLnBrk="1" hangingPunct="1">
              <a:defRPr/>
            </a:pPr>
            <a:endParaRPr lang="en-US" altLang="en-US" sz="1800">
              <a:ea typeface="+mn-ea"/>
            </a:endParaRPr>
          </a:p>
        </p:txBody>
      </p:sp>
      <p:pic>
        <p:nvPicPr>
          <p:cNvPr id="5" name="Picture 35" descr="awtri_4c UPDATE_color">
            <a:extLst>
              <a:ext uri="{FF2B5EF4-FFF2-40B4-BE49-F238E27FC236}">
                <a16:creationId xmlns:a16="http://schemas.microsoft.com/office/drawing/2014/main" id="{5641F287-64E2-B135-A677-28C596C72A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 y="4462462"/>
            <a:ext cx="684213" cy="62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46" descr="elmasri_thumb">
            <a:extLst>
              <a:ext uri="{FF2B5EF4-FFF2-40B4-BE49-F238E27FC236}">
                <a16:creationId xmlns:a16="http://schemas.microsoft.com/office/drawing/2014/main" id="{AC748A14-794D-7BB1-F76F-888ED6131A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19976" y="1885950"/>
            <a:ext cx="1724025" cy="16073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26" name="Rectangle 30" descr="Pink tissue paper"/>
          <p:cNvSpPr>
            <a:spLocks noGrp="1" noChangeArrowheads="1"/>
          </p:cNvSpPr>
          <p:nvPr>
            <p:ph type="ctrTitle" sz="quarter"/>
          </p:nvPr>
        </p:nvSpPr>
        <p:spPr>
          <a:xfrm>
            <a:off x="228600" y="114300"/>
            <a:ext cx="7086600" cy="1714500"/>
          </a:xfrm>
        </p:spPr>
        <p:txBody>
          <a:bodyPr wrap="none" anchor="ctr"/>
          <a:lstStyle>
            <a:lvl1pPr>
              <a:defRPr sz="4950">
                <a:solidFill>
                  <a:srgbClr val="990033"/>
                </a:solidFill>
              </a:defRPr>
            </a:lvl1pPr>
          </a:lstStyle>
          <a:p>
            <a:r>
              <a:rPr lang="en-GB"/>
              <a:t>Click to edit Master title style</a:t>
            </a:r>
            <a:endParaRPr lang="en-US"/>
          </a:p>
        </p:txBody>
      </p:sp>
      <p:sp>
        <p:nvSpPr>
          <p:cNvPr id="4134" name="Rectangle 38" descr="Pink tissue paper"/>
          <p:cNvSpPr>
            <a:spLocks noGrp="1" noChangeArrowheads="1"/>
          </p:cNvSpPr>
          <p:nvPr>
            <p:ph type="subTitle" sz="quarter" idx="1"/>
          </p:nvPr>
        </p:nvSpPr>
        <p:spPr>
          <a:xfrm>
            <a:off x="304800" y="1943100"/>
            <a:ext cx="6629400" cy="1428750"/>
          </a:xfrm>
        </p:spPr>
        <p:txBody>
          <a:bodyPr/>
          <a:lstStyle>
            <a:lvl1pPr marL="0" indent="0">
              <a:buFont typeface="Wingdings" pitchFamily="2" charset="2"/>
              <a:buNone/>
              <a:defRPr sz="2400"/>
            </a:lvl1pPr>
          </a:lstStyle>
          <a:p>
            <a:r>
              <a:rPr lang="en-GB"/>
              <a:t>Click to edit Master subtitle style</a:t>
            </a:r>
            <a:endParaRPr lang="en-US"/>
          </a:p>
        </p:txBody>
      </p:sp>
      <p:sp>
        <p:nvSpPr>
          <p:cNvPr id="7" name="Rectangle 29">
            <a:extLst>
              <a:ext uri="{FF2B5EF4-FFF2-40B4-BE49-F238E27FC236}">
                <a16:creationId xmlns:a16="http://schemas.microsoft.com/office/drawing/2014/main" id="{7A1712BB-8E2D-093E-A791-A6BAFE993442}"/>
              </a:ext>
            </a:extLst>
          </p:cNvPr>
          <p:cNvSpPr>
            <a:spLocks noGrp="1" noChangeArrowheads="1"/>
          </p:cNvSpPr>
          <p:nvPr>
            <p:ph type="ftr" sz="quarter" idx="10"/>
          </p:nvPr>
        </p:nvSpPr>
        <p:spPr bwMode="auto">
          <a:xfrm>
            <a:off x="838200" y="4798219"/>
            <a:ext cx="4495800" cy="342900"/>
          </a:xfrm>
          <a:prstGeom prst="rect">
            <a:avLst/>
          </a:prstGeom>
          <a:ln>
            <a:miter lim="800000"/>
            <a:headEnd/>
            <a:tailEnd/>
          </a:ln>
        </p:spPr>
        <p:txBody>
          <a:bodyPr vert="horz" wrap="square" lIns="91440" tIns="45720" rIns="91440" bIns="45720" numCol="1" anchor="b" anchorCtr="0" compatLnSpc="1">
            <a:prstTxWarp prst="textNoShape">
              <a:avLst/>
            </a:prstTxWarp>
          </a:bodyPr>
          <a:lstStyle>
            <a:lvl1pPr eaLnBrk="1" hangingPunct="1">
              <a:defRPr sz="675">
                <a:ea typeface="MS PGothic" panose="020B0600070205080204" pitchFamily="34" charset="-128"/>
              </a:defRPr>
            </a:lvl1pPr>
          </a:lstStyle>
          <a:p>
            <a:pPr>
              <a:defRPr/>
            </a:pPr>
            <a:r>
              <a:rPr lang="en-US" altLang="en-US"/>
              <a:t>Copyright © 2007 Ramez Elmasri and Shamkant B. Navathe</a:t>
            </a:r>
          </a:p>
        </p:txBody>
      </p:sp>
    </p:spTree>
    <p:extLst>
      <p:ext uri="{BB962C8B-B14F-4D97-AF65-F5344CB8AC3E}">
        <p14:creationId xmlns:p14="http://schemas.microsoft.com/office/powerpoint/2010/main" val="1630190401"/>
      </p:ext>
    </p:extLst>
  </p:cSld>
  <p:clrMapOvr>
    <a:masterClrMapping/>
  </p:clrMapOvr>
  <p:transition spd="med"/>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lvl1pPr>
              <a:lnSpc>
                <a:spcPct val="120000"/>
              </a:lnSpc>
              <a:spcBef>
                <a:spcPts val="354"/>
              </a:spcBef>
              <a:spcAft>
                <a:spcPts val="300"/>
              </a:spcAft>
              <a:defRPr sz="1500"/>
            </a:lvl1pPr>
            <a:lvl2pPr>
              <a:lnSpc>
                <a:spcPct val="120000"/>
              </a:lnSpc>
              <a:spcBef>
                <a:spcPts val="354"/>
              </a:spcBef>
              <a:spcAft>
                <a:spcPts val="300"/>
              </a:spcAft>
              <a:defRPr sz="1500"/>
            </a:lvl2pPr>
            <a:lvl3pPr>
              <a:lnSpc>
                <a:spcPct val="120000"/>
              </a:lnSpc>
              <a:spcBef>
                <a:spcPts val="354"/>
              </a:spcBef>
              <a:spcAft>
                <a:spcPts val="300"/>
              </a:spcAft>
              <a:defRPr sz="1350"/>
            </a:lvl3pPr>
            <a:lvl4pPr>
              <a:lnSpc>
                <a:spcPct val="120000"/>
              </a:lnSpc>
              <a:spcBef>
                <a:spcPts val="354"/>
              </a:spcBef>
              <a:spcAft>
                <a:spcPts val="300"/>
              </a:spcAft>
              <a:defRPr sz="1200"/>
            </a:lvl4pPr>
            <a:lvl5pPr>
              <a:lnSpc>
                <a:spcPct val="120000"/>
              </a:lnSpc>
              <a:spcBef>
                <a:spcPts val="354"/>
              </a:spcBef>
              <a:spcAft>
                <a:spcPts val="300"/>
              </a:spcAf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Tree>
    <p:extLst>
      <p:ext uri="{BB962C8B-B14F-4D97-AF65-F5344CB8AC3E}">
        <p14:creationId xmlns:p14="http://schemas.microsoft.com/office/powerpoint/2010/main" val="64103877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GB"/>
              <a:t>Click to edit Master title style</a:t>
            </a:r>
            <a:endParaRPr lang="en-US"/>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a:r>
              <a:rPr lang="en-GB"/>
              <a:t>Click to edit Master text styles</a:t>
            </a:r>
          </a:p>
        </p:txBody>
      </p:sp>
    </p:spTree>
    <p:extLst>
      <p:ext uri="{BB962C8B-B14F-4D97-AF65-F5344CB8AC3E}">
        <p14:creationId xmlns:p14="http://schemas.microsoft.com/office/powerpoint/2010/main" val="1990882598"/>
      </p:ext>
    </p:extLst>
  </p:cSld>
  <p:clrMapOvr>
    <a:masterClrMapping/>
  </p:clrMapOvr>
  <p:transition spd="med"/>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sz="half" idx="1"/>
          </p:nvPr>
        </p:nvSpPr>
        <p:spPr>
          <a:xfrm>
            <a:off x="239713" y="1200150"/>
            <a:ext cx="4070350" cy="3429000"/>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4462464" y="1200150"/>
            <a:ext cx="4071937" cy="3429000"/>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3358471801"/>
      </p:ext>
    </p:extLst>
  </p:cSld>
  <p:clrMapOvr>
    <a:masterClrMapping/>
  </p:clrMapOvr>
  <p:transition spd="med"/>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8"/>
            <a:ext cx="8229600" cy="857250"/>
          </a:xfrm>
        </p:spPr>
        <p:txBody>
          <a:bodyPr/>
          <a:lstStyle>
            <a:lvl1pPr>
              <a:defRPr/>
            </a:lvl1pPr>
          </a:lstStyle>
          <a:p>
            <a:r>
              <a:rPr lang="en-GB"/>
              <a:t>Click to edit Master title style</a:t>
            </a:r>
            <a:endParaRPr lang="en-US"/>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4233421430"/>
      </p:ext>
    </p:extLst>
  </p:cSld>
  <p:clrMapOvr>
    <a:masterClrMapping/>
  </p:clrMapOvr>
  <p:transition spd="med"/>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Tree>
    <p:extLst>
      <p:ext uri="{BB962C8B-B14F-4D97-AF65-F5344CB8AC3E}">
        <p14:creationId xmlns:p14="http://schemas.microsoft.com/office/powerpoint/2010/main" val="1217528537"/>
      </p:ext>
    </p:extLst>
  </p:cSld>
  <p:clrMapOvr>
    <a:masterClrMapping/>
  </p:clrMapOvr>
  <p:transition spd="med"/>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4929450"/>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lvl1pPr algn="l">
              <a:defRPr sz="1500" b="1"/>
            </a:lvl1pPr>
          </a:lstStyle>
          <a:p>
            <a:r>
              <a:rPr lang="en-GB"/>
              <a:t>Click to edit Master title style</a:t>
            </a:r>
            <a:endParaRPr lang="en-US"/>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Tree>
    <p:extLst>
      <p:ext uri="{BB962C8B-B14F-4D97-AF65-F5344CB8AC3E}">
        <p14:creationId xmlns:p14="http://schemas.microsoft.com/office/powerpoint/2010/main" val="3347145022"/>
      </p:ext>
    </p:extLst>
  </p:cSld>
  <p:clrMapOvr>
    <a:masterClrMapping/>
  </p:clrMapOvr>
  <p:transition spd="med"/>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lstStyle>
            <a:lvl1pPr algn="l">
              <a:defRPr sz="1500" b="1"/>
            </a:lvl1pPr>
          </a:lstStyle>
          <a:p>
            <a:r>
              <a:rPr lang="en-GB"/>
              <a:t>Click to edit Master title style</a:t>
            </a:r>
            <a:endParaRPr lang="en-US"/>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GB" noProof="0"/>
              <a:t>Click icon to add picture</a:t>
            </a:r>
            <a:endParaRPr lang="en-US" noProof="0"/>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Tree>
    <p:extLst>
      <p:ext uri="{BB962C8B-B14F-4D97-AF65-F5344CB8AC3E}">
        <p14:creationId xmlns:p14="http://schemas.microsoft.com/office/powerpoint/2010/main" val="837376438"/>
      </p:ext>
    </p:extLst>
  </p:cSld>
  <p:clrMapOvr>
    <a:masterClrMapping/>
  </p:clrMapOvr>
  <p:transition spd="med"/>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1"/>
        <p:cNvGrpSpPr/>
        <p:nvPr/>
      </p:nvGrpSpPr>
      <p:grpSpPr>
        <a:xfrm>
          <a:off x="0" y="0"/>
          <a:ext cx="0" cy="0"/>
          <a:chOff x="0" y="0"/>
          <a:chExt cx="0" cy="0"/>
        </a:xfrm>
      </p:grpSpPr>
      <p:sp>
        <p:nvSpPr>
          <p:cNvPr id="23" name="Google Shape;23;p4"/>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24" name="Google Shape;24;p4"/>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5" name="Google Shape;25;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1237294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9"/>
        <p:cNvGrpSpPr/>
        <p:nvPr/>
      </p:nvGrpSpPr>
      <p:grpSpPr>
        <a:xfrm>
          <a:off x="0" y="0"/>
          <a:ext cx="0" cy="0"/>
          <a:chOff x="0" y="0"/>
          <a:chExt cx="0" cy="0"/>
        </a:xfrm>
      </p:grpSpPr>
      <p:sp>
        <p:nvSpPr>
          <p:cNvPr id="41" name="Google Shape;41;p8"/>
          <p:cNvSpPr txBox="1">
            <a:spLocks noGrp="1"/>
          </p:cNvSpPr>
          <p:nvPr>
            <p:ph type="title"/>
          </p:nvPr>
        </p:nvSpPr>
        <p:spPr>
          <a:xfrm>
            <a:off x="490250" y="450150"/>
            <a:ext cx="5878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2" name="Google Shape;42;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33628683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26" name="Group 45">
            <a:extLst>
              <a:ext uri="{FF2B5EF4-FFF2-40B4-BE49-F238E27FC236}">
                <a16:creationId xmlns:a16="http://schemas.microsoft.com/office/drawing/2014/main" id="{B9485963-F642-C24D-6941-1B4B51FC8516}"/>
              </a:ext>
            </a:extLst>
          </p:cNvPr>
          <p:cNvGrpSpPr>
            <a:grpSpLocks/>
          </p:cNvGrpSpPr>
          <p:nvPr/>
        </p:nvGrpSpPr>
        <p:grpSpPr bwMode="auto">
          <a:xfrm>
            <a:off x="8936038" y="1087041"/>
            <a:ext cx="207962" cy="4056459"/>
            <a:chOff x="5606" y="889"/>
            <a:chExt cx="154" cy="3431"/>
          </a:xfrm>
        </p:grpSpPr>
        <p:sp>
          <p:nvSpPr>
            <p:cNvPr id="2" name="Rectangle 38">
              <a:extLst>
                <a:ext uri="{FF2B5EF4-FFF2-40B4-BE49-F238E27FC236}">
                  <a16:creationId xmlns:a16="http://schemas.microsoft.com/office/drawing/2014/main" id="{CDF3093B-6C36-D9CF-A2A4-29939AF55D79}"/>
                </a:ext>
              </a:extLst>
            </p:cNvPr>
            <p:cNvSpPr>
              <a:spLocks noChangeArrowheads="1"/>
            </p:cNvSpPr>
            <p:nvPr/>
          </p:nvSpPr>
          <p:spPr bwMode="gray">
            <a:xfrm flipH="1">
              <a:off x="5685" y="889"/>
              <a:ext cx="75" cy="3431"/>
            </a:xfrm>
            <a:prstGeom prst="rect">
              <a:avLst/>
            </a:prstGeom>
            <a:solidFill>
              <a:srgbClr val="157394"/>
            </a:solidFill>
            <a:ln>
              <a:noFill/>
            </a:ln>
          </p:spPr>
          <p:txBody>
            <a:bodyPr wrap="none" anchor="ct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pPr algn="ctr" eaLnBrk="1" hangingPunct="1">
                <a:defRPr/>
              </a:pPr>
              <a:endParaRPr kumimoji="1" lang="en-US" altLang="en-US" sz="2400">
                <a:latin typeface="Tahoma" panose="020B0604030504040204" pitchFamily="34" charset="0"/>
                <a:ea typeface="+mn-ea"/>
              </a:endParaRPr>
            </a:p>
          </p:txBody>
        </p:sp>
        <p:grpSp>
          <p:nvGrpSpPr>
            <p:cNvPr id="1035" name="Group 44">
              <a:extLst>
                <a:ext uri="{FF2B5EF4-FFF2-40B4-BE49-F238E27FC236}">
                  <a16:creationId xmlns:a16="http://schemas.microsoft.com/office/drawing/2014/main" id="{402FB482-BCA6-FDF6-B8C9-3011F26F61B4}"/>
                </a:ext>
              </a:extLst>
            </p:cNvPr>
            <p:cNvGrpSpPr>
              <a:grpSpLocks/>
            </p:cNvGrpSpPr>
            <p:nvPr/>
          </p:nvGrpSpPr>
          <p:grpSpPr bwMode="auto">
            <a:xfrm>
              <a:off x="5606" y="889"/>
              <a:ext cx="106" cy="3431"/>
              <a:chOff x="5606" y="889"/>
              <a:chExt cx="106" cy="3431"/>
            </a:xfrm>
          </p:grpSpPr>
          <p:sp>
            <p:nvSpPr>
              <p:cNvPr id="1034" name="Rectangle 43">
                <a:extLst>
                  <a:ext uri="{FF2B5EF4-FFF2-40B4-BE49-F238E27FC236}">
                    <a16:creationId xmlns:a16="http://schemas.microsoft.com/office/drawing/2014/main" id="{9C40FDAE-BAEF-C808-E0B7-2287044E317A}"/>
                  </a:ext>
                </a:extLst>
              </p:cNvPr>
              <p:cNvSpPr>
                <a:spLocks noChangeArrowheads="1"/>
              </p:cNvSpPr>
              <p:nvPr/>
            </p:nvSpPr>
            <p:spPr bwMode="gray">
              <a:xfrm rot="10800000" flipH="1">
                <a:off x="5606" y="889"/>
                <a:ext cx="58" cy="3431"/>
              </a:xfrm>
              <a:prstGeom prst="rect">
                <a:avLst/>
              </a:prstGeom>
              <a:solidFill>
                <a:srgbClr val="DC4C4C"/>
              </a:solidFill>
              <a:ln>
                <a:noFill/>
              </a:ln>
            </p:spPr>
            <p:txBody>
              <a:bodyPr rot="10800000" wrap="none" anchor="ct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pPr algn="ctr" eaLnBrk="1" hangingPunct="1">
                  <a:defRPr/>
                </a:pPr>
                <a:endParaRPr kumimoji="1" lang="en-US" altLang="en-US" sz="2400" dirty="0">
                  <a:latin typeface="Tahoma" panose="020B0604030504040204" pitchFamily="34" charset="0"/>
                  <a:ea typeface="+mn-ea"/>
                </a:endParaRPr>
              </a:p>
            </p:txBody>
          </p:sp>
          <p:sp>
            <p:nvSpPr>
              <p:cNvPr id="3" name="Rectangle 32">
                <a:extLst>
                  <a:ext uri="{FF2B5EF4-FFF2-40B4-BE49-F238E27FC236}">
                    <a16:creationId xmlns:a16="http://schemas.microsoft.com/office/drawing/2014/main" id="{27111B1F-EEC1-3444-58A6-6A149568437F}"/>
                  </a:ext>
                </a:extLst>
              </p:cNvPr>
              <p:cNvSpPr>
                <a:spLocks noChangeArrowheads="1"/>
              </p:cNvSpPr>
              <p:nvPr/>
            </p:nvSpPr>
            <p:spPr bwMode="gray">
              <a:xfrm rot="10800000" flipH="1">
                <a:off x="5654" y="889"/>
                <a:ext cx="58" cy="3431"/>
              </a:xfrm>
              <a:prstGeom prst="rect">
                <a:avLst/>
              </a:prstGeom>
              <a:solidFill>
                <a:srgbClr val="E17070"/>
              </a:solidFill>
              <a:ln>
                <a:noFill/>
              </a:ln>
            </p:spPr>
            <p:txBody>
              <a:bodyPr rot="10800000" wrap="none" anchor="ct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pPr algn="ctr" eaLnBrk="1" hangingPunct="1">
                  <a:defRPr/>
                </a:pPr>
                <a:endParaRPr kumimoji="1" lang="en-US" altLang="en-US" sz="2400">
                  <a:latin typeface="Tahoma" panose="020B0604030504040204" pitchFamily="34" charset="0"/>
                  <a:ea typeface="+mn-ea"/>
                </a:endParaRPr>
              </a:p>
            </p:txBody>
          </p:sp>
        </p:grpSp>
      </p:grpSp>
      <p:sp>
        <p:nvSpPr>
          <p:cNvPr id="1027" name="Rectangle 37">
            <a:extLst>
              <a:ext uri="{FF2B5EF4-FFF2-40B4-BE49-F238E27FC236}">
                <a16:creationId xmlns:a16="http://schemas.microsoft.com/office/drawing/2014/main" id="{6FF57294-8D84-40B7-A97D-99386C5AB675}"/>
              </a:ext>
            </a:extLst>
          </p:cNvPr>
          <p:cNvSpPr>
            <a:spLocks noChangeArrowheads="1"/>
          </p:cNvSpPr>
          <p:nvPr/>
        </p:nvSpPr>
        <p:spPr bwMode="gray">
          <a:xfrm rot="16200000">
            <a:off x="4544418" y="-3512543"/>
            <a:ext cx="58341" cy="9140825"/>
          </a:xfrm>
          <a:prstGeom prst="rect">
            <a:avLst/>
          </a:prstGeom>
          <a:solidFill>
            <a:srgbClr val="589CB4"/>
          </a:solidFill>
          <a:ln>
            <a:noFill/>
          </a:ln>
        </p:spPr>
        <p:txBody>
          <a:bodyPr vert="eaVert" wrap="none" anchor="ct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pPr algn="ctr" eaLnBrk="1" hangingPunct="1">
              <a:defRPr/>
            </a:pPr>
            <a:endParaRPr kumimoji="1" lang="en-US" altLang="en-US" sz="2400">
              <a:latin typeface="Tahoma" panose="020B0604030504040204" pitchFamily="34" charset="0"/>
              <a:ea typeface="+mn-ea"/>
            </a:endParaRPr>
          </a:p>
        </p:txBody>
      </p:sp>
      <p:sp>
        <p:nvSpPr>
          <p:cNvPr id="1028" name="Rectangle 9">
            <a:extLst>
              <a:ext uri="{FF2B5EF4-FFF2-40B4-BE49-F238E27FC236}">
                <a16:creationId xmlns:a16="http://schemas.microsoft.com/office/drawing/2014/main" id="{DC0F7037-92D3-7E0A-55A9-40490648304F}"/>
              </a:ext>
            </a:extLst>
          </p:cNvPr>
          <p:cNvSpPr>
            <a:spLocks noGrp="1" noChangeArrowheads="1"/>
          </p:cNvSpPr>
          <p:nvPr>
            <p:ph type="title"/>
          </p:nvPr>
        </p:nvSpPr>
        <p:spPr bwMode="auto">
          <a:xfrm>
            <a:off x="228601" y="227410"/>
            <a:ext cx="7796213" cy="744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GB" altLang="en-US"/>
              <a:t>Click to edit Master title style</a:t>
            </a:r>
            <a:endParaRPr lang="en-US" altLang="en-US" dirty="0"/>
          </a:p>
        </p:txBody>
      </p:sp>
      <p:sp>
        <p:nvSpPr>
          <p:cNvPr id="1030" name="Rectangle 21">
            <a:extLst>
              <a:ext uri="{FF2B5EF4-FFF2-40B4-BE49-F238E27FC236}">
                <a16:creationId xmlns:a16="http://schemas.microsoft.com/office/drawing/2014/main" id="{76ECBC8F-AE27-B907-9DD9-44EDABE8EC3B}"/>
              </a:ext>
            </a:extLst>
          </p:cNvPr>
          <p:cNvSpPr>
            <a:spLocks noGrp="1" noChangeArrowheads="1"/>
          </p:cNvSpPr>
          <p:nvPr>
            <p:ph type="body" idx="1"/>
          </p:nvPr>
        </p:nvSpPr>
        <p:spPr bwMode="auto">
          <a:xfrm>
            <a:off x="239714" y="1200150"/>
            <a:ext cx="8294687" cy="3429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0" bIns="45720" numCol="1" anchor="t" anchorCtr="0" compatLnSpc="1">
            <a:prstTxWarp prst="textNoShape">
              <a:avLst/>
            </a:prstTxWarp>
          </a:bodyPr>
          <a:lstStyle/>
          <a:p>
            <a:pPr lvl="0"/>
            <a:r>
              <a:rPr lang="en-GB" altLang="en-US" dirty="0"/>
              <a:t>Click to edit Master text styles</a:t>
            </a:r>
          </a:p>
          <a:p>
            <a:pPr lvl="1"/>
            <a:r>
              <a:rPr lang="en-GB" altLang="en-US" dirty="0"/>
              <a:t>Second level</a:t>
            </a:r>
          </a:p>
          <a:p>
            <a:pPr lvl="2"/>
            <a:r>
              <a:rPr lang="en-GB" altLang="en-US" dirty="0"/>
              <a:t>Third level</a:t>
            </a:r>
          </a:p>
          <a:p>
            <a:pPr lvl="3"/>
            <a:r>
              <a:rPr lang="en-GB" altLang="en-US" dirty="0"/>
              <a:t>Fourth level</a:t>
            </a:r>
          </a:p>
          <a:p>
            <a:pPr lvl="4"/>
            <a:r>
              <a:rPr lang="en-GB" altLang="en-US" dirty="0"/>
              <a:t>Fifth level</a:t>
            </a:r>
            <a:endParaRPr lang="en-US" altLang="en-US" dirty="0"/>
          </a:p>
        </p:txBody>
      </p:sp>
      <p:sp>
        <p:nvSpPr>
          <p:cNvPr id="1031" name="Rectangle 30">
            <a:extLst>
              <a:ext uri="{FF2B5EF4-FFF2-40B4-BE49-F238E27FC236}">
                <a16:creationId xmlns:a16="http://schemas.microsoft.com/office/drawing/2014/main" id="{40B1C141-1CC7-64E8-4630-CC3D077F1649}"/>
              </a:ext>
            </a:extLst>
          </p:cNvPr>
          <p:cNvSpPr>
            <a:spLocks noChangeArrowheads="1"/>
          </p:cNvSpPr>
          <p:nvPr/>
        </p:nvSpPr>
        <p:spPr bwMode="auto">
          <a:xfrm>
            <a:off x="76200" y="4857750"/>
            <a:ext cx="3276600" cy="227410"/>
          </a:xfrm>
          <a:prstGeom prst="rect">
            <a:avLst/>
          </a:prstGeom>
          <a:noFill/>
          <a:ln>
            <a:noFill/>
          </a:ln>
        </p:spPr>
        <p:txBody>
          <a:bodyPr anchor="b"/>
          <a:lstStyle>
            <a:lvl1pPr>
              <a:defRPr sz="2400">
                <a:solidFill>
                  <a:schemeClr val="tx1"/>
                </a:solidFill>
                <a:latin typeface="Arial" panose="020B0604020202020204" pitchFamily="34" charset="0"/>
                <a:ea typeface="MS PGothic" panose="020B0600070205080204" pitchFamily="34" charset="-128"/>
              </a:defRPr>
            </a:lvl1pPr>
            <a:lvl2pPr marL="742950" indent="-285750">
              <a:defRPr sz="2400">
                <a:solidFill>
                  <a:schemeClr val="tx1"/>
                </a:solidFill>
                <a:latin typeface="Arial" panose="020B0604020202020204" pitchFamily="34" charset="0"/>
                <a:ea typeface="MS PGothic" panose="020B0600070205080204" pitchFamily="34" charset="-128"/>
              </a:defRPr>
            </a:lvl2pPr>
            <a:lvl3pPr marL="1143000" indent="-228600">
              <a:defRPr sz="2400">
                <a:solidFill>
                  <a:schemeClr val="tx1"/>
                </a:solidFill>
                <a:latin typeface="Arial" panose="020B0604020202020204" pitchFamily="34" charset="0"/>
                <a:ea typeface="MS PGothic" panose="020B0600070205080204" pitchFamily="34" charset="-128"/>
              </a:defRPr>
            </a:lvl3pPr>
            <a:lvl4pPr marL="1600200" indent="-228600">
              <a:defRPr sz="2400">
                <a:solidFill>
                  <a:schemeClr val="tx1"/>
                </a:solidFill>
                <a:latin typeface="Arial" panose="020B0604020202020204" pitchFamily="34" charset="0"/>
                <a:ea typeface="MS PGothic" panose="020B0600070205080204" pitchFamily="34" charset="-128"/>
              </a:defRPr>
            </a:lvl4pPr>
            <a:lvl5pPr marL="2057400" indent="-228600">
              <a:defRPr sz="2400">
                <a:solidFill>
                  <a:schemeClr val="tx1"/>
                </a:solidFill>
                <a:latin typeface="Arial"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9pPr>
          </a:lstStyle>
          <a:p>
            <a:pPr eaLnBrk="1" hangingPunct="1">
              <a:defRPr/>
            </a:pPr>
            <a:r>
              <a:rPr lang="en-US" altLang="en-US" sz="675" dirty="0"/>
              <a:t>Copyright © 2016 Ramez Elmasri and Shamkant B. Navathe</a:t>
            </a:r>
          </a:p>
        </p:txBody>
      </p:sp>
      <p:pic>
        <p:nvPicPr>
          <p:cNvPr id="1032" name="Picture 1">
            <a:extLst>
              <a:ext uri="{FF2B5EF4-FFF2-40B4-BE49-F238E27FC236}">
                <a16:creationId xmlns:a16="http://schemas.microsoft.com/office/drawing/2014/main" id="{C8E023D0-8323-E1E5-B043-AAAAD3E8DCD5}"/>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8383588" y="222647"/>
            <a:ext cx="6175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3">
            <a:extLst>
              <a:ext uri="{FF2B5EF4-FFF2-40B4-BE49-F238E27FC236}">
                <a16:creationId xmlns:a16="http://schemas.microsoft.com/office/drawing/2014/main" id="{6275177B-8634-1E6B-FE52-284EBAE8D42E}"/>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8181976" y="576263"/>
            <a:ext cx="404813" cy="303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0">
            <a:extLst>
              <a:ext uri="{FF2B5EF4-FFF2-40B4-BE49-F238E27FC236}">
                <a16:creationId xmlns:a16="http://schemas.microsoft.com/office/drawing/2014/main" id="{61D99BA9-F869-2243-3E31-2C6563A62BA9}"/>
              </a:ext>
            </a:extLst>
          </p:cNvPr>
          <p:cNvSpPr>
            <a:spLocks noChangeArrowheads="1"/>
          </p:cNvSpPr>
          <p:nvPr/>
        </p:nvSpPr>
        <p:spPr bwMode="auto">
          <a:xfrm>
            <a:off x="5310188" y="4858941"/>
            <a:ext cx="3276600" cy="227410"/>
          </a:xfrm>
          <a:prstGeom prst="rect">
            <a:avLst/>
          </a:prstGeom>
          <a:noFill/>
          <a:ln>
            <a:noFill/>
          </a:ln>
        </p:spPr>
        <p:txBody>
          <a:bodyPr anchor="b"/>
          <a:lstStyle>
            <a:lvl1pPr>
              <a:defRPr sz="2400">
                <a:solidFill>
                  <a:schemeClr val="tx1"/>
                </a:solidFill>
                <a:latin typeface="Arial" panose="020B0604020202020204" pitchFamily="34" charset="0"/>
                <a:ea typeface="MS PGothic" panose="020B0600070205080204" pitchFamily="34" charset="-128"/>
              </a:defRPr>
            </a:lvl1pPr>
            <a:lvl2pPr marL="742950" indent="-285750">
              <a:defRPr sz="2400">
                <a:solidFill>
                  <a:schemeClr val="tx1"/>
                </a:solidFill>
                <a:latin typeface="Arial" panose="020B0604020202020204" pitchFamily="34" charset="0"/>
                <a:ea typeface="MS PGothic" panose="020B0600070205080204" pitchFamily="34" charset="-128"/>
              </a:defRPr>
            </a:lvl2pPr>
            <a:lvl3pPr marL="1143000" indent="-228600">
              <a:defRPr sz="2400">
                <a:solidFill>
                  <a:schemeClr val="tx1"/>
                </a:solidFill>
                <a:latin typeface="Arial" panose="020B0604020202020204" pitchFamily="34" charset="0"/>
                <a:ea typeface="MS PGothic" panose="020B0600070205080204" pitchFamily="34" charset="-128"/>
              </a:defRPr>
            </a:lvl3pPr>
            <a:lvl4pPr marL="1600200" indent="-228600">
              <a:defRPr sz="2400">
                <a:solidFill>
                  <a:schemeClr val="tx1"/>
                </a:solidFill>
                <a:latin typeface="Arial" panose="020B0604020202020204" pitchFamily="34" charset="0"/>
                <a:ea typeface="MS PGothic" panose="020B0600070205080204" pitchFamily="34" charset="-128"/>
              </a:defRPr>
            </a:lvl4pPr>
            <a:lvl5pPr marL="2057400" indent="-228600">
              <a:defRPr sz="2400">
                <a:solidFill>
                  <a:schemeClr val="tx1"/>
                </a:solidFill>
                <a:latin typeface="Arial"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9pPr>
          </a:lstStyle>
          <a:p>
            <a:pPr algn="r" eaLnBrk="1" hangingPunct="1">
              <a:defRPr/>
            </a:pPr>
            <a:r>
              <a:rPr lang="en-US" altLang="en-US" sz="788" b="1" dirty="0" err="1"/>
              <a:t>Analisi</a:t>
            </a:r>
            <a:r>
              <a:rPr lang="en-US" altLang="en-US" sz="788" b="1" dirty="0"/>
              <a:t> </a:t>
            </a:r>
            <a:r>
              <a:rPr lang="en-US" altLang="en-US" sz="788" b="1" dirty="0" err="1"/>
              <a:t>dei</a:t>
            </a:r>
            <a:r>
              <a:rPr lang="en-US" altLang="en-US" sz="788" b="1" dirty="0"/>
              <a:t> </a:t>
            </a:r>
            <a:r>
              <a:rPr lang="en-US" altLang="en-US" sz="788" b="1" dirty="0" err="1"/>
              <a:t>dati</a:t>
            </a:r>
            <a:r>
              <a:rPr lang="en-US" altLang="en-US" sz="788" b="1" dirty="0"/>
              <a:t> e big data  -  Marco Del Coco</a:t>
            </a:r>
          </a:p>
        </p:txBody>
      </p:sp>
    </p:spTree>
    <p:extLst>
      <p:ext uri="{BB962C8B-B14F-4D97-AF65-F5344CB8AC3E}">
        <p14:creationId xmlns:p14="http://schemas.microsoft.com/office/powerpoint/2010/main" val="350486750"/>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Lst>
  <p:transition spd="med"/>
  <p:hf sldNum="0" hdr="0" ftr="0" dt="0"/>
  <p:txStyles>
    <p:titleStyle>
      <a:lvl1pPr algn="l" rtl="0" eaLnBrk="1" fontAlgn="base" hangingPunct="1">
        <a:spcBef>
          <a:spcPct val="0"/>
        </a:spcBef>
        <a:spcAft>
          <a:spcPct val="0"/>
        </a:spcAft>
        <a:defRPr sz="2700">
          <a:solidFill>
            <a:schemeClr val="accent1"/>
          </a:solidFill>
          <a:latin typeface="+mj-lt"/>
          <a:ea typeface="ＭＳ Ｐゴシック" panose="020B0600070205080204" pitchFamily="34" charset="-128"/>
          <a:cs typeface="+mj-cs"/>
        </a:defRPr>
      </a:lvl1pPr>
      <a:lvl2pPr algn="l" rtl="0" eaLnBrk="1" fontAlgn="base" hangingPunct="1">
        <a:spcBef>
          <a:spcPct val="0"/>
        </a:spcBef>
        <a:spcAft>
          <a:spcPct val="0"/>
        </a:spcAft>
        <a:defRPr sz="2700">
          <a:solidFill>
            <a:srgbClr val="E1D7CC"/>
          </a:solidFill>
          <a:latin typeface="Arial" charset="0"/>
          <a:ea typeface="ＭＳ Ｐゴシック" panose="020B0600070205080204" pitchFamily="34" charset="-128"/>
        </a:defRPr>
      </a:lvl2pPr>
      <a:lvl3pPr algn="l" rtl="0" eaLnBrk="1" fontAlgn="base" hangingPunct="1">
        <a:spcBef>
          <a:spcPct val="0"/>
        </a:spcBef>
        <a:spcAft>
          <a:spcPct val="0"/>
        </a:spcAft>
        <a:defRPr sz="2700">
          <a:solidFill>
            <a:srgbClr val="E1D7CC"/>
          </a:solidFill>
          <a:latin typeface="Arial" charset="0"/>
          <a:ea typeface="ＭＳ Ｐゴシック" panose="020B0600070205080204" pitchFamily="34" charset="-128"/>
        </a:defRPr>
      </a:lvl3pPr>
      <a:lvl4pPr algn="l" rtl="0" eaLnBrk="1" fontAlgn="base" hangingPunct="1">
        <a:spcBef>
          <a:spcPct val="0"/>
        </a:spcBef>
        <a:spcAft>
          <a:spcPct val="0"/>
        </a:spcAft>
        <a:defRPr sz="2700">
          <a:solidFill>
            <a:srgbClr val="E1D7CC"/>
          </a:solidFill>
          <a:latin typeface="Arial" charset="0"/>
          <a:ea typeface="ＭＳ Ｐゴシック" panose="020B0600070205080204" pitchFamily="34" charset="-128"/>
        </a:defRPr>
      </a:lvl4pPr>
      <a:lvl5pPr algn="l" rtl="0" eaLnBrk="1" fontAlgn="base" hangingPunct="1">
        <a:spcBef>
          <a:spcPct val="0"/>
        </a:spcBef>
        <a:spcAft>
          <a:spcPct val="0"/>
        </a:spcAft>
        <a:defRPr sz="2700">
          <a:solidFill>
            <a:srgbClr val="E1D7CC"/>
          </a:solidFill>
          <a:latin typeface="Arial" charset="0"/>
          <a:ea typeface="ＭＳ Ｐゴシック" panose="020B0600070205080204" pitchFamily="34" charset="-128"/>
        </a:defRPr>
      </a:lvl5pPr>
      <a:lvl6pPr marL="342900" algn="l" rtl="0" eaLnBrk="1" fontAlgn="base" hangingPunct="1">
        <a:spcBef>
          <a:spcPct val="0"/>
        </a:spcBef>
        <a:spcAft>
          <a:spcPct val="0"/>
        </a:spcAft>
        <a:defRPr sz="2700">
          <a:solidFill>
            <a:srgbClr val="800000"/>
          </a:solidFill>
          <a:latin typeface="Arial" charset="0"/>
        </a:defRPr>
      </a:lvl6pPr>
      <a:lvl7pPr marL="685800" algn="l" rtl="0" eaLnBrk="1" fontAlgn="base" hangingPunct="1">
        <a:spcBef>
          <a:spcPct val="0"/>
        </a:spcBef>
        <a:spcAft>
          <a:spcPct val="0"/>
        </a:spcAft>
        <a:defRPr sz="2700">
          <a:solidFill>
            <a:srgbClr val="800000"/>
          </a:solidFill>
          <a:latin typeface="Arial" charset="0"/>
        </a:defRPr>
      </a:lvl7pPr>
      <a:lvl8pPr marL="1028700" algn="l" rtl="0" eaLnBrk="1" fontAlgn="base" hangingPunct="1">
        <a:spcBef>
          <a:spcPct val="0"/>
        </a:spcBef>
        <a:spcAft>
          <a:spcPct val="0"/>
        </a:spcAft>
        <a:defRPr sz="2700">
          <a:solidFill>
            <a:srgbClr val="800000"/>
          </a:solidFill>
          <a:latin typeface="Arial" charset="0"/>
        </a:defRPr>
      </a:lvl8pPr>
      <a:lvl9pPr marL="1371600" algn="l" rtl="0" eaLnBrk="1" fontAlgn="base" hangingPunct="1">
        <a:spcBef>
          <a:spcPct val="0"/>
        </a:spcBef>
        <a:spcAft>
          <a:spcPct val="0"/>
        </a:spcAft>
        <a:defRPr sz="2700">
          <a:solidFill>
            <a:srgbClr val="800000"/>
          </a:solidFill>
          <a:latin typeface="Arial" charset="0"/>
        </a:defRPr>
      </a:lvl9pPr>
    </p:titleStyle>
    <p:bodyStyle>
      <a:lvl1pPr marL="257175" indent="-257175" algn="l" rtl="0" eaLnBrk="1" fontAlgn="base" hangingPunct="1">
        <a:spcBef>
          <a:spcPct val="20000"/>
        </a:spcBef>
        <a:spcAft>
          <a:spcPct val="0"/>
        </a:spcAft>
        <a:buClr>
          <a:srgbClr val="990033"/>
        </a:buClr>
        <a:buSzPct val="60000"/>
        <a:buFont typeface="Wingdings" pitchFamily="2" charset="2"/>
        <a:buChar char="n"/>
        <a:defRPr sz="1800">
          <a:solidFill>
            <a:schemeClr val="tx2"/>
          </a:solidFill>
          <a:latin typeface="+mn-lt"/>
          <a:ea typeface="ＭＳ Ｐゴシック" panose="020B0600070205080204" pitchFamily="34" charset="-128"/>
          <a:cs typeface="+mn-cs"/>
        </a:defRPr>
      </a:lvl1pPr>
      <a:lvl2pPr marL="557213" indent="-214313" algn="l" rtl="0" eaLnBrk="1" fontAlgn="base" hangingPunct="1">
        <a:spcBef>
          <a:spcPct val="20000"/>
        </a:spcBef>
        <a:spcAft>
          <a:spcPct val="0"/>
        </a:spcAft>
        <a:buClr>
          <a:schemeClr val="tx2"/>
        </a:buClr>
        <a:buSzPct val="55000"/>
        <a:buFont typeface="Wingdings" pitchFamily="2" charset="2"/>
        <a:buChar char="n"/>
        <a:defRPr sz="1600">
          <a:solidFill>
            <a:srgbClr val="DC4C4C"/>
          </a:solidFill>
          <a:latin typeface="+mn-lt"/>
          <a:ea typeface="ＭＳ Ｐゴシック" panose="020B0600070205080204" pitchFamily="34" charset="-128"/>
        </a:defRPr>
      </a:lvl2pPr>
      <a:lvl3pPr marL="857250" indent="-171450" algn="l" rtl="0" eaLnBrk="1" fontAlgn="base" hangingPunct="1">
        <a:spcBef>
          <a:spcPct val="20000"/>
        </a:spcBef>
        <a:spcAft>
          <a:spcPct val="0"/>
        </a:spcAft>
        <a:buClr>
          <a:srgbClr val="990033"/>
        </a:buClr>
        <a:buSzPct val="50000"/>
        <a:buFont typeface="Wingdings" pitchFamily="2" charset="2"/>
        <a:buChar char="n"/>
        <a:defRPr sz="1400">
          <a:solidFill>
            <a:schemeClr val="tx2"/>
          </a:solidFill>
          <a:latin typeface="+mn-lt"/>
          <a:ea typeface="ＭＳ Ｐゴシック" panose="020B0600070205080204" pitchFamily="34" charset="-128"/>
        </a:defRPr>
      </a:lvl3pPr>
      <a:lvl4pPr marL="1200150" indent="-171450" algn="l" rtl="0" eaLnBrk="1" fontAlgn="base" hangingPunct="1">
        <a:spcBef>
          <a:spcPct val="20000"/>
        </a:spcBef>
        <a:spcAft>
          <a:spcPct val="0"/>
        </a:spcAft>
        <a:buClr>
          <a:schemeClr val="tx2"/>
        </a:buClr>
        <a:buSzPct val="55000"/>
        <a:buFont typeface="Wingdings" pitchFamily="2" charset="2"/>
        <a:buChar char="n"/>
        <a:defRPr sz="1200">
          <a:solidFill>
            <a:srgbClr val="106380"/>
          </a:solidFill>
          <a:latin typeface="+mn-lt"/>
          <a:ea typeface="ＭＳ Ｐゴシック" panose="020B0600070205080204" pitchFamily="34" charset="-128"/>
        </a:defRPr>
      </a:lvl4pPr>
      <a:lvl5pPr marL="1543050" indent="-171450" algn="l" rtl="0" eaLnBrk="1" fontAlgn="base" hangingPunct="1">
        <a:spcBef>
          <a:spcPct val="20000"/>
        </a:spcBef>
        <a:spcAft>
          <a:spcPct val="0"/>
        </a:spcAft>
        <a:buClr>
          <a:srgbClr val="990033"/>
        </a:buClr>
        <a:buSzPct val="50000"/>
        <a:buFont typeface="Wingdings" pitchFamily="2" charset="2"/>
        <a:buChar char="n"/>
        <a:defRPr sz="1200">
          <a:solidFill>
            <a:schemeClr val="tx2"/>
          </a:solidFill>
          <a:latin typeface="+mn-lt"/>
          <a:ea typeface="ＭＳ Ｐゴシック" panose="020B0600070205080204" pitchFamily="34" charset="-128"/>
        </a:defRPr>
      </a:lvl5pPr>
      <a:lvl6pPr marL="1885950" indent="-171450" algn="l" rtl="0" eaLnBrk="1" fontAlgn="base" hangingPunct="1">
        <a:spcBef>
          <a:spcPct val="20000"/>
        </a:spcBef>
        <a:spcAft>
          <a:spcPct val="0"/>
        </a:spcAft>
        <a:buClr>
          <a:srgbClr val="990033"/>
        </a:buClr>
        <a:buSzPct val="50000"/>
        <a:buFont typeface="Wingdings" pitchFamily="2" charset="2"/>
        <a:buChar char="n"/>
        <a:defRPr sz="1500">
          <a:solidFill>
            <a:schemeClr val="tx2"/>
          </a:solidFill>
          <a:latin typeface="+mn-lt"/>
        </a:defRPr>
      </a:lvl6pPr>
      <a:lvl7pPr marL="2228850" indent="-171450" algn="l" rtl="0" eaLnBrk="1" fontAlgn="base" hangingPunct="1">
        <a:spcBef>
          <a:spcPct val="20000"/>
        </a:spcBef>
        <a:spcAft>
          <a:spcPct val="0"/>
        </a:spcAft>
        <a:buClr>
          <a:srgbClr val="990033"/>
        </a:buClr>
        <a:buSzPct val="50000"/>
        <a:buFont typeface="Wingdings" pitchFamily="2" charset="2"/>
        <a:buChar char="n"/>
        <a:defRPr sz="1500">
          <a:solidFill>
            <a:schemeClr val="tx2"/>
          </a:solidFill>
          <a:latin typeface="+mn-lt"/>
        </a:defRPr>
      </a:lvl7pPr>
      <a:lvl8pPr marL="2571750" indent="-171450" algn="l" rtl="0" eaLnBrk="1" fontAlgn="base" hangingPunct="1">
        <a:spcBef>
          <a:spcPct val="20000"/>
        </a:spcBef>
        <a:spcAft>
          <a:spcPct val="0"/>
        </a:spcAft>
        <a:buClr>
          <a:srgbClr val="990033"/>
        </a:buClr>
        <a:buSzPct val="50000"/>
        <a:buFont typeface="Wingdings" pitchFamily="2" charset="2"/>
        <a:buChar char="n"/>
        <a:defRPr sz="1500">
          <a:solidFill>
            <a:schemeClr val="tx2"/>
          </a:solidFill>
          <a:latin typeface="+mn-lt"/>
        </a:defRPr>
      </a:lvl8pPr>
      <a:lvl9pPr marL="2914650" indent="-171450" algn="l" rtl="0" eaLnBrk="1" fontAlgn="base" hangingPunct="1">
        <a:spcBef>
          <a:spcPct val="20000"/>
        </a:spcBef>
        <a:spcAft>
          <a:spcPct val="0"/>
        </a:spcAft>
        <a:buClr>
          <a:srgbClr val="990033"/>
        </a:buClr>
        <a:buSzPct val="50000"/>
        <a:buFont typeface="Wingdings" pitchFamily="2" charset="2"/>
        <a:buChar char="n"/>
        <a:defRPr sz="1500">
          <a:solidFill>
            <a:schemeClr val="tx2"/>
          </a:solidFill>
          <a:latin typeface="+mn-lt"/>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0.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0.xml"/><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0.xml"/><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0.xml"/><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10.xml"/><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10.xml"/><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0.xml"/><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0.xml"/><Relationship Id="rId4" Type="http://schemas.openxmlformats.org/officeDocument/2006/relationships/image" Target="../media/image42.png"/></Relationships>
</file>

<file path=ppt/slides/_rels/slide38.xml.rels><?xml version="1.0" encoding="UTF-8" standalone="yes"?>
<Relationships xmlns="http://schemas.openxmlformats.org/package/2006/relationships"><Relationship Id="rId3" Type="http://schemas.openxmlformats.org/officeDocument/2006/relationships/hyperlink" Target="https://neo4j.com/cloud/platform/aura-graph-database/" TargetMode="External"/><Relationship Id="rId2" Type="http://schemas.openxmlformats.org/officeDocument/2006/relationships/notesSlide" Target="../notesSlides/notesSlide27.xml"/><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png"/></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6.xml"/><Relationship Id="rId1" Type="http://schemas.openxmlformats.org/officeDocument/2006/relationships/slideLayout" Target="../slideLayouts/slideLayout10.xml"/></Relationships>
</file>

<file path=ppt/slides/_rels/slide4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7.xml"/><Relationship Id="rId1" Type="http://schemas.openxmlformats.org/officeDocument/2006/relationships/slideLayout" Target="../slideLayouts/slideLayout10.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9">
          <a:extLst>
            <a:ext uri="{FF2B5EF4-FFF2-40B4-BE49-F238E27FC236}">
              <a16:creationId xmlns:a16="http://schemas.microsoft.com/office/drawing/2014/main" id="{63B800F6-7284-0A52-B6E9-D9F02CC534AC}"/>
            </a:ext>
          </a:extLst>
        </p:cNvPr>
        <p:cNvGrpSpPr/>
        <p:nvPr/>
      </p:nvGrpSpPr>
      <p:grpSpPr>
        <a:xfrm>
          <a:off x="0" y="0"/>
          <a:ext cx="0" cy="0"/>
          <a:chOff x="0" y="0"/>
          <a:chExt cx="0" cy="0"/>
        </a:xfrm>
      </p:grpSpPr>
      <p:sp>
        <p:nvSpPr>
          <p:cNvPr id="4" name="Google Shape;93;p18">
            <a:extLst>
              <a:ext uri="{FF2B5EF4-FFF2-40B4-BE49-F238E27FC236}">
                <a16:creationId xmlns:a16="http://schemas.microsoft.com/office/drawing/2014/main" id="{6DCA7CDB-B02B-B927-3B1E-050D9D95B7D7}"/>
              </a:ext>
            </a:extLst>
          </p:cNvPr>
          <p:cNvSpPr txBox="1">
            <a:spLocks/>
          </p:cNvSpPr>
          <p:nvPr/>
        </p:nvSpPr>
        <p:spPr bwMode="auto">
          <a:xfrm>
            <a:off x="519545" y="1714500"/>
            <a:ext cx="7086600" cy="1714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45700" rIns="91425" bIns="45700" numCol="1" anchor="t" anchorCtr="0" compatLnSpc="1">
            <a:prstTxWarp prst="textNoShape">
              <a:avLst/>
            </a:prstTxWarp>
            <a:normAutofit/>
          </a:bodyPr>
          <a:lstStyle>
            <a:lvl1pPr lvl="0" algn="l" rtl="0" eaLnBrk="1" fontAlgn="base" hangingPunct="1">
              <a:spcBef>
                <a:spcPts val="0"/>
              </a:spcBef>
              <a:spcAft>
                <a:spcPts val="0"/>
              </a:spcAft>
              <a:buSzPts val="4200"/>
              <a:buNone/>
              <a:defRPr sz="2700">
                <a:solidFill>
                  <a:schemeClr val="accent1"/>
                </a:solidFill>
                <a:latin typeface="+mj-lt"/>
                <a:ea typeface="ＭＳ Ｐゴシック" panose="020B0600070205080204" pitchFamily="34" charset="-128"/>
                <a:cs typeface="+mj-cs"/>
              </a:defRPr>
            </a:lvl1pPr>
            <a:lvl2pPr lvl="1" algn="l" rtl="0" eaLnBrk="1" fontAlgn="base" hangingPunct="1">
              <a:spcBef>
                <a:spcPts val="0"/>
              </a:spcBef>
              <a:spcAft>
                <a:spcPts val="0"/>
              </a:spcAft>
              <a:buSzPts val="4200"/>
              <a:buNone/>
              <a:defRPr sz="2700">
                <a:solidFill>
                  <a:srgbClr val="E1D7CC"/>
                </a:solidFill>
                <a:latin typeface="Arial" charset="0"/>
                <a:ea typeface="ＭＳ Ｐゴシック" panose="020B0600070205080204" pitchFamily="34" charset="-128"/>
              </a:defRPr>
            </a:lvl2pPr>
            <a:lvl3pPr lvl="2" algn="l" rtl="0" eaLnBrk="1" fontAlgn="base" hangingPunct="1">
              <a:spcBef>
                <a:spcPts val="0"/>
              </a:spcBef>
              <a:spcAft>
                <a:spcPts val="0"/>
              </a:spcAft>
              <a:buSzPts val="4200"/>
              <a:buNone/>
              <a:defRPr sz="2700">
                <a:solidFill>
                  <a:srgbClr val="E1D7CC"/>
                </a:solidFill>
                <a:latin typeface="Arial" charset="0"/>
                <a:ea typeface="ＭＳ Ｐゴシック" panose="020B0600070205080204" pitchFamily="34" charset="-128"/>
              </a:defRPr>
            </a:lvl3pPr>
            <a:lvl4pPr lvl="3" algn="l" rtl="0" eaLnBrk="1" fontAlgn="base" hangingPunct="1">
              <a:spcBef>
                <a:spcPts val="0"/>
              </a:spcBef>
              <a:spcAft>
                <a:spcPts val="0"/>
              </a:spcAft>
              <a:buSzPts val="4200"/>
              <a:buNone/>
              <a:defRPr sz="2700">
                <a:solidFill>
                  <a:srgbClr val="E1D7CC"/>
                </a:solidFill>
                <a:latin typeface="Arial" charset="0"/>
                <a:ea typeface="ＭＳ Ｐゴシック" panose="020B0600070205080204" pitchFamily="34" charset="-128"/>
              </a:defRPr>
            </a:lvl4pPr>
            <a:lvl5pPr lvl="4" algn="l" rtl="0" eaLnBrk="1" fontAlgn="base" hangingPunct="1">
              <a:spcBef>
                <a:spcPts val="0"/>
              </a:spcBef>
              <a:spcAft>
                <a:spcPts val="0"/>
              </a:spcAft>
              <a:buSzPts val="4200"/>
              <a:buNone/>
              <a:defRPr sz="2700">
                <a:solidFill>
                  <a:srgbClr val="E1D7CC"/>
                </a:solidFill>
                <a:latin typeface="Arial" charset="0"/>
                <a:ea typeface="ＭＳ Ｐゴシック" panose="020B0600070205080204" pitchFamily="34" charset="-128"/>
              </a:defRPr>
            </a:lvl5pPr>
            <a:lvl6pPr marL="342900" lvl="5" algn="l" rtl="0" eaLnBrk="1" fontAlgn="base" hangingPunct="1">
              <a:spcBef>
                <a:spcPts val="0"/>
              </a:spcBef>
              <a:spcAft>
                <a:spcPts val="0"/>
              </a:spcAft>
              <a:buSzPts val="4200"/>
              <a:buNone/>
              <a:defRPr sz="2700">
                <a:solidFill>
                  <a:srgbClr val="800000"/>
                </a:solidFill>
                <a:latin typeface="Arial" charset="0"/>
              </a:defRPr>
            </a:lvl6pPr>
            <a:lvl7pPr marL="685800" lvl="6" algn="l" rtl="0" eaLnBrk="1" fontAlgn="base" hangingPunct="1">
              <a:spcBef>
                <a:spcPts val="0"/>
              </a:spcBef>
              <a:spcAft>
                <a:spcPts val="0"/>
              </a:spcAft>
              <a:buSzPts val="4200"/>
              <a:buNone/>
              <a:defRPr sz="2700">
                <a:solidFill>
                  <a:srgbClr val="800000"/>
                </a:solidFill>
                <a:latin typeface="Arial" charset="0"/>
              </a:defRPr>
            </a:lvl7pPr>
            <a:lvl8pPr marL="1028700" lvl="7" algn="l" rtl="0" eaLnBrk="1" fontAlgn="base" hangingPunct="1">
              <a:spcBef>
                <a:spcPts val="0"/>
              </a:spcBef>
              <a:spcAft>
                <a:spcPts val="0"/>
              </a:spcAft>
              <a:buSzPts val="4200"/>
              <a:buNone/>
              <a:defRPr sz="2700">
                <a:solidFill>
                  <a:srgbClr val="800000"/>
                </a:solidFill>
                <a:latin typeface="Arial" charset="0"/>
              </a:defRPr>
            </a:lvl8pPr>
            <a:lvl9pPr marL="1371600" lvl="8" algn="l" rtl="0" eaLnBrk="1" fontAlgn="base" hangingPunct="1">
              <a:spcBef>
                <a:spcPts val="0"/>
              </a:spcBef>
              <a:spcAft>
                <a:spcPts val="0"/>
              </a:spcAft>
              <a:buSzPts val="4200"/>
              <a:buNone/>
              <a:defRPr sz="2700">
                <a:solidFill>
                  <a:srgbClr val="800000"/>
                </a:solidFill>
                <a:latin typeface="Arial" charset="0"/>
              </a:defRPr>
            </a:lvl9pPr>
          </a:lstStyle>
          <a:p>
            <a:pPr>
              <a:buClr>
                <a:schemeClr val="lt1"/>
              </a:buClr>
              <a:buSzPts val="3994"/>
              <a:buFont typeface="Open Sans ExtraBold"/>
              <a:buNone/>
            </a:pPr>
            <a:r>
              <a:rPr lang="en-GB" sz="3600" kern="0" dirty="0"/>
              <a:t>Introduction to neo4J </a:t>
            </a:r>
          </a:p>
          <a:p>
            <a:pPr>
              <a:buClr>
                <a:schemeClr val="lt1"/>
              </a:buClr>
              <a:buSzPts val="3994"/>
              <a:buFont typeface="Open Sans ExtraBold"/>
              <a:buNone/>
            </a:pPr>
            <a:r>
              <a:rPr lang="en-GB" sz="3600" kern="0" dirty="0"/>
              <a:t>and Cypher</a:t>
            </a:r>
            <a:endParaRPr lang="en-GB" sz="3000" kern="0" dirty="0"/>
          </a:p>
        </p:txBody>
      </p:sp>
      <p:pic>
        <p:nvPicPr>
          <p:cNvPr id="1026" name="Picture 2">
            <a:extLst>
              <a:ext uri="{FF2B5EF4-FFF2-40B4-BE49-F238E27FC236}">
                <a16:creationId xmlns:a16="http://schemas.microsoft.com/office/drawing/2014/main" id="{14DAA2F7-F7DA-1731-D4D5-484BCF16E1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18908" y="3236209"/>
            <a:ext cx="2441864" cy="9165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25024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9"/>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In this session</a:t>
            </a:r>
            <a:endParaRPr/>
          </a:p>
        </p:txBody>
      </p:sp>
      <p:sp>
        <p:nvSpPr>
          <p:cNvPr id="101" name="Google Shape;101;p19"/>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We will cover:</a:t>
            </a:r>
            <a:endParaRPr/>
          </a:p>
          <a:p>
            <a:pPr marL="457200" lvl="0" indent="-342900" algn="l" rtl="0">
              <a:spcBef>
                <a:spcPts val="1200"/>
              </a:spcBef>
              <a:spcAft>
                <a:spcPts val="0"/>
              </a:spcAft>
              <a:buSzPts val="1800"/>
              <a:buChar char="●"/>
            </a:pPr>
            <a:r>
              <a:rPr lang="en"/>
              <a:t>Property graph database anatomy </a:t>
            </a:r>
            <a:endParaRPr/>
          </a:p>
          <a:p>
            <a:pPr marL="457200" lvl="0" indent="-342900" algn="l" rtl="0">
              <a:spcBef>
                <a:spcPts val="0"/>
              </a:spcBef>
              <a:spcAft>
                <a:spcPts val="0"/>
              </a:spcAft>
              <a:buSzPts val="1800"/>
              <a:buChar char="●"/>
            </a:pPr>
            <a:r>
              <a:rPr lang="en"/>
              <a:t>Introduction to Cypher</a:t>
            </a:r>
            <a:endParaRPr/>
          </a:p>
          <a:p>
            <a:pPr marL="457200" lvl="0" indent="-342900" algn="l" rtl="0">
              <a:spcBef>
                <a:spcPts val="0"/>
              </a:spcBef>
              <a:spcAft>
                <a:spcPts val="0"/>
              </a:spcAft>
              <a:buSzPts val="1800"/>
              <a:buChar char="●"/>
            </a:pPr>
            <a:r>
              <a:rPr lang="en"/>
              <a:t>Continuing your graph journey</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0"/>
          <p:cNvSpPr txBox="1">
            <a:spLocks noGrp="1"/>
          </p:cNvSpPr>
          <p:nvPr>
            <p:ph type="title"/>
          </p:nvPr>
        </p:nvSpPr>
        <p:spPr>
          <a:prstGeom prst="rect">
            <a:avLst/>
          </a:prstGeom>
          <a:noFill/>
          <a:ln>
            <a:noFill/>
          </a:ln>
        </p:spPr>
        <p:txBody>
          <a:bodyPr spcFirstLastPara="1" wrap="square" lIns="19050" tIns="19050" rIns="19050" bIns="19050" anchor="ctr" anchorCtr="0">
            <a:normAutofit/>
          </a:bodyPr>
          <a:lstStyle/>
          <a:p>
            <a:pPr marL="0" lvl="0" indent="0" algn="ctr" rtl="0">
              <a:lnSpc>
                <a:spcPct val="100000"/>
              </a:lnSpc>
              <a:spcBef>
                <a:spcPts val="0"/>
              </a:spcBef>
              <a:spcAft>
                <a:spcPts val="0"/>
              </a:spcAft>
              <a:buClr>
                <a:srgbClr val="FFFFFF"/>
              </a:buClr>
              <a:buSzPts val="4500"/>
              <a:buFont typeface="Open Sans ExtraBold"/>
              <a:buNone/>
            </a:pPr>
            <a:r>
              <a:rPr lang="en"/>
              <a:t>So what does a (property) graph look like?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21"/>
          <p:cNvSpPr txBox="1"/>
          <p:nvPr/>
        </p:nvSpPr>
        <p:spPr>
          <a:xfrm>
            <a:off x="602625" y="1228900"/>
            <a:ext cx="8637000" cy="3638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400" b="1">
                <a:solidFill>
                  <a:srgbClr val="53585F"/>
                </a:solidFill>
                <a:latin typeface="Open Sans"/>
                <a:ea typeface="Open Sans"/>
                <a:cs typeface="Open Sans"/>
                <a:sym typeface="Open Sans"/>
              </a:rPr>
              <a:t>Node </a:t>
            </a:r>
            <a:r>
              <a:rPr lang="en" sz="2400">
                <a:solidFill>
                  <a:srgbClr val="53585F"/>
                </a:solidFill>
                <a:latin typeface="Open Sans"/>
                <a:ea typeface="Open Sans"/>
                <a:cs typeface="Open Sans"/>
                <a:sym typeface="Open Sans"/>
              </a:rPr>
              <a:t>(Vertex)</a:t>
            </a:r>
            <a:endParaRPr sz="2400">
              <a:solidFill>
                <a:srgbClr val="53585F"/>
              </a:solidFill>
              <a:latin typeface="Open Sans"/>
              <a:ea typeface="Open Sans"/>
              <a:cs typeface="Open Sans"/>
              <a:sym typeface="Open Sans"/>
            </a:endParaRPr>
          </a:p>
          <a:p>
            <a:pPr marL="457200" marR="0" lvl="0" indent="-342900" algn="l" rtl="0">
              <a:lnSpc>
                <a:spcPct val="115000"/>
              </a:lnSpc>
              <a:spcBef>
                <a:spcPts val="0"/>
              </a:spcBef>
              <a:spcAft>
                <a:spcPts val="0"/>
              </a:spcAft>
              <a:buClr>
                <a:srgbClr val="53585F"/>
              </a:buClr>
              <a:buSzPts val="1800"/>
              <a:buFont typeface="Open Sans"/>
              <a:buChar char="●"/>
            </a:pPr>
            <a:r>
              <a:rPr lang="en" sz="1800">
                <a:solidFill>
                  <a:srgbClr val="53585F"/>
                </a:solidFill>
                <a:latin typeface="Open Sans"/>
                <a:ea typeface="Open Sans"/>
                <a:cs typeface="Open Sans"/>
                <a:sym typeface="Open Sans"/>
              </a:rPr>
              <a:t>The main data element from which graphs are constructed </a:t>
            </a:r>
            <a:br>
              <a:rPr lang="en" sz="1800">
                <a:solidFill>
                  <a:srgbClr val="53585F"/>
                </a:solidFill>
                <a:latin typeface="Open Sans"/>
                <a:ea typeface="Open Sans"/>
                <a:cs typeface="Open Sans"/>
                <a:sym typeface="Open Sans"/>
              </a:rPr>
            </a:br>
            <a:endParaRPr sz="1800" i="1">
              <a:solidFill>
                <a:srgbClr val="53585F"/>
              </a:solidFill>
              <a:latin typeface="Open Sans"/>
              <a:ea typeface="Open Sans"/>
              <a:cs typeface="Open Sans"/>
              <a:sym typeface="Open Sans"/>
            </a:endParaRPr>
          </a:p>
          <a:p>
            <a:pPr marL="457200" marR="0" lvl="0" indent="0" algn="l" rtl="0">
              <a:lnSpc>
                <a:spcPct val="115000"/>
              </a:lnSpc>
              <a:spcBef>
                <a:spcPts val="0"/>
              </a:spcBef>
              <a:spcAft>
                <a:spcPts val="0"/>
              </a:spcAft>
              <a:buNone/>
            </a:pPr>
            <a:endParaRPr sz="180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b="1">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a:solidFill>
                <a:srgbClr val="53585F"/>
              </a:solidFill>
              <a:latin typeface="Open Sans"/>
              <a:ea typeface="Open Sans"/>
              <a:cs typeface="Open Sans"/>
              <a:sym typeface="Open Sans"/>
            </a:endParaRPr>
          </a:p>
          <a:p>
            <a:pPr marL="457200" marR="0" lvl="0" indent="0" algn="l" rtl="0">
              <a:lnSpc>
                <a:spcPct val="115000"/>
              </a:lnSpc>
              <a:spcBef>
                <a:spcPts val="0"/>
              </a:spcBef>
              <a:spcAft>
                <a:spcPts val="0"/>
              </a:spcAft>
              <a:buNone/>
            </a:pPr>
            <a:endParaRPr sz="1800" i="1">
              <a:solidFill>
                <a:srgbClr val="53585F"/>
              </a:solidFill>
              <a:latin typeface="Open Sans"/>
              <a:ea typeface="Open Sans"/>
              <a:cs typeface="Open Sans"/>
              <a:sym typeface="Open Sans"/>
            </a:endParaRPr>
          </a:p>
        </p:txBody>
      </p:sp>
      <p:sp>
        <p:nvSpPr>
          <p:cNvPr id="114" name="Google Shape;114;p21"/>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solidFill>
                  <a:srgbClr val="666666"/>
                </a:solidFill>
              </a:rPr>
              <a:t>Graph components</a:t>
            </a:r>
            <a:endParaRPr>
              <a:solidFill>
                <a:srgbClr val="666666"/>
              </a:solidFill>
            </a:endParaRPr>
          </a:p>
        </p:txBody>
      </p:sp>
      <p:sp>
        <p:nvSpPr>
          <p:cNvPr id="113" name="Google Shape;113;p21"/>
          <p:cNvSpPr txBox="1">
            <a:spLocks noGrp="1"/>
          </p:cNvSpPr>
          <p:nvPr>
            <p:ph type="sldNum" idx="12"/>
          </p:nvPr>
        </p:nvSpPr>
        <p:spPr>
          <a:prstGeom prst="rect">
            <a:avLst/>
          </a:prstGeom>
        </p:spPr>
        <p:txBody>
          <a:bodyPr spcFirstLastPara="1" wrap="square" lIns="91425" tIns="91425" rIns="91425" bIns="91425" anchor="ctr" anchorCtr="0">
            <a:normAutofit fontScale="70000" lnSpcReduction="20000"/>
          </a:bodyPr>
          <a:lstStyle/>
          <a:p>
            <a:pPr marL="0" lvl="0" indent="0" algn="r" rtl="0">
              <a:spcBef>
                <a:spcPts val="0"/>
              </a:spcBef>
              <a:spcAft>
                <a:spcPts val="0"/>
              </a:spcAft>
              <a:buNone/>
            </a:pPr>
            <a:fld id="{00000000-1234-1234-1234-123412341234}" type="slidenum">
              <a:rPr lang="en">
                <a:solidFill>
                  <a:schemeClr val="dk1"/>
                </a:solidFill>
                <a:latin typeface="Economica"/>
                <a:ea typeface="Economica"/>
                <a:cs typeface="Economica"/>
                <a:sym typeface="Economica"/>
              </a:rPr>
              <a:t>4</a:t>
            </a:fld>
            <a:endParaRPr>
              <a:solidFill>
                <a:schemeClr val="dk1"/>
              </a:solidFill>
              <a:latin typeface="Economica"/>
              <a:ea typeface="Economica"/>
              <a:cs typeface="Economica"/>
              <a:sym typeface="Economica"/>
            </a:endParaRPr>
          </a:p>
        </p:txBody>
      </p:sp>
      <p:sp>
        <p:nvSpPr>
          <p:cNvPr id="115" name="Google Shape;115;p21"/>
          <p:cNvSpPr/>
          <p:nvPr/>
        </p:nvSpPr>
        <p:spPr>
          <a:xfrm>
            <a:off x="5668850" y="2640699"/>
            <a:ext cx="815100" cy="8151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a:t>Jane</a:t>
            </a:r>
            <a:endParaRPr sz="1800" b="1"/>
          </a:p>
        </p:txBody>
      </p:sp>
      <p:sp>
        <p:nvSpPr>
          <p:cNvPr id="116" name="Google Shape;116;p21"/>
          <p:cNvSpPr/>
          <p:nvPr/>
        </p:nvSpPr>
        <p:spPr>
          <a:xfrm>
            <a:off x="7983605" y="2640699"/>
            <a:ext cx="815100" cy="815100"/>
          </a:xfrm>
          <a:prstGeom prst="ellipse">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t>car</a:t>
            </a:r>
            <a:endParaRPr sz="1800" b="1"/>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3" name="Google Shape;123;p22"/>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solidFill>
                  <a:srgbClr val="666666"/>
                </a:solidFill>
              </a:rPr>
              <a:t>Graph components</a:t>
            </a:r>
            <a:endParaRPr>
              <a:solidFill>
                <a:srgbClr val="666666"/>
              </a:solidFill>
            </a:endParaRPr>
          </a:p>
        </p:txBody>
      </p:sp>
      <p:sp>
        <p:nvSpPr>
          <p:cNvPr id="122" name="Google Shape;122;p22"/>
          <p:cNvSpPr txBox="1">
            <a:spLocks noGrp="1"/>
          </p:cNvSpPr>
          <p:nvPr>
            <p:ph type="sldNum" idx="12"/>
          </p:nvPr>
        </p:nvSpPr>
        <p:spPr>
          <a:prstGeom prst="rect">
            <a:avLst/>
          </a:prstGeom>
        </p:spPr>
        <p:txBody>
          <a:bodyPr spcFirstLastPara="1" wrap="square" lIns="91425" tIns="91425" rIns="91425" bIns="91425" anchor="ctr" anchorCtr="0">
            <a:normAutofit fontScale="70000" lnSpcReduction="20000"/>
          </a:bodyPr>
          <a:lstStyle/>
          <a:p>
            <a:pPr marL="0" lvl="0" indent="0" algn="r" rtl="0">
              <a:spcBef>
                <a:spcPts val="0"/>
              </a:spcBef>
              <a:spcAft>
                <a:spcPts val="0"/>
              </a:spcAft>
              <a:buNone/>
            </a:pPr>
            <a:fld id="{00000000-1234-1234-1234-123412341234}" type="slidenum">
              <a:rPr lang="en">
                <a:solidFill>
                  <a:schemeClr val="dk1"/>
                </a:solidFill>
                <a:latin typeface="Economica"/>
                <a:ea typeface="Economica"/>
                <a:cs typeface="Economica"/>
                <a:sym typeface="Economica"/>
              </a:rPr>
              <a:t>5</a:t>
            </a:fld>
            <a:endParaRPr>
              <a:solidFill>
                <a:schemeClr val="dk1"/>
              </a:solidFill>
              <a:latin typeface="Economica"/>
              <a:ea typeface="Economica"/>
              <a:cs typeface="Economica"/>
              <a:sym typeface="Economica"/>
            </a:endParaRPr>
          </a:p>
        </p:txBody>
      </p:sp>
      <p:sp>
        <p:nvSpPr>
          <p:cNvPr id="124" name="Google Shape;124;p22"/>
          <p:cNvSpPr txBox="1"/>
          <p:nvPr/>
        </p:nvSpPr>
        <p:spPr>
          <a:xfrm>
            <a:off x="195300" y="1221317"/>
            <a:ext cx="8637000" cy="3638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400" b="1" dirty="0">
                <a:solidFill>
                  <a:srgbClr val="53585F"/>
                </a:solidFill>
                <a:latin typeface="Open Sans"/>
                <a:ea typeface="Open Sans"/>
                <a:cs typeface="Open Sans"/>
                <a:sym typeface="Open Sans"/>
              </a:rPr>
              <a:t>Node </a:t>
            </a:r>
            <a:r>
              <a:rPr lang="en" sz="2400" dirty="0">
                <a:solidFill>
                  <a:srgbClr val="53585F"/>
                </a:solidFill>
                <a:latin typeface="Open Sans"/>
                <a:ea typeface="Open Sans"/>
                <a:cs typeface="Open Sans"/>
                <a:sym typeface="Open Sans"/>
              </a:rPr>
              <a:t>(Vertex)</a:t>
            </a:r>
            <a:endParaRPr sz="2400" dirty="0">
              <a:solidFill>
                <a:srgbClr val="53585F"/>
              </a:solidFill>
              <a:latin typeface="Open Sans"/>
              <a:ea typeface="Open Sans"/>
              <a:cs typeface="Open Sans"/>
              <a:sym typeface="Open Sans"/>
            </a:endParaRPr>
          </a:p>
          <a:p>
            <a:pPr marL="457200" marR="0" lvl="0" indent="-342900" algn="l" rtl="0">
              <a:lnSpc>
                <a:spcPct val="115000"/>
              </a:lnSpc>
              <a:spcBef>
                <a:spcPts val="0"/>
              </a:spcBef>
              <a:spcAft>
                <a:spcPts val="0"/>
              </a:spcAft>
              <a:buClr>
                <a:srgbClr val="53585F"/>
              </a:buClr>
              <a:buSzPts val="1800"/>
              <a:buFont typeface="Open Sans"/>
              <a:buChar char="●"/>
            </a:pPr>
            <a:r>
              <a:rPr lang="en" sz="1800" dirty="0">
                <a:solidFill>
                  <a:srgbClr val="53585F"/>
                </a:solidFill>
                <a:latin typeface="Open Sans"/>
                <a:ea typeface="Open Sans"/>
                <a:cs typeface="Open Sans"/>
                <a:sym typeface="Open Sans"/>
              </a:rPr>
              <a:t>The main data element from which graphs are constructed </a:t>
            </a:r>
            <a:br>
              <a:rPr lang="en" sz="1800" dirty="0">
                <a:solidFill>
                  <a:srgbClr val="53585F"/>
                </a:solidFill>
                <a:latin typeface="Open Sans"/>
                <a:ea typeface="Open Sans"/>
                <a:cs typeface="Open Sans"/>
                <a:sym typeface="Open Sans"/>
              </a:rPr>
            </a:br>
            <a:endParaRPr sz="18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b="1"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r>
              <a:rPr lang="en" sz="2400" b="1" dirty="0">
                <a:solidFill>
                  <a:srgbClr val="53585F"/>
                </a:solidFill>
                <a:latin typeface="Open Sans"/>
                <a:ea typeface="Open Sans"/>
                <a:cs typeface="Open Sans"/>
                <a:sym typeface="Open Sans"/>
              </a:rPr>
              <a:t>Relationship </a:t>
            </a:r>
            <a:r>
              <a:rPr lang="en" sz="2400" dirty="0">
                <a:solidFill>
                  <a:srgbClr val="53585F"/>
                </a:solidFill>
                <a:latin typeface="Open Sans"/>
                <a:ea typeface="Open Sans"/>
                <a:cs typeface="Open Sans"/>
                <a:sym typeface="Open Sans"/>
              </a:rPr>
              <a:t>(Edge)</a:t>
            </a:r>
            <a:endParaRPr sz="2400" dirty="0">
              <a:solidFill>
                <a:srgbClr val="53585F"/>
              </a:solidFill>
              <a:latin typeface="Open Sans"/>
              <a:ea typeface="Open Sans"/>
              <a:cs typeface="Open Sans"/>
              <a:sym typeface="Open Sans"/>
            </a:endParaRPr>
          </a:p>
          <a:p>
            <a:pPr marL="457200" marR="0" lvl="0" indent="-342900" algn="l" rtl="0">
              <a:lnSpc>
                <a:spcPct val="115000"/>
              </a:lnSpc>
              <a:spcBef>
                <a:spcPts val="0"/>
              </a:spcBef>
              <a:spcAft>
                <a:spcPts val="0"/>
              </a:spcAft>
              <a:buClr>
                <a:srgbClr val="53585F"/>
              </a:buClr>
              <a:buSzPts val="1800"/>
              <a:buFont typeface="Open Sans"/>
              <a:buChar char="●"/>
            </a:pPr>
            <a:r>
              <a:rPr lang="en" sz="1800" dirty="0">
                <a:solidFill>
                  <a:srgbClr val="53585F"/>
                </a:solidFill>
                <a:latin typeface="Open Sans"/>
                <a:ea typeface="Open Sans"/>
                <a:cs typeface="Open Sans"/>
                <a:sym typeface="Open Sans"/>
              </a:rPr>
              <a:t>A link between two nodes.  Has:</a:t>
            </a:r>
            <a:endParaRPr sz="1800" dirty="0">
              <a:solidFill>
                <a:srgbClr val="53585F"/>
              </a:solidFill>
              <a:latin typeface="Open Sans"/>
              <a:ea typeface="Open Sans"/>
              <a:cs typeface="Open Sans"/>
              <a:sym typeface="Open Sans"/>
            </a:endParaRPr>
          </a:p>
          <a:p>
            <a:pPr marL="914400" marR="0" lvl="1" indent="-342900" algn="l" rtl="0">
              <a:lnSpc>
                <a:spcPct val="115000"/>
              </a:lnSpc>
              <a:spcBef>
                <a:spcPts val="0"/>
              </a:spcBef>
              <a:spcAft>
                <a:spcPts val="0"/>
              </a:spcAft>
              <a:buClr>
                <a:srgbClr val="53585F"/>
              </a:buClr>
              <a:buSzPts val="1800"/>
              <a:buFont typeface="Open Sans"/>
              <a:buChar char="○"/>
            </a:pPr>
            <a:r>
              <a:rPr lang="en" sz="1800" dirty="0">
                <a:solidFill>
                  <a:srgbClr val="53585F"/>
                </a:solidFill>
                <a:latin typeface="Open Sans"/>
                <a:ea typeface="Open Sans"/>
                <a:cs typeface="Open Sans"/>
                <a:sym typeface="Open Sans"/>
              </a:rPr>
              <a:t>Direction</a:t>
            </a:r>
            <a:endParaRPr sz="1800" dirty="0">
              <a:solidFill>
                <a:srgbClr val="53585F"/>
              </a:solidFill>
              <a:latin typeface="Open Sans"/>
              <a:ea typeface="Open Sans"/>
              <a:cs typeface="Open Sans"/>
              <a:sym typeface="Open Sans"/>
            </a:endParaRPr>
          </a:p>
          <a:p>
            <a:pPr marL="914400" marR="0" lvl="1" indent="-342900" algn="l" rtl="0">
              <a:lnSpc>
                <a:spcPct val="115000"/>
              </a:lnSpc>
              <a:spcBef>
                <a:spcPts val="0"/>
              </a:spcBef>
              <a:spcAft>
                <a:spcPts val="0"/>
              </a:spcAft>
              <a:buClr>
                <a:srgbClr val="53585F"/>
              </a:buClr>
              <a:buSzPts val="1800"/>
              <a:buFont typeface="Open Sans"/>
              <a:buChar char="○"/>
            </a:pPr>
            <a:r>
              <a:rPr lang="en" sz="1800" dirty="0">
                <a:solidFill>
                  <a:srgbClr val="53585F"/>
                </a:solidFill>
                <a:latin typeface="Open Sans"/>
                <a:ea typeface="Open Sans"/>
                <a:cs typeface="Open Sans"/>
                <a:sym typeface="Open Sans"/>
              </a:rPr>
              <a:t>Type</a:t>
            </a:r>
            <a:endParaRPr sz="1800" b="1" i="1" dirty="0">
              <a:solidFill>
                <a:srgbClr val="53585F"/>
              </a:solidFill>
              <a:latin typeface="Open Sans"/>
              <a:ea typeface="Open Sans"/>
              <a:cs typeface="Open Sans"/>
              <a:sym typeface="Open Sans"/>
            </a:endParaRPr>
          </a:p>
          <a:p>
            <a:pPr marL="457200" lvl="0" indent="-342900" algn="l" rtl="0">
              <a:lnSpc>
                <a:spcPct val="115000"/>
              </a:lnSpc>
              <a:spcBef>
                <a:spcPts val="0"/>
              </a:spcBef>
              <a:spcAft>
                <a:spcPts val="0"/>
              </a:spcAft>
              <a:buClr>
                <a:srgbClr val="53585F"/>
              </a:buClr>
              <a:buSzPts val="1800"/>
              <a:buFont typeface="Open Sans"/>
              <a:buChar char="●"/>
            </a:pPr>
            <a:r>
              <a:rPr lang="en" sz="1800" i="1" dirty="0">
                <a:solidFill>
                  <a:srgbClr val="53585F"/>
                </a:solidFill>
                <a:latin typeface="Open Sans"/>
                <a:ea typeface="Open Sans"/>
                <a:cs typeface="Open Sans"/>
                <a:sym typeface="Open Sans"/>
              </a:rPr>
              <a:t>A node without relationships is permitted.  A relationship without nodes is not</a:t>
            </a:r>
            <a:endParaRPr sz="1800" i="1" dirty="0">
              <a:solidFill>
                <a:srgbClr val="53585F"/>
              </a:solidFill>
              <a:latin typeface="Open Sans"/>
              <a:ea typeface="Open Sans"/>
              <a:cs typeface="Open Sans"/>
              <a:sym typeface="Open Sans"/>
            </a:endParaRPr>
          </a:p>
        </p:txBody>
      </p:sp>
      <p:cxnSp>
        <p:nvCxnSpPr>
          <p:cNvPr id="125" name="Google Shape;125;p22"/>
          <p:cNvCxnSpPr>
            <a:stCxn id="126" idx="2"/>
            <a:endCxn id="127" idx="6"/>
          </p:cNvCxnSpPr>
          <p:nvPr/>
        </p:nvCxnSpPr>
        <p:spPr>
          <a:xfrm rot="10800000">
            <a:off x="6483905" y="3048249"/>
            <a:ext cx="1499700" cy="0"/>
          </a:xfrm>
          <a:prstGeom prst="straightConnector1">
            <a:avLst/>
          </a:prstGeom>
          <a:noFill/>
          <a:ln w="28575" cap="flat" cmpd="sng">
            <a:solidFill>
              <a:srgbClr val="000000"/>
            </a:solidFill>
            <a:prstDash val="solid"/>
            <a:round/>
            <a:headEnd type="triangle" w="med" len="med"/>
            <a:tailEnd type="none" w="med" len="med"/>
          </a:ln>
        </p:spPr>
      </p:cxnSp>
      <p:sp>
        <p:nvSpPr>
          <p:cNvPr id="127" name="Google Shape;127;p22"/>
          <p:cNvSpPr/>
          <p:nvPr/>
        </p:nvSpPr>
        <p:spPr>
          <a:xfrm>
            <a:off x="5668850" y="2640699"/>
            <a:ext cx="815100" cy="8151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a:t>Jane</a:t>
            </a:r>
            <a:endParaRPr sz="1800" b="1"/>
          </a:p>
        </p:txBody>
      </p:sp>
      <p:sp>
        <p:nvSpPr>
          <p:cNvPr id="126" name="Google Shape;126;p22"/>
          <p:cNvSpPr/>
          <p:nvPr/>
        </p:nvSpPr>
        <p:spPr>
          <a:xfrm>
            <a:off x="7983605" y="2640699"/>
            <a:ext cx="815100" cy="815100"/>
          </a:xfrm>
          <a:prstGeom prst="ellipse">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t>car</a:t>
            </a:r>
            <a:endParaRPr sz="1800" b="1"/>
          </a:p>
        </p:txBody>
      </p:sp>
      <p:sp>
        <p:nvSpPr>
          <p:cNvPr id="128" name="Google Shape;128;p22"/>
          <p:cNvSpPr/>
          <p:nvPr/>
        </p:nvSpPr>
        <p:spPr>
          <a:xfrm>
            <a:off x="6750027" y="2911000"/>
            <a:ext cx="815100" cy="274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t>OWNS</a:t>
            </a:r>
            <a:endParaRPr sz="1800" b="1"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5" name="Google Shape;135;p23"/>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Property graph database</a:t>
            </a:r>
            <a:endParaRPr>
              <a:solidFill>
                <a:srgbClr val="666666"/>
              </a:solidFill>
            </a:endParaRPr>
          </a:p>
        </p:txBody>
      </p:sp>
      <p:sp>
        <p:nvSpPr>
          <p:cNvPr id="134" name="Google Shape;134;p23"/>
          <p:cNvSpPr txBox="1">
            <a:spLocks noGrp="1"/>
          </p:cNvSpPr>
          <p:nvPr>
            <p:ph type="sldNum" idx="12"/>
          </p:nvPr>
        </p:nvSpPr>
        <p:spPr>
          <a:prstGeom prst="rect">
            <a:avLst/>
          </a:prstGeom>
        </p:spPr>
        <p:txBody>
          <a:bodyPr spcFirstLastPara="1" wrap="square" lIns="91425" tIns="91425" rIns="91425" bIns="91425" anchor="ctr" anchorCtr="0">
            <a:normAutofit fontScale="70000" lnSpcReduction="20000"/>
          </a:bodyPr>
          <a:lstStyle/>
          <a:p>
            <a:pPr marL="0" lvl="0" indent="0" algn="r" rtl="0">
              <a:spcBef>
                <a:spcPts val="0"/>
              </a:spcBef>
              <a:spcAft>
                <a:spcPts val="0"/>
              </a:spcAft>
              <a:buNone/>
            </a:pPr>
            <a:fld id="{00000000-1234-1234-1234-123412341234}" type="slidenum">
              <a:rPr lang="en">
                <a:solidFill>
                  <a:schemeClr val="dk1"/>
                </a:solidFill>
                <a:latin typeface="Economica"/>
                <a:ea typeface="Economica"/>
                <a:cs typeface="Economica"/>
                <a:sym typeface="Economica"/>
              </a:rPr>
              <a:t>6</a:t>
            </a:fld>
            <a:endParaRPr>
              <a:solidFill>
                <a:schemeClr val="dk1"/>
              </a:solidFill>
              <a:latin typeface="Economica"/>
              <a:ea typeface="Economica"/>
              <a:cs typeface="Economica"/>
              <a:sym typeface="Economica"/>
            </a:endParaRPr>
          </a:p>
        </p:txBody>
      </p:sp>
      <p:sp>
        <p:nvSpPr>
          <p:cNvPr id="136" name="Google Shape;136;p23"/>
          <p:cNvSpPr txBox="1"/>
          <p:nvPr/>
        </p:nvSpPr>
        <p:spPr>
          <a:xfrm>
            <a:off x="602625" y="1228900"/>
            <a:ext cx="5029200" cy="912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Node </a:t>
            </a:r>
            <a:r>
              <a:rPr lang="en" sz="2000" dirty="0">
                <a:solidFill>
                  <a:srgbClr val="53585F"/>
                </a:solidFill>
                <a:latin typeface="Open Sans"/>
                <a:ea typeface="Open Sans"/>
                <a:cs typeface="Open Sans"/>
                <a:sym typeface="Open Sans"/>
              </a:rPr>
              <a:t>(Vertex)</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Relationship </a:t>
            </a:r>
            <a:r>
              <a:rPr lang="en" sz="2000" dirty="0">
                <a:solidFill>
                  <a:srgbClr val="53585F"/>
                </a:solidFill>
                <a:latin typeface="Open Sans"/>
                <a:ea typeface="Open Sans"/>
                <a:cs typeface="Open Sans"/>
                <a:sym typeface="Open Sans"/>
              </a:rPr>
              <a:t>(Edge)</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p:txBody>
      </p:sp>
      <p:cxnSp>
        <p:nvCxnSpPr>
          <p:cNvPr id="137" name="Google Shape;137;p23"/>
          <p:cNvCxnSpPr>
            <a:stCxn id="138" idx="2"/>
            <a:endCxn id="139" idx="6"/>
          </p:cNvCxnSpPr>
          <p:nvPr/>
        </p:nvCxnSpPr>
        <p:spPr>
          <a:xfrm rot="10800000">
            <a:off x="6483905" y="3048249"/>
            <a:ext cx="1499700" cy="0"/>
          </a:xfrm>
          <a:prstGeom prst="straightConnector1">
            <a:avLst/>
          </a:prstGeom>
          <a:noFill/>
          <a:ln w="28575" cap="flat" cmpd="sng">
            <a:solidFill>
              <a:srgbClr val="000000"/>
            </a:solidFill>
            <a:prstDash val="solid"/>
            <a:round/>
            <a:headEnd type="triangle" w="med" len="med"/>
            <a:tailEnd type="none" w="med" len="med"/>
          </a:ln>
        </p:spPr>
      </p:cxnSp>
      <p:sp>
        <p:nvSpPr>
          <p:cNvPr id="139" name="Google Shape;139;p23"/>
          <p:cNvSpPr/>
          <p:nvPr/>
        </p:nvSpPr>
        <p:spPr>
          <a:xfrm>
            <a:off x="5668850" y="2640699"/>
            <a:ext cx="815100" cy="8151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sz="1200" b="1">
              <a:solidFill>
                <a:srgbClr val="FFFFFF"/>
              </a:solidFill>
            </a:endParaRPr>
          </a:p>
        </p:txBody>
      </p:sp>
      <p:sp>
        <p:nvSpPr>
          <p:cNvPr id="138" name="Google Shape;138;p23"/>
          <p:cNvSpPr/>
          <p:nvPr/>
        </p:nvSpPr>
        <p:spPr>
          <a:xfrm>
            <a:off x="7983605" y="2640699"/>
            <a:ext cx="815100" cy="815100"/>
          </a:xfrm>
          <a:prstGeom prst="ellipse">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200" b="1">
              <a:solidFill>
                <a:srgbClr val="FFFFFF"/>
              </a:solidFill>
            </a:endParaRPr>
          </a:p>
        </p:txBody>
      </p:sp>
      <p:sp>
        <p:nvSpPr>
          <p:cNvPr id="140" name="Google Shape;140;p23"/>
          <p:cNvSpPr/>
          <p:nvPr/>
        </p:nvSpPr>
        <p:spPr>
          <a:xfrm>
            <a:off x="6750027" y="2911000"/>
            <a:ext cx="815100" cy="274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a:t>OWNS</a:t>
            </a:r>
            <a:endParaRPr sz="1800" b="1"/>
          </a:p>
        </p:txBody>
      </p:sp>
      <p:sp>
        <p:nvSpPr>
          <p:cNvPr id="141" name="Google Shape;141;p23"/>
          <p:cNvSpPr txBox="1"/>
          <p:nvPr/>
        </p:nvSpPr>
        <p:spPr>
          <a:xfrm>
            <a:off x="5516450" y="3455800"/>
            <a:ext cx="2151600" cy="25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i="1">
              <a:latin typeface="Open Sans"/>
              <a:ea typeface="Open Sans"/>
              <a:cs typeface="Open Sans"/>
              <a:sym typeface="Open Sans"/>
            </a:endParaRPr>
          </a:p>
        </p:txBody>
      </p:sp>
      <p:sp>
        <p:nvSpPr>
          <p:cNvPr id="142" name="Google Shape;142;p23"/>
          <p:cNvSpPr txBox="1"/>
          <p:nvPr/>
        </p:nvSpPr>
        <p:spPr>
          <a:xfrm>
            <a:off x="8144431" y="2708853"/>
            <a:ext cx="792000" cy="36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200" b="1">
              <a:solidFill>
                <a:srgbClr val="FFFFFF"/>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9" name="Google Shape;149;p24"/>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Property graph database</a:t>
            </a:r>
            <a:endParaRPr>
              <a:solidFill>
                <a:srgbClr val="666666"/>
              </a:solidFill>
            </a:endParaRPr>
          </a:p>
        </p:txBody>
      </p:sp>
      <p:sp>
        <p:nvSpPr>
          <p:cNvPr id="148" name="Google Shape;148;p24"/>
          <p:cNvSpPr txBox="1">
            <a:spLocks noGrp="1"/>
          </p:cNvSpPr>
          <p:nvPr>
            <p:ph type="sldNum" idx="12"/>
          </p:nvPr>
        </p:nvSpPr>
        <p:spPr>
          <a:prstGeom prst="rect">
            <a:avLst/>
          </a:prstGeom>
        </p:spPr>
        <p:txBody>
          <a:bodyPr spcFirstLastPara="1" wrap="square" lIns="91425" tIns="91425" rIns="91425" bIns="91425" anchor="ctr" anchorCtr="0">
            <a:normAutofit fontScale="70000" lnSpcReduction="20000"/>
          </a:bodyPr>
          <a:lstStyle/>
          <a:p>
            <a:pPr marL="0" lvl="0" indent="0" algn="r" rtl="0">
              <a:spcBef>
                <a:spcPts val="0"/>
              </a:spcBef>
              <a:spcAft>
                <a:spcPts val="0"/>
              </a:spcAft>
              <a:buNone/>
            </a:pPr>
            <a:fld id="{00000000-1234-1234-1234-123412341234}" type="slidenum">
              <a:rPr lang="en">
                <a:solidFill>
                  <a:schemeClr val="dk1"/>
                </a:solidFill>
                <a:latin typeface="Economica"/>
                <a:ea typeface="Economica"/>
                <a:cs typeface="Economica"/>
                <a:sym typeface="Economica"/>
              </a:rPr>
              <a:t>7</a:t>
            </a:fld>
            <a:endParaRPr>
              <a:solidFill>
                <a:schemeClr val="dk1"/>
              </a:solidFill>
              <a:latin typeface="Economica"/>
              <a:ea typeface="Economica"/>
              <a:cs typeface="Economica"/>
              <a:sym typeface="Economica"/>
            </a:endParaRPr>
          </a:p>
        </p:txBody>
      </p:sp>
      <p:sp>
        <p:nvSpPr>
          <p:cNvPr id="150" name="Google Shape;150;p24"/>
          <p:cNvSpPr txBox="1"/>
          <p:nvPr/>
        </p:nvSpPr>
        <p:spPr>
          <a:xfrm>
            <a:off x="602625" y="1228900"/>
            <a:ext cx="5029200" cy="912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Node </a:t>
            </a:r>
            <a:r>
              <a:rPr lang="en" sz="2000" dirty="0">
                <a:solidFill>
                  <a:srgbClr val="53585F"/>
                </a:solidFill>
                <a:latin typeface="Open Sans"/>
                <a:ea typeface="Open Sans"/>
                <a:cs typeface="Open Sans"/>
                <a:sym typeface="Open Sans"/>
              </a:rPr>
              <a:t>(Vertex)</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Relationship </a:t>
            </a:r>
            <a:r>
              <a:rPr lang="en" sz="2000" dirty="0">
                <a:solidFill>
                  <a:srgbClr val="53585F"/>
                </a:solidFill>
                <a:latin typeface="Open Sans"/>
                <a:ea typeface="Open Sans"/>
                <a:cs typeface="Open Sans"/>
                <a:sym typeface="Open Sans"/>
              </a:rPr>
              <a:t>(Edge)</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p:txBody>
      </p:sp>
      <p:cxnSp>
        <p:nvCxnSpPr>
          <p:cNvPr id="151" name="Google Shape;151;p24"/>
          <p:cNvCxnSpPr>
            <a:stCxn id="152" idx="2"/>
            <a:endCxn id="153" idx="6"/>
          </p:cNvCxnSpPr>
          <p:nvPr/>
        </p:nvCxnSpPr>
        <p:spPr>
          <a:xfrm rot="10800000">
            <a:off x="6483905" y="3048249"/>
            <a:ext cx="1499700" cy="0"/>
          </a:xfrm>
          <a:prstGeom prst="straightConnector1">
            <a:avLst/>
          </a:prstGeom>
          <a:noFill/>
          <a:ln w="28575" cap="flat" cmpd="sng">
            <a:solidFill>
              <a:srgbClr val="000000"/>
            </a:solidFill>
            <a:prstDash val="solid"/>
            <a:round/>
            <a:headEnd type="triangle" w="med" len="med"/>
            <a:tailEnd type="none" w="med" len="med"/>
          </a:ln>
        </p:spPr>
      </p:cxnSp>
      <p:sp>
        <p:nvSpPr>
          <p:cNvPr id="153" name="Google Shape;153;p24"/>
          <p:cNvSpPr/>
          <p:nvPr/>
        </p:nvSpPr>
        <p:spPr>
          <a:xfrm>
            <a:off x="5668850" y="2640699"/>
            <a:ext cx="815100" cy="8151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b="1"/>
              <a:t>:Person</a:t>
            </a:r>
            <a:endParaRPr sz="1200" b="1"/>
          </a:p>
        </p:txBody>
      </p:sp>
      <p:sp>
        <p:nvSpPr>
          <p:cNvPr id="152" name="Google Shape;152;p24"/>
          <p:cNvSpPr/>
          <p:nvPr/>
        </p:nvSpPr>
        <p:spPr>
          <a:xfrm>
            <a:off x="7983605" y="2640699"/>
            <a:ext cx="815100" cy="815100"/>
          </a:xfrm>
          <a:prstGeom prst="ellipse">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t>:Car</a:t>
            </a:r>
            <a:endParaRPr sz="1200" b="1"/>
          </a:p>
        </p:txBody>
      </p:sp>
      <p:sp>
        <p:nvSpPr>
          <p:cNvPr id="154" name="Google Shape;154;p24"/>
          <p:cNvSpPr/>
          <p:nvPr/>
        </p:nvSpPr>
        <p:spPr>
          <a:xfrm>
            <a:off x="6750027" y="2911000"/>
            <a:ext cx="815100" cy="274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a:t>OWNS</a:t>
            </a:r>
            <a:endParaRPr sz="1800" b="1"/>
          </a:p>
        </p:txBody>
      </p:sp>
      <p:sp>
        <p:nvSpPr>
          <p:cNvPr id="155" name="Google Shape;155;p24"/>
          <p:cNvSpPr txBox="1"/>
          <p:nvPr/>
        </p:nvSpPr>
        <p:spPr>
          <a:xfrm>
            <a:off x="611600" y="2063375"/>
            <a:ext cx="5123700" cy="912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Label</a:t>
            </a:r>
            <a:endParaRPr sz="2000" b="1" dirty="0">
              <a:solidFill>
                <a:srgbClr val="53585F"/>
              </a:solidFill>
              <a:latin typeface="Open Sans"/>
              <a:ea typeface="Open Sans"/>
              <a:cs typeface="Open Sans"/>
              <a:sym typeface="Open Sans"/>
            </a:endParaRPr>
          </a:p>
          <a:p>
            <a:pPr marL="457200" marR="0" lvl="0" indent="-381000" algn="l" rtl="0">
              <a:lnSpc>
                <a:spcPct val="115000"/>
              </a:lnSpc>
              <a:spcBef>
                <a:spcPts val="0"/>
              </a:spcBef>
              <a:spcAft>
                <a:spcPts val="0"/>
              </a:spcAft>
              <a:buClr>
                <a:srgbClr val="53585F"/>
              </a:buClr>
              <a:buSzPts val="2400"/>
              <a:buFont typeface="Open Sans"/>
              <a:buChar char="●"/>
            </a:pPr>
            <a:r>
              <a:rPr lang="en" sz="2000" dirty="0">
                <a:solidFill>
                  <a:srgbClr val="53585F"/>
                </a:solidFill>
                <a:latin typeface="Open Sans"/>
                <a:ea typeface="Open Sans"/>
                <a:cs typeface="Open Sans"/>
                <a:sym typeface="Open Sans"/>
              </a:rPr>
              <a:t>Define node category (optional)</a:t>
            </a:r>
            <a:endParaRPr sz="2000" dirty="0">
              <a:solidFill>
                <a:srgbClr val="53585F"/>
              </a:solidFill>
              <a:latin typeface="Open Sans"/>
              <a:ea typeface="Open Sans"/>
              <a:cs typeface="Open Sans"/>
              <a:sym typeface="Open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2" name="Google Shape;162;p25"/>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Property graph database</a:t>
            </a:r>
            <a:endParaRPr>
              <a:solidFill>
                <a:srgbClr val="666666"/>
              </a:solidFill>
            </a:endParaRPr>
          </a:p>
        </p:txBody>
      </p:sp>
      <p:sp>
        <p:nvSpPr>
          <p:cNvPr id="161" name="Google Shape;161;p25"/>
          <p:cNvSpPr txBox="1">
            <a:spLocks noGrp="1"/>
          </p:cNvSpPr>
          <p:nvPr>
            <p:ph type="sldNum" idx="12"/>
          </p:nvPr>
        </p:nvSpPr>
        <p:spPr>
          <a:prstGeom prst="rect">
            <a:avLst/>
          </a:prstGeom>
        </p:spPr>
        <p:txBody>
          <a:bodyPr spcFirstLastPara="1" wrap="square" lIns="91425" tIns="91425" rIns="91425" bIns="91425" anchor="ctr" anchorCtr="0">
            <a:normAutofit fontScale="70000" lnSpcReduction="20000"/>
          </a:bodyPr>
          <a:lstStyle/>
          <a:p>
            <a:pPr marL="0" lvl="0" indent="0" algn="r" rtl="0">
              <a:spcBef>
                <a:spcPts val="0"/>
              </a:spcBef>
              <a:spcAft>
                <a:spcPts val="0"/>
              </a:spcAft>
              <a:buNone/>
            </a:pPr>
            <a:fld id="{00000000-1234-1234-1234-123412341234}" type="slidenum">
              <a:rPr lang="en">
                <a:solidFill>
                  <a:schemeClr val="dk1"/>
                </a:solidFill>
                <a:latin typeface="Economica"/>
                <a:ea typeface="Economica"/>
                <a:cs typeface="Economica"/>
                <a:sym typeface="Economica"/>
              </a:rPr>
              <a:t>8</a:t>
            </a:fld>
            <a:endParaRPr>
              <a:solidFill>
                <a:schemeClr val="dk1"/>
              </a:solidFill>
              <a:latin typeface="Economica"/>
              <a:ea typeface="Economica"/>
              <a:cs typeface="Economica"/>
              <a:sym typeface="Economica"/>
            </a:endParaRPr>
          </a:p>
        </p:txBody>
      </p:sp>
      <p:sp>
        <p:nvSpPr>
          <p:cNvPr id="163" name="Google Shape;163;p25"/>
          <p:cNvSpPr txBox="1"/>
          <p:nvPr/>
        </p:nvSpPr>
        <p:spPr>
          <a:xfrm>
            <a:off x="602625" y="1228900"/>
            <a:ext cx="5029200" cy="912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Node </a:t>
            </a:r>
            <a:r>
              <a:rPr lang="en" sz="2000" dirty="0">
                <a:solidFill>
                  <a:srgbClr val="53585F"/>
                </a:solidFill>
                <a:latin typeface="Open Sans"/>
                <a:ea typeface="Open Sans"/>
                <a:cs typeface="Open Sans"/>
                <a:sym typeface="Open Sans"/>
              </a:rPr>
              <a:t>(Vertex)</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Relationship </a:t>
            </a:r>
            <a:r>
              <a:rPr lang="en" sz="2000" dirty="0">
                <a:solidFill>
                  <a:srgbClr val="53585F"/>
                </a:solidFill>
                <a:latin typeface="Open Sans"/>
                <a:ea typeface="Open Sans"/>
                <a:cs typeface="Open Sans"/>
                <a:sym typeface="Open Sans"/>
              </a:rPr>
              <a:t>(Edge)</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p:txBody>
      </p:sp>
      <p:cxnSp>
        <p:nvCxnSpPr>
          <p:cNvPr id="164" name="Google Shape;164;p25"/>
          <p:cNvCxnSpPr>
            <a:stCxn id="165" idx="2"/>
            <a:endCxn id="166" idx="6"/>
          </p:cNvCxnSpPr>
          <p:nvPr/>
        </p:nvCxnSpPr>
        <p:spPr>
          <a:xfrm rot="10800000">
            <a:off x="6483905" y="3048249"/>
            <a:ext cx="1499700" cy="0"/>
          </a:xfrm>
          <a:prstGeom prst="straightConnector1">
            <a:avLst/>
          </a:prstGeom>
          <a:noFill/>
          <a:ln w="28575" cap="flat" cmpd="sng">
            <a:solidFill>
              <a:srgbClr val="000000"/>
            </a:solidFill>
            <a:prstDash val="solid"/>
            <a:round/>
            <a:headEnd type="triangle" w="med" len="med"/>
            <a:tailEnd type="none" w="med" len="med"/>
          </a:ln>
        </p:spPr>
      </p:cxnSp>
      <p:sp>
        <p:nvSpPr>
          <p:cNvPr id="166" name="Google Shape;166;p25"/>
          <p:cNvSpPr/>
          <p:nvPr/>
        </p:nvSpPr>
        <p:spPr>
          <a:xfrm>
            <a:off x="5668850" y="2640699"/>
            <a:ext cx="815100" cy="8151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b="1"/>
              <a:t>:Person</a:t>
            </a:r>
            <a:endParaRPr sz="1200" b="1"/>
          </a:p>
        </p:txBody>
      </p:sp>
      <p:sp>
        <p:nvSpPr>
          <p:cNvPr id="165" name="Google Shape;165;p25"/>
          <p:cNvSpPr/>
          <p:nvPr/>
        </p:nvSpPr>
        <p:spPr>
          <a:xfrm>
            <a:off x="7983605" y="2640699"/>
            <a:ext cx="815100" cy="815100"/>
          </a:xfrm>
          <a:prstGeom prst="ellipse">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t>:Car</a:t>
            </a:r>
            <a:endParaRPr sz="1200" b="1"/>
          </a:p>
        </p:txBody>
      </p:sp>
      <p:sp>
        <p:nvSpPr>
          <p:cNvPr id="167" name="Google Shape;167;p25"/>
          <p:cNvSpPr/>
          <p:nvPr/>
        </p:nvSpPr>
        <p:spPr>
          <a:xfrm>
            <a:off x="6750027" y="2911000"/>
            <a:ext cx="815100" cy="274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a:t>OWNS</a:t>
            </a:r>
            <a:endParaRPr sz="1800" b="1"/>
          </a:p>
        </p:txBody>
      </p:sp>
      <p:sp>
        <p:nvSpPr>
          <p:cNvPr id="168" name="Google Shape;168;p25"/>
          <p:cNvSpPr txBox="1"/>
          <p:nvPr/>
        </p:nvSpPr>
        <p:spPr>
          <a:xfrm>
            <a:off x="611600" y="2063375"/>
            <a:ext cx="5123700" cy="912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Label</a:t>
            </a:r>
            <a:endParaRPr sz="2000" b="1" dirty="0">
              <a:solidFill>
                <a:srgbClr val="53585F"/>
              </a:solidFill>
              <a:latin typeface="Open Sans"/>
              <a:ea typeface="Open Sans"/>
              <a:cs typeface="Open Sans"/>
              <a:sym typeface="Open Sans"/>
            </a:endParaRPr>
          </a:p>
          <a:p>
            <a:pPr marL="457200" marR="0" lvl="0" indent="-381000" algn="l" rtl="0">
              <a:lnSpc>
                <a:spcPct val="115000"/>
              </a:lnSpc>
              <a:spcBef>
                <a:spcPts val="0"/>
              </a:spcBef>
              <a:spcAft>
                <a:spcPts val="0"/>
              </a:spcAft>
              <a:buClr>
                <a:srgbClr val="53585F"/>
              </a:buClr>
              <a:buSzPts val="2400"/>
              <a:buFont typeface="Open Sans"/>
              <a:buChar char="●"/>
            </a:pPr>
            <a:r>
              <a:rPr lang="en" sz="2000" dirty="0">
                <a:solidFill>
                  <a:srgbClr val="53585F"/>
                </a:solidFill>
                <a:latin typeface="Open Sans"/>
                <a:ea typeface="Open Sans"/>
                <a:cs typeface="Open Sans"/>
                <a:sym typeface="Open Sans"/>
              </a:rPr>
              <a:t>Define node category (optional)</a:t>
            </a:r>
            <a:endParaRPr sz="2000" dirty="0">
              <a:solidFill>
                <a:srgbClr val="53585F"/>
              </a:solidFill>
              <a:latin typeface="Open Sans"/>
              <a:ea typeface="Open Sans"/>
              <a:cs typeface="Open Sans"/>
              <a:sym typeface="Open Sans"/>
            </a:endParaRPr>
          </a:p>
          <a:p>
            <a:pPr marL="457200" marR="0" lvl="0" indent="-381000" algn="l" rtl="0">
              <a:lnSpc>
                <a:spcPct val="115000"/>
              </a:lnSpc>
              <a:spcBef>
                <a:spcPts val="0"/>
              </a:spcBef>
              <a:spcAft>
                <a:spcPts val="0"/>
              </a:spcAft>
              <a:buClr>
                <a:srgbClr val="53585F"/>
              </a:buClr>
              <a:buSzPts val="2400"/>
              <a:buFont typeface="Open Sans"/>
              <a:buChar char="●"/>
            </a:pPr>
            <a:r>
              <a:rPr lang="en" sz="2000" dirty="0">
                <a:solidFill>
                  <a:srgbClr val="53585F"/>
                </a:solidFill>
                <a:latin typeface="Open Sans"/>
                <a:ea typeface="Open Sans"/>
                <a:cs typeface="Open Sans"/>
                <a:sym typeface="Open Sans"/>
              </a:rPr>
              <a:t>Can have more than one</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p:txBody>
      </p:sp>
      <p:sp>
        <p:nvSpPr>
          <p:cNvPr id="169" name="Google Shape;169;p25"/>
          <p:cNvSpPr txBox="1"/>
          <p:nvPr/>
        </p:nvSpPr>
        <p:spPr>
          <a:xfrm>
            <a:off x="8144431" y="2708853"/>
            <a:ext cx="792000" cy="36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1"/>
              <a:t>:Asset</a:t>
            </a:r>
            <a:endParaRPr sz="1200" b="1"/>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87" name="Google Shape;187;p26"/>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dirty="0"/>
              <a:t>Property graph database</a:t>
            </a:r>
            <a:endParaRPr dirty="0">
              <a:solidFill>
                <a:srgbClr val="666666"/>
              </a:solidFill>
            </a:endParaRPr>
          </a:p>
        </p:txBody>
      </p:sp>
      <p:sp>
        <p:nvSpPr>
          <p:cNvPr id="175" name="Google Shape;175;p26"/>
          <p:cNvSpPr txBox="1">
            <a:spLocks noGrp="1"/>
          </p:cNvSpPr>
          <p:nvPr>
            <p:ph type="sldNum" idx="12"/>
          </p:nvPr>
        </p:nvSpPr>
        <p:spPr>
          <a:prstGeom prst="rect">
            <a:avLst/>
          </a:prstGeom>
        </p:spPr>
        <p:txBody>
          <a:bodyPr spcFirstLastPara="1" wrap="square" lIns="91425" tIns="91425" rIns="91425" bIns="91425" anchor="ctr" anchorCtr="0">
            <a:normAutofit fontScale="70000" lnSpcReduction="20000"/>
          </a:bodyPr>
          <a:lstStyle/>
          <a:p>
            <a:pPr marL="0" lvl="0" indent="0" algn="r" rtl="0">
              <a:spcBef>
                <a:spcPts val="0"/>
              </a:spcBef>
              <a:spcAft>
                <a:spcPts val="0"/>
              </a:spcAft>
              <a:buNone/>
            </a:pPr>
            <a:fld id="{00000000-1234-1234-1234-123412341234}" type="slidenum">
              <a:rPr lang="en">
                <a:solidFill>
                  <a:schemeClr val="dk1"/>
                </a:solidFill>
                <a:latin typeface="Economica"/>
                <a:ea typeface="Economica"/>
                <a:cs typeface="Economica"/>
                <a:sym typeface="Economica"/>
              </a:rPr>
              <a:t>9</a:t>
            </a:fld>
            <a:endParaRPr>
              <a:solidFill>
                <a:schemeClr val="dk1"/>
              </a:solidFill>
              <a:latin typeface="Economica"/>
              <a:ea typeface="Economica"/>
              <a:cs typeface="Economica"/>
              <a:sym typeface="Economica"/>
            </a:endParaRPr>
          </a:p>
        </p:txBody>
      </p:sp>
      <p:sp>
        <p:nvSpPr>
          <p:cNvPr id="176" name="Google Shape;176;p26"/>
          <p:cNvSpPr txBox="1"/>
          <p:nvPr/>
        </p:nvSpPr>
        <p:spPr>
          <a:xfrm>
            <a:off x="602625" y="1228900"/>
            <a:ext cx="5029200" cy="912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Node </a:t>
            </a:r>
            <a:r>
              <a:rPr lang="en" sz="2000" dirty="0">
                <a:solidFill>
                  <a:srgbClr val="53585F"/>
                </a:solidFill>
                <a:latin typeface="Open Sans"/>
                <a:ea typeface="Open Sans"/>
                <a:cs typeface="Open Sans"/>
                <a:sym typeface="Open Sans"/>
              </a:rPr>
              <a:t>(Vertex)</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Relationship </a:t>
            </a:r>
            <a:r>
              <a:rPr lang="en" sz="2000" dirty="0">
                <a:solidFill>
                  <a:srgbClr val="53585F"/>
                </a:solidFill>
                <a:latin typeface="Open Sans"/>
                <a:ea typeface="Open Sans"/>
                <a:cs typeface="Open Sans"/>
                <a:sym typeface="Open Sans"/>
              </a:rPr>
              <a:t>(Edge)</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p:txBody>
      </p:sp>
      <p:cxnSp>
        <p:nvCxnSpPr>
          <p:cNvPr id="177" name="Google Shape;177;p26"/>
          <p:cNvCxnSpPr>
            <a:stCxn id="178" idx="2"/>
            <a:endCxn id="179" idx="6"/>
          </p:cNvCxnSpPr>
          <p:nvPr/>
        </p:nvCxnSpPr>
        <p:spPr>
          <a:xfrm rot="10800000">
            <a:off x="6483905" y="3048249"/>
            <a:ext cx="1499700" cy="0"/>
          </a:xfrm>
          <a:prstGeom prst="straightConnector1">
            <a:avLst/>
          </a:prstGeom>
          <a:noFill/>
          <a:ln w="28575" cap="flat" cmpd="sng">
            <a:solidFill>
              <a:srgbClr val="000000"/>
            </a:solidFill>
            <a:prstDash val="solid"/>
            <a:round/>
            <a:headEnd type="triangle" w="med" len="med"/>
            <a:tailEnd type="none" w="med" len="med"/>
          </a:ln>
        </p:spPr>
      </p:cxnSp>
      <p:sp>
        <p:nvSpPr>
          <p:cNvPr id="179" name="Google Shape;179;p26"/>
          <p:cNvSpPr/>
          <p:nvPr/>
        </p:nvSpPr>
        <p:spPr>
          <a:xfrm>
            <a:off x="5668850" y="2640699"/>
            <a:ext cx="815100" cy="8151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b="1"/>
              <a:t>:Person</a:t>
            </a:r>
            <a:endParaRPr sz="1200" b="1"/>
          </a:p>
        </p:txBody>
      </p:sp>
      <p:sp>
        <p:nvSpPr>
          <p:cNvPr id="178" name="Google Shape;178;p26"/>
          <p:cNvSpPr/>
          <p:nvPr/>
        </p:nvSpPr>
        <p:spPr>
          <a:xfrm>
            <a:off x="7983605" y="2640699"/>
            <a:ext cx="815100" cy="815100"/>
          </a:xfrm>
          <a:prstGeom prst="ellipse">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t>:Car</a:t>
            </a:r>
            <a:endParaRPr sz="1200" b="1"/>
          </a:p>
        </p:txBody>
      </p:sp>
      <p:sp>
        <p:nvSpPr>
          <p:cNvPr id="180" name="Google Shape;180;p26"/>
          <p:cNvSpPr/>
          <p:nvPr/>
        </p:nvSpPr>
        <p:spPr>
          <a:xfrm>
            <a:off x="6750027" y="2911000"/>
            <a:ext cx="815100" cy="274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a:t>OWNS</a:t>
            </a:r>
            <a:endParaRPr sz="1800" b="1"/>
          </a:p>
        </p:txBody>
      </p:sp>
      <p:sp>
        <p:nvSpPr>
          <p:cNvPr id="181" name="Google Shape;181;p26"/>
          <p:cNvSpPr txBox="1"/>
          <p:nvPr/>
        </p:nvSpPr>
        <p:spPr>
          <a:xfrm>
            <a:off x="611600" y="2063375"/>
            <a:ext cx="5133300" cy="912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Label</a:t>
            </a:r>
            <a:endParaRPr sz="2000" b="1" dirty="0">
              <a:solidFill>
                <a:srgbClr val="53585F"/>
              </a:solidFill>
              <a:latin typeface="Open Sans"/>
              <a:ea typeface="Open Sans"/>
              <a:cs typeface="Open Sans"/>
              <a:sym typeface="Open Sans"/>
            </a:endParaRPr>
          </a:p>
          <a:p>
            <a:pPr marL="457200" marR="0" lvl="0" indent="-381000" algn="l" rtl="0">
              <a:lnSpc>
                <a:spcPct val="115000"/>
              </a:lnSpc>
              <a:spcBef>
                <a:spcPts val="0"/>
              </a:spcBef>
              <a:spcAft>
                <a:spcPts val="0"/>
              </a:spcAft>
              <a:buClr>
                <a:srgbClr val="53585F"/>
              </a:buClr>
              <a:buSzPts val="2400"/>
              <a:buFont typeface="Open Sans"/>
              <a:buChar char="●"/>
            </a:pPr>
            <a:r>
              <a:rPr lang="en" sz="2000" dirty="0">
                <a:solidFill>
                  <a:srgbClr val="53585F"/>
                </a:solidFill>
                <a:latin typeface="Open Sans"/>
                <a:ea typeface="Open Sans"/>
                <a:cs typeface="Open Sans"/>
                <a:sym typeface="Open Sans"/>
              </a:rPr>
              <a:t>Define node category (optional)</a:t>
            </a:r>
            <a:endParaRPr sz="2000" dirty="0">
              <a:solidFill>
                <a:srgbClr val="53585F"/>
              </a:solidFill>
              <a:latin typeface="Open Sans"/>
              <a:ea typeface="Open Sans"/>
              <a:cs typeface="Open Sans"/>
              <a:sym typeface="Open Sans"/>
            </a:endParaRPr>
          </a:p>
          <a:p>
            <a:pPr marL="457200" marR="0" lvl="0" indent="-381000" algn="l" rtl="0">
              <a:lnSpc>
                <a:spcPct val="115000"/>
              </a:lnSpc>
              <a:spcBef>
                <a:spcPts val="0"/>
              </a:spcBef>
              <a:spcAft>
                <a:spcPts val="0"/>
              </a:spcAft>
              <a:buClr>
                <a:srgbClr val="53585F"/>
              </a:buClr>
              <a:buSzPts val="2400"/>
              <a:buFont typeface="Open Sans"/>
              <a:buChar char="●"/>
            </a:pPr>
            <a:r>
              <a:rPr lang="en" sz="2000" dirty="0">
                <a:solidFill>
                  <a:srgbClr val="53585F"/>
                </a:solidFill>
                <a:latin typeface="Open Sans"/>
                <a:ea typeface="Open Sans"/>
                <a:cs typeface="Open Sans"/>
                <a:sym typeface="Open Sans"/>
              </a:rPr>
              <a:t>Can have more than one</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p:txBody>
      </p:sp>
      <p:sp>
        <p:nvSpPr>
          <p:cNvPr id="182" name="Google Shape;182;p26"/>
          <p:cNvSpPr txBox="1"/>
          <p:nvPr/>
        </p:nvSpPr>
        <p:spPr>
          <a:xfrm>
            <a:off x="611590" y="3282565"/>
            <a:ext cx="5029200" cy="912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Properties</a:t>
            </a:r>
            <a:endParaRPr sz="2000" b="1" dirty="0">
              <a:solidFill>
                <a:srgbClr val="53585F"/>
              </a:solidFill>
              <a:latin typeface="Open Sans"/>
              <a:ea typeface="Open Sans"/>
              <a:cs typeface="Open Sans"/>
              <a:sym typeface="Open Sans"/>
            </a:endParaRPr>
          </a:p>
          <a:p>
            <a:pPr marL="457200" marR="0" lvl="0" indent="-381000" algn="l" rtl="0">
              <a:lnSpc>
                <a:spcPct val="115000"/>
              </a:lnSpc>
              <a:spcBef>
                <a:spcPts val="0"/>
              </a:spcBef>
              <a:spcAft>
                <a:spcPts val="0"/>
              </a:spcAft>
              <a:buClr>
                <a:srgbClr val="53585F"/>
              </a:buClr>
              <a:buSzPts val="2400"/>
              <a:buFont typeface="Open Sans"/>
              <a:buChar char="●"/>
            </a:pPr>
            <a:r>
              <a:rPr lang="en" sz="2000" dirty="0">
                <a:solidFill>
                  <a:srgbClr val="53585F"/>
                </a:solidFill>
                <a:latin typeface="Open Sans"/>
                <a:ea typeface="Open Sans"/>
                <a:cs typeface="Open Sans"/>
                <a:sym typeface="Open Sans"/>
              </a:rPr>
              <a:t>Enrich a node or relationship</a:t>
            </a:r>
            <a:endParaRPr sz="2000" dirty="0">
              <a:solidFill>
                <a:srgbClr val="53585F"/>
              </a:solidFill>
              <a:latin typeface="Open Sans"/>
              <a:ea typeface="Open Sans"/>
              <a:cs typeface="Open Sans"/>
              <a:sym typeface="Open Sans"/>
            </a:endParaRPr>
          </a:p>
          <a:p>
            <a:pPr marL="457200" marR="0" lvl="0" indent="-381000" algn="l" rtl="0">
              <a:lnSpc>
                <a:spcPct val="115000"/>
              </a:lnSpc>
              <a:spcBef>
                <a:spcPts val="0"/>
              </a:spcBef>
              <a:spcAft>
                <a:spcPts val="0"/>
              </a:spcAft>
              <a:buClr>
                <a:srgbClr val="53585F"/>
              </a:buClr>
              <a:buSzPts val="2400"/>
              <a:buFont typeface="Open Sans"/>
              <a:buChar char="●"/>
            </a:pPr>
            <a:r>
              <a:rPr lang="en" sz="2000" dirty="0">
                <a:solidFill>
                  <a:srgbClr val="53585F"/>
                </a:solidFill>
                <a:latin typeface="Open Sans"/>
                <a:ea typeface="Open Sans"/>
                <a:cs typeface="Open Sans"/>
                <a:sym typeface="Open Sans"/>
              </a:rPr>
              <a:t>No need for nulls!</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p:txBody>
      </p:sp>
      <p:sp>
        <p:nvSpPr>
          <p:cNvPr id="183" name="Google Shape;183;p26"/>
          <p:cNvSpPr txBox="1"/>
          <p:nvPr/>
        </p:nvSpPr>
        <p:spPr>
          <a:xfrm>
            <a:off x="5516450" y="3455800"/>
            <a:ext cx="2151600" cy="25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dirty="0">
                <a:latin typeface="Open Sans"/>
                <a:ea typeface="Open Sans"/>
                <a:cs typeface="Open Sans"/>
                <a:sym typeface="Open Sans"/>
              </a:rPr>
              <a:t>name: Jane</a:t>
            </a:r>
            <a:endParaRPr sz="1800" i="1" dirty="0">
              <a:latin typeface="Open Sans"/>
              <a:ea typeface="Open Sans"/>
              <a:cs typeface="Open Sans"/>
              <a:sym typeface="Open Sans"/>
            </a:endParaRPr>
          </a:p>
        </p:txBody>
      </p:sp>
      <p:sp>
        <p:nvSpPr>
          <p:cNvPr id="184" name="Google Shape;184;p26"/>
          <p:cNvSpPr txBox="1"/>
          <p:nvPr/>
        </p:nvSpPr>
        <p:spPr>
          <a:xfrm>
            <a:off x="7831200" y="3455800"/>
            <a:ext cx="1160400" cy="25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dirty="0">
                <a:latin typeface="Open Sans"/>
                <a:ea typeface="Open Sans"/>
                <a:cs typeface="Open Sans"/>
                <a:sym typeface="Open Sans"/>
              </a:rPr>
              <a:t>make: Volvo</a:t>
            </a:r>
            <a:endParaRPr sz="1800" i="1" dirty="0">
              <a:latin typeface="Open Sans"/>
              <a:ea typeface="Open Sans"/>
              <a:cs typeface="Open Sans"/>
              <a:sym typeface="Open Sans"/>
            </a:endParaRPr>
          </a:p>
          <a:p>
            <a:pPr marL="0" lvl="0" indent="0" algn="l" rtl="0">
              <a:spcBef>
                <a:spcPts val="0"/>
              </a:spcBef>
              <a:spcAft>
                <a:spcPts val="0"/>
              </a:spcAft>
              <a:buNone/>
            </a:pPr>
            <a:r>
              <a:rPr lang="en" sz="1800" i="1" dirty="0">
                <a:latin typeface="Open Sans"/>
                <a:ea typeface="Open Sans"/>
                <a:cs typeface="Open Sans"/>
                <a:sym typeface="Open Sans"/>
              </a:rPr>
              <a:t>model: V60</a:t>
            </a:r>
            <a:endParaRPr sz="1800" i="1" dirty="0">
              <a:latin typeface="Open Sans"/>
              <a:ea typeface="Open Sans"/>
              <a:cs typeface="Open Sans"/>
              <a:sym typeface="Open Sans"/>
            </a:endParaRPr>
          </a:p>
        </p:txBody>
      </p:sp>
      <p:sp>
        <p:nvSpPr>
          <p:cNvPr id="185" name="Google Shape;185;p26"/>
          <p:cNvSpPr txBox="1"/>
          <p:nvPr/>
        </p:nvSpPr>
        <p:spPr>
          <a:xfrm>
            <a:off x="6659450" y="3151000"/>
            <a:ext cx="2151600" cy="25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dirty="0">
                <a:latin typeface="Open Sans"/>
                <a:ea typeface="Open Sans"/>
                <a:cs typeface="Open Sans"/>
                <a:sym typeface="Open Sans"/>
              </a:rPr>
              <a:t>since: 2018</a:t>
            </a:r>
            <a:endParaRPr sz="1800" i="1" dirty="0">
              <a:latin typeface="Open Sans"/>
              <a:ea typeface="Open Sans"/>
              <a:cs typeface="Open Sans"/>
              <a:sym typeface="Open Sans"/>
            </a:endParaRPr>
          </a:p>
        </p:txBody>
      </p:sp>
      <p:sp>
        <p:nvSpPr>
          <p:cNvPr id="186" name="Google Shape;186;p26"/>
          <p:cNvSpPr txBox="1"/>
          <p:nvPr/>
        </p:nvSpPr>
        <p:spPr>
          <a:xfrm>
            <a:off x="8144431" y="2708853"/>
            <a:ext cx="792000" cy="36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1"/>
              <a:t>:Asset</a:t>
            </a:r>
            <a:endParaRPr sz="1200" b="1"/>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27"/>
          <p:cNvSpPr txBox="1">
            <a:spLocks noGrp="1"/>
          </p:cNvSpPr>
          <p:nvPr>
            <p:ph type="title"/>
          </p:nvPr>
        </p:nvSpPr>
        <p:spPr>
          <a:prstGeom prst="rect">
            <a:avLst/>
          </a:prstGeom>
          <a:noFill/>
          <a:ln>
            <a:noFill/>
          </a:ln>
        </p:spPr>
        <p:txBody>
          <a:bodyPr spcFirstLastPara="1" wrap="square" lIns="19050" tIns="19050" rIns="19050" bIns="19050" anchor="ctr" anchorCtr="0">
            <a:normAutofit/>
          </a:bodyPr>
          <a:lstStyle/>
          <a:p>
            <a:pPr marL="0" lvl="0" indent="0" algn="ctr" rtl="0">
              <a:lnSpc>
                <a:spcPct val="100000"/>
              </a:lnSpc>
              <a:spcBef>
                <a:spcPts val="0"/>
              </a:spcBef>
              <a:spcAft>
                <a:spcPts val="0"/>
              </a:spcAft>
              <a:buClr>
                <a:srgbClr val="FFFFFF"/>
              </a:buClr>
              <a:buSzPts val="4500"/>
              <a:buFont typeface="Open Sans ExtraBold"/>
              <a:buNone/>
            </a:pPr>
            <a:r>
              <a:rPr lang="en"/>
              <a:t>How do I query the graph?</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28"/>
          <p:cNvSpPr/>
          <p:nvPr/>
        </p:nvSpPr>
        <p:spPr>
          <a:xfrm>
            <a:off x="380275" y="1128450"/>
            <a:ext cx="8544600" cy="85740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None/>
            </a:pPr>
            <a:endParaRPr sz="2200">
              <a:latin typeface="Calibri"/>
              <a:ea typeface="Calibri"/>
              <a:cs typeface="Calibri"/>
              <a:sym typeface="Calibri"/>
            </a:endParaRPr>
          </a:p>
        </p:txBody>
      </p:sp>
      <p:sp>
        <p:nvSpPr>
          <p:cNvPr id="198" name="Google Shape;198;p28"/>
          <p:cNvSpPr/>
          <p:nvPr/>
        </p:nvSpPr>
        <p:spPr>
          <a:xfrm>
            <a:off x="7839818" y="4789223"/>
            <a:ext cx="212100" cy="140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FFFFFF"/>
              </a:buClr>
              <a:buFont typeface="Merriweather Sans"/>
              <a:buNone/>
            </a:pPr>
            <a:fld id="{00000000-1234-1234-1234-123412341234}" type="slidenum">
              <a:rPr lang="en" sz="1200" b="0" i="0" u="none" strike="noStrike" cap="none">
                <a:solidFill>
                  <a:srgbClr val="FFFFFF"/>
                </a:solidFill>
                <a:latin typeface="Merriweather Sans"/>
                <a:ea typeface="Merriweather Sans"/>
                <a:cs typeface="Merriweather Sans"/>
                <a:sym typeface="Merriweather Sans"/>
              </a:rPr>
              <a:t>11</a:t>
            </a:fld>
            <a:r>
              <a:rPr lang="en" sz="1200" b="0" i="0" u="none" strike="noStrike" cap="none">
                <a:solidFill>
                  <a:srgbClr val="FFFFFF"/>
                </a:solidFill>
                <a:latin typeface="Merriweather Sans"/>
                <a:ea typeface="Merriweather Sans"/>
                <a:cs typeface="Merriweather Sans"/>
                <a:sym typeface="Merriweather Sans"/>
              </a:rPr>
              <a:t>￼</a:t>
            </a:r>
            <a:endParaRPr sz="900"/>
          </a:p>
        </p:txBody>
      </p:sp>
      <p:sp>
        <p:nvSpPr>
          <p:cNvPr id="199" name="Google Shape;199;p28"/>
          <p:cNvSpPr txBox="1">
            <a:spLocks noGrp="1"/>
          </p:cNvSpPr>
          <p:nvPr>
            <p:ph type="title"/>
          </p:nvPr>
        </p:nvSpPr>
        <p:spPr>
          <a:xfrm>
            <a:off x="311700" y="183927"/>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dirty="0"/>
              <a:t>Cypher</a:t>
            </a:r>
            <a:endParaRPr dirty="0"/>
          </a:p>
        </p:txBody>
      </p:sp>
      <p:sp>
        <p:nvSpPr>
          <p:cNvPr id="200" name="Google Shape;200;p28"/>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15000"/>
              </a:lnSpc>
              <a:spcBef>
                <a:spcPts val="0"/>
              </a:spcBef>
              <a:spcAft>
                <a:spcPts val="0"/>
              </a:spcAft>
              <a:buClr>
                <a:schemeClr val="dk1"/>
              </a:buClr>
              <a:buSzPts val="1100"/>
              <a:buFont typeface="Arial"/>
              <a:buNone/>
            </a:pPr>
            <a:r>
              <a:rPr lang="en-GB" sz="2200" dirty="0">
                <a:solidFill>
                  <a:schemeClr val="tx2">
                    <a:lumMod val="50000"/>
                    <a:lumOff val="50000"/>
                  </a:schemeClr>
                </a:solidFill>
                <a:latin typeface="Calibri"/>
                <a:ea typeface="Calibri"/>
                <a:cs typeface="Calibri"/>
                <a:sym typeface="Calibri"/>
              </a:rPr>
              <a:t>Graph databases </a:t>
            </a:r>
            <a:r>
              <a:rPr lang="en-GB" sz="2200" dirty="0">
                <a:solidFill>
                  <a:srgbClr val="434343"/>
                </a:solidFill>
                <a:latin typeface="Calibri"/>
                <a:ea typeface="Calibri"/>
                <a:cs typeface="Calibri"/>
                <a:sym typeface="Calibri"/>
              </a:rPr>
              <a:t>have their own query language, </a:t>
            </a:r>
            <a:r>
              <a:rPr lang="en-GB" sz="2200" b="1" dirty="0">
                <a:solidFill>
                  <a:schemeClr val="tx2">
                    <a:lumMod val="50000"/>
                    <a:lumOff val="50000"/>
                  </a:schemeClr>
                </a:solidFill>
                <a:latin typeface="Calibri"/>
                <a:ea typeface="Calibri"/>
                <a:cs typeface="Calibri"/>
                <a:sym typeface="Calibri"/>
              </a:rPr>
              <a:t>GQL</a:t>
            </a:r>
            <a:r>
              <a:rPr lang="en-GB" sz="2200" dirty="0">
                <a:solidFill>
                  <a:srgbClr val="434343"/>
                </a:solidFill>
                <a:latin typeface="Calibri"/>
                <a:ea typeface="Calibri"/>
                <a:cs typeface="Calibri"/>
                <a:sym typeface="Calibri"/>
              </a:rPr>
              <a:t>, an ISO standard for graph databases.</a:t>
            </a:r>
          </a:p>
          <a:p>
            <a:pPr marL="0" lvl="0" indent="0" algn="l" rtl="0">
              <a:lnSpc>
                <a:spcPct val="115000"/>
              </a:lnSpc>
              <a:spcBef>
                <a:spcPts val="0"/>
              </a:spcBef>
              <a:spcAft>
                <a:spcPts val="0"/>
              </a:spcAft>
              <a:buClr>
                <a:schemeClr val="dk1"/>
              </a:buClr>
              <a:buSzPts val="1100"/>
              <a:buFont typeface="Arial"/>
              <a:buNone/>
            </a:pPr>
            <a:endParaRPr lang="en-GB" sz="2200" dirty="0">
              <a:solidFill>
                <a:srgbClr val="434343"/>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GB" sz="2200" dirty="0">
                <a:solidFill>
                  <a:srgbClr val="FFC000"/>
                </a:solidFill>
                <a:latin typeface="Calibri"/>
                <a:ea typeface="Calibri"/>
                <a:cs typeface="Calibri"/>
                <a:sym typeface="Calibri"/>
              </a:rPr>
              <a:t>Cypher</a:t>
            </a:r>
            <a:r>
              <a:rPr lang="en-GB" sz="2200" dirty="0">
                <a:solidFill>
                  <a:srgbClr val="434343"/>
                </a:solidFill>
                <a:latin typeface="Calibri"/>
                <a:ea typeface="Calibri"/>
                <a:cs typeface="Calibri"/>
                <a:sym typeface="Calibri"/>
              </a:rPr>
              <a:t> is </a:t>
            </a:r>
            <a:r>
              <a:rPr lang="en-GB" sz="2200" dirty="0">
                <a:solidFill>
                  <a:schemeClr val="accent2"/>
                </a:solidFill>
                <a:latin typeface="Calibri"/>
                <a:ea typeface="Calibri"/>
                <a:cs typeface="Calibri"/>
                <a:sym typeface="Calibri"/>
              </a:rPr>
              <a:t>Neo4j</a:t>
            </a:r>
            <a:r>
              <a:rPr lang="en-GB" sz="2200" dirty="0">
                <a:solidFill>
                  <a:srgbClr val="434343"/>
                </a:solidFill>
                <a:latin typeface="Calibri"/>
                <a:ea typeface="Calibri"/>
                <a:cs typeface="Calibri"/>
                <a:sym typeface="Calibri"/>
              </a:rPr>
              <a:t>’s implementation of </a:t>
            </a:r>
            <a:r>
              <a:rPr lang="en-GB" sz="2200" dirty="0">
                <a:solidFill>
                  <a:schemeClr val="accent6">
                    <a:lumMod val="60000"/>
                    <a:lumOff val="40000"/>
                  </a:schemeClr>
                </a:solidFill>
                <a:latin typeface="Calibri"/>
                <a:ea typeface="Calibri"/>
                <a:cs typeface="Calibri"/>
                <a:sym typeface="Calibri"/>
              </a:rPr>
              <a:t>GQL</a:t>
            </a:r>
            <a:r>
              <a:rPr lang="en-GB" sz="2200" dirty="0">
                <a:solidFill>
                  <a:srgbClr val="434343"/>
                </a:solidFill>
                <a:latin typeface="Calibri"/>
                <a:ea typeface="Calibri"/>
                <a:cs typeface="Calibri"/>
                <a:sym typeface="Calibri"/>
              </a:rPr>
              <a:t>. Cypher is a declarative language, meaning the database is responsible for finding the most optimal way of executing that query.</a:t>
            </a:r>
            <a:endParaRPr sz="2200" dirty="0">
              <a:solidFill>
                <a:srgbClr val="000000"/>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30"/>
          <p:cNvSpPr/>
          <p:nvPr/>
        </p:nvSpPr>
        <p:spPr>
          <a:xfrm>
            <a:off x="380275" y="1128450"/>
            <a:ext cx="8544600" cy="85740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None/>
            </a:pPr>
            <a:endParaRPr sz="2200">
              <a:latin typeface="Calibri"/>
              <a:ea typeface="Calibri"/>
              <a:cs typeface="Calibri"/>
              <a:sym typeface="Calibri"/>
            </a:endParaRPr>
          </a:p>
        </p:txBody>
      </p:sp>
      <p:sp>
        <p:nvSpPr>
          <p:cNvPr id="214" name="Google Shape;214;p30"/>
          <p:cNvSpPr/>
          <p:nvPr/>
        </p:nvSpPr>
        <p:spPr>
          <a:xfrm>
            <a:off x="7839818" y="4789223"/>
            <a:ext cx="212100" cy="140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FFFFFF"/>
              </a:buClr>
              <a:buFont typeface="Merriweather Sans"/>
              <a:buNone/>
            </a:pPr>
            <a:fld id="{00000000-1234-1234-1234-123412341234}" type="slidenum">
              <a:rPr lang="en" sz="1200" b="0" i="0" u="none" strike="noStrike" cap="none">
                <a:solidFill>
                  <a:srgbClr val="FFFFFF"/>
                </a:solidFill>
                <a:latin typeface="Merriweather Sans"/>
                <a:ea typeface="Merriweather Sans"/>
                <a:cs typeface="Merriweather Sans"/>
                <a:sym typeface="Merriweather Sans"/>
              </a:rPr>
              <a:t>12</a:t>
            </a:fld>
            <a:r>
              <a:rPr lang="en" sz="1200" b="0" i="0" u="none" strike="noStrike" cap="none">
                <a:solidFill>
                  <a:srgbClr val="FFFFFF"/>
                </a:solidFill>
                <a:latin typeface="Merriweather Sans"/>
                <a:ea typeface="Merriweather Sans"/>
                <a:cs typeface="Merriweather Sans"/>
                <a:sym typeface="Merriweather Sans"/>
              </a:rPr>
              <a:t>￼</a:t>
            </a:r>
            <a:endParaRPr sz="900"/>
          </a:p>
        </p:txBody>
      </p:sp>
      <p:sp>
        <p:nvSpPr>
          <p:cNvPr id="215" name="Google Shape;215;p30"/>
          <p:cNvSpPr txBox="1">
            <a:spLocks noGrp="1"/>
          </p:cNvSpPr>
          <p:nvPr>
            <p:ph type="title"/>
          </p:nvPr>
        </p:nvSpPr>
        <p:spPr>
          <a:xfrm>
            <a:off x="311700" y="183927"/>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dirty="0"/>
              <a:t>Cypher</a:t>
            </a:r>
            <a:endParaRPr dirty="0"/>
          </a:p>
        </p:txBody>
      </p:sp>
      <p:sp>
        <p:nvSpPr>
          <p:cNvPr id="216" name="Google Shape;216;p30"/>
          <p:cNvSpPr txBox="1">
            <a:spLocks noGrp="1"/>
          </p:cNvSpPr>
          <p:nvPr>
            <p:ph type="body" idx="1"/>
          </p:nvPr>
        </p:nvSpPr>
        <p:spPr>
          <a:prstGeom prst="rect">
            <a:avLst/>
          </a:prstGeom>
        </p:spPr>
        <p:txBody>
          <a:bodyPr spcFirstLastPara="1" wrap="square" lIns="91425" tIns="91425" rIns="91425" bIns="91425" anchor="t" anchorCtr="0">
            <a:normAutofit fontScale="92500" lnSpcReduction="10000"/>
          </a:bodyPr>
          <a:lstStyle/>
          <a:p>
            <a:pPr marL="0" lvl="0" indent="0" algn="l" rtl="0">
              <a:lnSpc>
                <a:spcPct val="115000"/>
              </a:lnSpc>
              <a:spcBef>
                <a:spcPts val="0"/>
              </a:spcBef>
              <a:spcAft>
                <a:spcPts val="0"/>
              </a:spcAft>
              <a:buClr>
                <a:schemeClr val="dk1"/>
              </a:buClr>
              <a:buSzPts val="1100"/>
              <a:buFont typeface="Arial"/>
              <a:buNone/>
            </a:pPr>
            <a:r>
              <a:rPr lang="en-GB" sz="2200" dirty="0">
                <a:solidFill>
                  <a:schemeClr val="tx1"/>
                </a:solidFill>
                <a:latin typeface="Calibri"/>
                <a:ea typeface="Calibri"/>
                <a:cs typeface="Calibri"/>
                <a:sym typeface="Calibri"/>
              </a:rPr>
              <a:t>Cypher is a </a:t>
            </a:r>
            <a:r>
              <a:rPr lang="en-GB" sz="2200" dirty="0">
                <a:solidFill>
                  <a:srgbClr val="FF0000"/>
                </a:solidFill>
                <a:latin typeface="Calibri"/>
                <a:ea typeface="Calibri"/>
                <a:cs typeface="Calibri"/>
                <a:sym typeface="Calibri"/>
              </a:rPr>
              <a:t>declarative</a:t>
            </a:r>
            <a:r>
              <a:rPr lang="en-GB" sz="2200" dirty="0">
                <a:solidFill>
                  <a:schemeClr val="tx1"/>
                </a:solidFill>
                <a:latin typeface="Calibri"/>
                <a:ea typeface="Calibri"/>
                <a:cs typeface="Calibri"/>
                <a:sym typeface="Calibri"/>
              </a:rPr>
              <a:t> query language that allows you to </a:t>
            </a:r>
            <a:r>
              <a:rPr lang="en-GB" sz="2200" dirty="0">
                <a:solidFill>
                  <a:srgbClr val="FF0000"/>
                </a:solidFill>
                <a:latin typeface="Calibri"/>
                <a:ea typeface="Calibri"/>
                <a:cs typeface="Calibri"/>
                <a:sym typeface="Calibri"/>
              </a:rPr>
              <a:t>identify patterns </a:t>
            </a:r>
            <a:r>
              <a:rPr lang="en-GB" sz="2200" dirty="0">
                <a:solidFill>
                  <a:schemeClr val="tx1"/>
                </a:solidFill>
                <a:latin typeface="Calibri"/>
                <a:ea typeface="Calibri"/>
                <a:cs typeface="Calibri"/>
                <a:sym typeface="Calibri"/>
              </a:rPr>
              <a:t>in your data using an ASCII-art style syntax consisting of </a:t>
            </a:r>
            <a:r>
              <a:rPr lang="en-GB" sz="2200" dirty="0">
                <a:solidFill>
                  <a:schemeClr val="accent6"/>
                </a:solidFill>
                <a:latin typeface="Calibri"/>
                <a:ea typeface="Calibri"/>
                <a:cs typeface="Calibri"/>
                <a:sym typeface="Calibri"/>
              </a:rPr>
              <a:t>brackets</a:t>
            </a:r>
            <a:r>
              <a:rPr lang="en-GB" sz="2200" dirty="0">
                <a:solidFill>
                  <a:schemeClr val="tx1"/>
                </a:solidFill>
                <a:latin typeface="Calibri"/>
                <a:ea typeface="Calibri"/>
                <a:cs typeface="Calibri"/>
                <a:sym typeface="Calibri"/>
              </a:rPr>
              <a:t>, </a:t>
            </a:r>
            <a:r>
              <a:rPr lang="en-GB" sz="2200" dirty="0">
                <a:solidFill>
                  <a:srgbClr val="7030A0"/>
                </a:solidFill>
                <a:latin typeface="Calibri"/>
                <a:ea typeface="Calibri"/>
                <a:cs typeface="Calibri"/>
                <a:sym typeface="Calibri"/>
              </a:rPr>
              <a:t>dashes</a:t>
            </a:r>
            <a:r>
              <a:rPr lang="en-GB" sz="2200" dirty="0">
                <a:solidFill>
                  <a:schemeClr val="tx1"/>
                </a:solidFill>
                <a:latin typeface="Calibri"/>
                <a:ea typeface="Calibri"/>
                <a:cs typeface="Calibri"/>
                <a:sym typeface="Calibri"/>
              </a:rPr>
              <a:t> and </a:t>
            </a:r>
            <a:r>
              <a:rPr lang="en-GB" sz="2200" dirty="0">
                <a:solidFill>
                  <a:schemeClr val="accent1">
                    <a:lumMod val="60000"/>
                    <a:lumOff val="40000"/>
                  </a:schemeClr>
                </a:solidFill>
                <a:latin typeface="Calibri"/>
                <a:ea typeface="Calibri"/>
                <a:cs typeface="Calibri"/>
                <a:sym typeface="Calibri"/>
              </a:rPr>
              <a:t>arrows</a:t>
            </a:r>
            <a:br>
              <a:rPr lang="en" sz="2200" dirty="0">
                <a:solidFill>
                  <a:schemeClr val="tx1"/>
                </a:solidFill>
                <a:latin typeface="Calibri"/>
                <a:ea typeface="Calibri"/>
                <a:cs typeface="Calibri"/>
                <a:sym typeface="Calibri"/>
              </a:rPr>
            </a:br>
            <a:endParaRPr sz="2200" dirty="0">
              <a:solidFill>
                <a:schemeClr val="tx1"/>
              </a:solidFill>
              <a:highlight>
                <a:schemeClr val="lt1"/>
              </a:highlight>
              <a:latin typeface="Calibri"/>
              <a:ea typeface="Calibri"/>
              <a:cs typeface="Calibri"/>
              <a:sym typeface="Calibri"/>
            </a:endParaRPr>
          </a:p>
          <a:p>
            <a:pPr marL="431800">
              <a:lnSpc>
                <a:spcPct val="150000"/>
              </a:lnSpc>
              <a:buClr>
                <a:srgbClr val="D9D9D9"/>
              </a:buClr>
              <a:buSzPts val="2200"/>
            </a:pPr>
            <a:r>
              <a:rPr lang="en" sz="2200" dirty="0">
                <a:solidFill>
                  <a:schemeClr val="tx1"/>
                </a:solidFill>
                <a:highlight>
                  <a:schemeClr val="lt1"/>
                </a:highlight>
                <a:latin typeface="Calibri"/>
                <a:ea typeface="Calibri"/>
                <a:cs typeface="Calibri"/>
                <a:sym typeface="Calibri"/>
              </a:rPr>
              <a:t>Declarative</a:t>
            </a:r>
            <a:endParaRPr sz="2200" dirty="0">
              <a:solidFill>
                <a:schemeClr val="tx1"/>
              </a:solidFill>
              <a:highlight>
                <a:schemeClr val="lt1"/>
              </a:highlight>
              <a:latin typeface="Calibri"/>
              <a:ea typeface="Calibri"/>
              <a:cs typeface="Calibri"/>
              <a:sym typeface="Calibri"/>
            </a:endParaRPr>
          </a:p>
          <a:p>
            <a:pPr marL="431800">
              <a:lnSpc>
                <a:spcPct val="150000"/>
              </a:lnSpc>
              <a:buClr>
                <a:srgbClr val="D9D9D9"/>
              </a:buClr>
              <a:buSzPts val="2200"/>
            </a:pPr>
            <a:r>
              <a:rPr lang="en" sz="2200" dirty="0">
                <a:solidFill>
                  <a:schemeClr val="tx1"/>
                </a:solidFill>
                <a:highlight>
                  <a:schemeClr val="lt1"/>
                </a:highlight>
                <a:latin typeface="Calibri"/>
                <a:ea typeface="Calibri"/>
                <a:cs typeface="Calibri"/>
                <a:sym typeface="Calibri"/>
              </a:rPr>
              <a:t>Expressive</a:t>
            </a:r>
            <a:endParaRPr sz="2200" dirty="0">
              <a:solidFill>
                <a:schemeClr val="tx1"/>
              </a:solidFill>
              <a:highlight>
                <a:schemeClr val="lt1"/>
              </a:highlight>
              <a:latin typeface="Calibri"/>
              <a:ea typeface="Calibri"/>
              <a:cs typeface="Calibri"/>
              <a:sym typeface="Calibri"/>
            </a:endParaRPr>
          </a:p>
          <a:p>
            <a:pPr marL="431800">
              <a:lnSpc>
                <a:spcPct val="150000"/>
              </a:lnSpc>
              <a:buClr>
                <a:srgbClr val="D9D9D9"/>
              </a:buClr>
              <a:buSzPts val="2200"/>
            </a:pPr>
            <a:r>
              <a:rPr lang="en" sz="2200" dirty="0">
                <a:solidFill>
                  <a:schemeClr val="tx1"/>
                </a:solidFill>
                <a:highlight>
                  <a:schemeClr val="lt1"/>
                </a:highlight>
                <a:latin typeface="Calibri"/>
                <a:ea typeface="Calibri"/>
                <a:cs typeface="Calibri"/>
                <a:sym typeface="Calibri"/>
              </a:rPr>
              <a:t>Pattern Matching</a:t>
            </a:r>
          </a:p>
          <a:p>
            <a:pPr marL="431800">
              <a:lnSpc>
                <a:spcPct val="150000"/>
              </a:lnSpc>
              <a:buClr>
                <a:srgbClr val="D9D9D9"/>
              </a:buClr>
              <a:buSzPts val="2200"/>
            </a:pPr>
            <a:r>
              <a:rPr lang="en" sz="2200" dirty="0">
                <a:solidFill>
                  <a:schemeClr val="tx1"/>
                </a:solidFill>
                <a:highlight>
                  <a:schemeClr val="lt1"/>
                </a:highlight>
                <a:latin typeface="Calibri"/>
                <a:ea typeface="Calibri"/>
                <a:cs typeface="Calibri"/>
                <a:sym typeface="Calibri"/>
              </a:rPr>
              <a:t>ASCII ART ¯\_(</a:t>
            </a:r>
            <a:r>
              <a:rPr lang="en" sz="2200" dirty="0" err="1">
                <a:solidFill>
                  <a:schemeClr val="tx1"/>
                </a:solidFill>
                <a:highlight>
                  <a:schemeClr val="lt1"/>
                </a:highlight>
                <a:latin typeface="Calibri"/>
                <a:ea typeface="Calibri"/>
                <a:cs typeface="Calibri"/>
                <a:sym typeface="Calibri"/>
              </a:rPr>
              <a:t>ツ</a:t>
            </a:r>
            <a:r>
              <a:rPr lang="en" sz="2200" dirty="0">
                <a:solidFill>
                  <a:schemeClr val="tx1"/>
                </a:solidFill>
                <a:highlight>
                  <a:schemeClr val="lt1"/>
                </a:highlight>
                <a:latin typeface="Calibri"/>
                <a:ea typeface="Calibri"/>
                <a:cs typeface="Calibri"/>
                <a:sym typeface="Calibri"/>
              </a:rPr>
              <a:t>)_/¯</a:t>
            </a:r>
            <a:endParaRPr sz="2200" dirty="0">
              <a:solidFill>
                <a:schemeClr val="tx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06740EEF-D0B0-F35A-C6CD-0E16690486E2}"/>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7362661E-D530-3860-A5B2-E26D2F1691DB}"/>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dirty="0"/>
              <a:t>Node and Patterns</a:t>
            </a:r>
            <a:endParaRPr dirty="0"/>
          </a:p>
        </p:txBody>
      </p:sp>
      <p:sp>
        <p:nvSpPr>
          <p:cNvPr id="222" name="Google Shape;222;p31">
            <a:extLst>
              <a:ext uri="{FF2B5EF4-FFF2-40B4-BE49-F238E27FC236}">
                <a16:creationId xmlns:a16="http://schemas.microsoft.com/office/drawing/2014/main" id="{45CE69B0-E06B-F267-AB08-52D76BBC2C18}"/>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buNone/>
            </a:pPr>
            <a:r>
              <a:rPr lang="en-GB" dirty="0"/>
              <a:t>Nodes in the pattern are expressed with parentheses - ( )</a:t>
            </a:r>
          </a:p>
          <a:p>
            <a:pPr marL="0" lvl="0" indent="0">
              <a:buNone/>
            </a:pPr>
            <a:endParaRPr lang="en-GB" sz="1400" dirty="0">
              <a:latin typeface="Courier New"/>
              <a:ea typeface="Courier New"/>
              <a:cs typeface="Courier New"/>
              <a:sym typeface="Courier New"/>
            </a:endParaRPr>
          </a:p>
          <a:p>
            <a:pPr marL="0" lvl="0" indent="0">
              <a:buNone/>
            </a:pPr>
            <a:endParaRPr lang="en-GB" sz="1400" dirty="0">
              <a:latin typeface="Courier New"/>
              <a:ea typeface="Courier New"/>
              <a:cs typeface="Courier New"/>
              <a:sym typeface="Courier New"/>
            </a:endParaRPr>
          </a:p>
          <a:p>
            <a:pPr marL="0" lvl="0" indent="0">
              <a:buNone/>
            </a:pPr>
            <a:endParaRPr lang="en-GB" sz="1400" dirty="0">
              <a:latin typeface="Courier New"/>
              <a:ea typeface="Courier New"/>
              <a:cs typeface="Courier New"/>
              <a:sym typeface="Courier New"/>
            </a:endParaRPr>
          </a:p>
          <a:p>
            <a:pPr marL="0" lvl="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r>
              <a:rPr lang="en-GB" dirty="0"/>
              <a:t>Inside the parentheses you can define information about the node, for example the label(s) or properties the node should contain.</a:t>
            </a:r>
            <a:endParaRPr lang="en-GB" sz="1400" dirty="0">
              <a:latin typeface="Courier New"/>
              <a:ea typeface="Courier New"/>
              <a:cs typeface="Courier New"/>
              <a:sym typeface="Courier New"/>
            </a:endParaRPr>
          </a:p>
        </p:txBody>
      </p:sp>
      <p:pic>
        <p:nvPicPr>
          <p:cNvPr id="1026" name="Picture 2" descr="(p:Person)-[r:ACTED_IN]→(m:Movie)">
            <a:extLst>
              <a:ext uri="{FF2B5EF4-FFF2-40B4-BE49-F238E27FC236}">
                <a16:creationId xmlns:a16="http://schemas.microsoft.com/office/drawing/2014/main" id="{070B8E27-3322-25D2-867B-3DD094B3D7F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9221" y="1799487"/>
            <a:ext cx="5880538" cy="45941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Person and :Movie highlighted">
            <a:extLst>
              <a:ext uri="{FF2B5EF4-FFF2-40B4-BE49-F238E27FC236}">
                <a16:creationId xmlns:a16="http://schemas.microsoft.com/office/drawing/2014/main" id="{67AD1B18-CCF8-C3C2-CB61-ABC0BFAF090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8047" y="3625453"/>
            <a:ext cx="5880531" cy="459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935958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25881756-D915-51D2-AA48-2E1E03272CEF}"/>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1BFE1F52-6EFE-3988-1121-EB3B5E2ECED6}"/>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dirty="0"/>
              <a:t>Node and Patterns</a:t>
            </a:r>
            <a:endParaRPr dirty="0"/>
          </a:p>
        </p:txBody>
      </p:sp>
      <p:sp>
        <p:nvSpPr>
          <p:cNvPr id="222" name="Google Shape;222;p31">
            <a:extLst>
              <a:ext uri="{FF2B5EF4-FFF2-40B4-BE49-F238E27FC236}">
                <a16:creationId xmlns:a16="http://schemas.microsoft.com/office/drawing/2014/main" id="{D48E70BE-1FC0-63E7-982B-786EAD3BD59A}"/>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buNone/>
            </a:pPr>
            <a:r>
              <a:rPr lang="en-GB" dirty="0">
                <a:solidFill>
                  <a:schemeClr val="accent6">
                    <a:lumMod val="60000"/>
                    <a:lumOff val="40000"/>
                  </a:schemeClr>
                </a:solidFill>
              </a:rPr>
              <a:t>Relationship</a:t>
            </a:r>
            <a:r>
              <a:rPr lang="en-GB" dirty="0"/>
              <a:t> information is contained within </a:t>
            </a:r>
            <a:r>
              <a:rPr lang="en-GB" dirty="0">
                <a:solidFill>
                  <a:schemeClr val="accent6">
                    <a:lumMod val="60000"/>
                    <a:lumOff val="40000"/>
                  </a:schemeClr>
                </a:solidFill>
              </a:rPr>
              <a:t>square brackets </a:t>
            </a:r>
            <a:r>
              <a:rPr lang="en-GB" dirty="0"/>
              <a:t>-[ ]</a:t>
            </a:r>
            <a:endParaRPr lang="en-GB" sz="1400" dirty="0">
              <a:latin typeface="Courier New"/>
              <a:ea typeface="Courier New"/>
              <a:cs typeface="Courier New"/>
              <a:sym typeface="Courier New"/>
            </a:endParaRPr>
          </a:p>
          <a:p>
            <a:pPr marL="0" lvl="0" indent="0">
              <a:buNone/>
            </a:pPr>
            <a:endParaRPr lang="en-GB" sz="1400" dirty="0">
              <a:latin typeface="Courier New"/>
              <a:ea typeface="Courier New"/>
              <a:cs typeface="Courier New"/>
              <a:sym typeface="Courier New"/>
            </a:endParaRPr>
          </a:p>
          <a:p>
            <a:pPr marL="0" lvl="0" indent="0">
              <a:buNone/>
            </a:pPr>
            <a:endParaRPr lang="en-GB" sz="1400" dirty="0">
              <a:latin typeface="Courier New"/>
              <a:ea typeface="Courier New"/>
              <a:cs typeface="Courier New"/>
              <a:sym typeface="Courier New"/>
            </a:endParaRPr>
          </a:p>
          <a:p>
            <a:pPr marL="0" lvl="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a:p>
            <a:pPr marL="0" lvl="0" indent="0">
              <a:buNone/>
            </a:pPr>
            <a:r>
              <a:rPr lang="en-GB" dirty="0"/>
              <a:t>The </a:t>
            </a:r>
            <a:r>
              <a:rPr lang="en-GB" dirty="0">
                <a:solidFill>
                  <a:schemeClr val="accent1">
                    <a:lumMod val="60000"/>
                    <a:lumOff val="40000"/>
                  </a:schemeClr>
                </a:solidFill>
              </a:rPr>
              <a:t>relationship type </a:t>
            </a:r>
            <a:r>
              <a:rPr lang="en-GB" dirty="0"/>
              <a:t>is prefixed with a colon - [:TYPE]</a:t>
            </a:r>
          </a:p>
          <a:p>
            <a:pPr marL="0" lvl="0" indent="0">
              <a:buNone/>
            </a:pPr>
            <a:endParaRPr lang="en-GB" sz="1400" dirty="0">
              <a:latin typeface="Courier New"/>
              <a:ea typeface="Courier New"/>
              <a:cs typeface="Courier New"/>
              <a:sym typeface="Courier New"/>
            </a:endParaRPr>
          </a:p>
          <a:p>
            <a:pPr marL="0" lvl="0" indent="0">
              <a:buNone/>
            </a:pPr>
            <a:r>
              <a:rPr lang="en-GB" dirty="0"/>
              <a:t>The pattern contains one relationship -[:ACTED_IN]→  between (:Person) and (:Movie) nodes.</a:t>
            </a:r>
            <a:endParaRPr lang="en-GB" sz="1400" dirty="0">
              <a:latin typeface="Courier New"/>
              <a:ea typeface="Courier New"/>
              <a:cs typeface="Courier New"/>
              <a:sym typeface="Courier New"/>
            </a:endParaRPr>
          </a:p>
        </p:txBody>
      </p:sp>
      <p:pic>
        <p:nvPicPr>
          <p:cNvPr id="1026" name="Picture 2" descr="(p:Person)-[r:ACTED_IN]→(m:Movie)">
            <a:extLst>
              <a:ext uri="{FF2B5EF4-FFF2-40B4-BE49-F238E27FC236}">
                <a16:creationId xmlns:a16="http://schemas.microsoft.com/office/drawing/2014/main" id="{0FB5A91D-FCAA-92BF-67EC-B565FEB3A1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3228" y="1949259"/>
            <a:ext cx="5880538" cy="459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46423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0806527B-1348-26A8-2891-445E470D1F76}"/>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2E8D4859-CD1D-F1F1-7D75-16D628D3FA34}"/>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dirty="0"/>
              <a:t>Node and Patterns</a:t>
            </a:r>
            <a:endParaRPr dirty="0"/>
          </a:p>
        </p:txBody>
      </p:sp>
      <p:sp>
        <p:nvSpPr>
          <p:cNvPr id="222" name="Google Shape;222;p31">
            <a:extLst>
              <a:ext uri="{FF2B5EF4-FFF2-40B4-BE49-F238E27FC236}">
                <a16:creationId xmlns:a16="http://schemas.microsoft.com/office/drawing/2014/main" id="{0F522DF3-D7E9-3AE3-3E8F-426BDC4B56A6}"/>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buNone/>
            </a:pPr>
            <a:r>
              <a:rPr lang="en-GB" dirty="0"/>
              <a:t>The nodes and relationships in the pattern are assigned to </a:t>
            </a:r>
            <a:r>
              <a:rPr lang="en-GB" dirty="0">
                <a:solidFill>
                  <a:srgbClr val="FF0000"/>
                </a:solidFill>
              </a:rPr>
              <a:t>variables</a:t>
            </a:r>
            <a:r>
              <a:rPr lang="en-GB" dirty="0"/>
              <a:t>.</a:t>
            </a:r>
            <a:endParaRPr lang="en-GB" sz="1400" dirty="0">
              <a:latin typeface="Courier New"/>
              <a:ea typeface="Courier New"/>
              <a:cs typeface="Courier New"/>
              <a:sym typeface="Courier New"/>
            </a:endParaRPr>
          </a:p>
          <a:p>
            <a:pPr marL="0" lvl="0" indent="0">
              <a:buNone/>
            </a:pPr>
            <a:endParaRPr lang="en-GB" sz="1400" dirty="0">
              <a:latin typeface="Courier New"/>
              <a:ea typeface="Courier New"/>
              <a:cs typeface="Courier New"/>
              <a:sym typeface="Courier New"/>
            </a:endParaRPr>
          </a:p>
          <a:p>
            <a:pPr marL="0" lvl="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a:p>
            <a:pPr marL="114300" indent="0">
              <a:buNone/>
            </a:pPr>
            <a:r>
              <a:rPr lang="en-GB" dirty="0"/>
              <a:t>These variables are positioned before the information about the node or relationship.</a:t>
            </a:r>
          </a:p>
          <a:p>
            <a:pPr marL="114300" indent="0">
              <a:buNone/>
            </a:pPr>
            <a:endParaRPr lang="en-GB" dirty="0"/>
          </a:p>
          <a:p>
            <a:pPr marL="114300" indent="0">
              <a:buNone/>
            </a:pPr>
            <a:r>
              <a:rPr lang="en-GB" dirty="0"/>
              <a:t>p - the :Person node</a:t>
            </a:r>
          </a:p>
          <a:p>
            <a:pPr marL="114300" indent="0">
              <a:buNone/>
            </a:pPr>
            <a:r>
              <a:rPr lang="en-GB" dirty="0"/>
              <a:t>r - the :ACTED_IN relationship</a:t>
            </a:r>
          </a:p>
          <a:p>
            <a:pPr marL="114300" indent="0">
              <a:buNone/>
            </a:pPr>
            <a:r>
              <a:rPr lang="en-GB" dirty="0"/>
              <a:t>m - the :Movie node</a:t>
            </a:r>
          </a:p>
        </p:txBody>
      </p:sp>
      <p:pic>
        <p:nvPicPr>
          <p:cNvPr id="3074" name="Picture 2" descr="p">
            <a:extLst>
              <a:ext uri="{FF2B5EF4-FFF2-40B4-BE49-F238E27FC236}">
                <a16:creationId xmlns:a16="http://schemas.microsoft.com/office/drawing/2014/main" id="{75A3D208-3D3A-5AF7-66BF-D81E66D7EC2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4157" y="1874135"/>
            <a:ext cx="6424448" cy="5019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3620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AA871AF7-E552-449D-584E-F425F0959796}"/>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40A86E4D-5782-EC73-4293-62411795E56C}"/>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Match</a:t>
            </a:r>
            <a:r>
              <a:rPr lang="en" dirty="0"/>
              <a:t> - </a:t>
            </a:r>
            <a:r>
              <a:rPr lang="en" dirty="0" err="1"/>
              <a:t>ing</a:t>
            </a:r>
            <a:r>
              <a:rPr lang="en" dirty="0"/>
              <a:t> </a:t>
            </a:r>
            <a:endParaRPr dirty="0"/>
          </a:p>
        </p:txBody>
      </p:sp>
      <p:sp>
        <p:nvSpPr>
          <p:cNvPr id="222" name="Google Shape;222;p31">
            <a:extLst>
              <a:ext uri="{FF2B5EF4-FFF2-40B4-BE49-F238E27FC236}">
                <a16:creationId xmlns:a16="http://schemas.microsoft.com/office/drawing/2014/main" id="{4C333EE7-33FB-7143-7B39-D6C425755D3D}"/>
              </a:ext>
            </a:extLst>
          </p:cNvPr>
          <p:cNvSpPr txBox="1">
            <a:spLocks noGrp="1"/>
          </p:cNvSpPr>
          <p:nvPr>
            <p:ph type="body" idx="1"/>
          </p:nvPr>
        </p:nvSpPr>
        <p:spPr>
          <a:prstGeom prst="rect">
            <a:avLst/>
          </a:prstGeom>
        </p:spPr>
        <p:txBody>
          <a:bodyPr spcFirstLastPara="1" wrap="square" lIns="91425" tIns="91425" rIns="91425" bIns="91425" anchor="t" anchorCtr="0">
            <a:normAutofit fontScale="92500" lnSpcReduction="10000"/>
          </a:bodyPr>
          <a:lstStyle/>
          <a:p>
            <a:pPr marL="114300" indent="0">
              <a:buNone/>
            </a:pPr>
            <a:r>
              <a:rPr lang="en-GB" dirty="0"/>
              <a:t>The MATCH clause is used to find patterns in the data.</a:t>
            </a:r>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a:lnSpc>
                <a:spcPct val="150000"/>
              </a:lnSpc>
              <a:buFont typeface="+mj-lt"/>
              <a:buAutoNum type="arabicPeriod"/>
            </a:pPr>
            <a:r>
              <a:rPr lang="en-GB" dirty="0"/>
              <a:t>The pattern being used.</a:t>
            </a:r>
          </a:p>
          <a:p>
            <a:pPr>
              <a:lnSpc>
                <a:spcPct val="150000"/>
              </a:lnSpc>
              <a:buFont typeface="+mj-lt"/>
              <a:buAutoNum type="arabicPeriod"/>
            </a:pPr>
            <a:r>
              <a:rPr lang="en-GB" dirty="0"/>
              <a:t>A WHERE clause which filters the results.</a:t>
            </a:r>
          </a:p>
          <a:p>
            <a:pPr>
              <a:lnSpc>
                <a:spcPct val="150000"/>
              </a:lnSpc>
              <a:buFont typeface="+mj-lt"/>
              <a:buAutoNum type="arabicPeriod"/>
            </a:pPr>
            <a:r>
              <a:rPr lang="en-GB" dirty="0"/>
              <a:t>The variables used in the RETURN clause.</a:t>
            </a: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p:txBody>
      </p:sp>
      <p:pic>
        <p:nvPicPr>
          <p:cNvPr id="3" name="Picture 2" descr="A black background with white text&#10;&#10;AI-generated content may be incorrect.">
            <a:extLst>
              <a:ext uri="{FF2B5EF4-FFF2-40B4-BE49-F238E27FC236}">
                <a16:creationId xmlns:a16="http://schemas.microsoft.com/office/drawing/2014/main" id="{620E3EF4-E439-5AA7-3038-645580BA8D90}"/>
              </a:ext>
            </a:extLst>
          </p:cNvPr>
          <p:cNvPicPr>
            <a:picLocks noChangeAspect="1"/>
          </p:cNvPicPr>
          <p:nvPr/>
        </p:nvPicPr>
        <p:blipFill>
          <a:blip r:embed="rId3"/>
          <a:stretch>
            <a:fillRect/>
          </a:stretch>
        </p:blipFill>
        <p:spPr>
          <a:xfrm>
            <a:off x="2184990" y="1885440"/>
            <a:ext cx="4774019" cy="1178924"/>
          </a:xfrm>
          <a:prstGeom prst="rect">
            <a:avLst/>
          </a:prstGeom>
        </p:spPr>
      </p:pic>
    </p:spTree>
    <p:extLst>
      <p:ext uri="{BB962C8B-B14F-4D97-AF65-F5344CB8AC3E}">
        <p14:creationId xmlns:p14="http://schemas.microsoft.com/office/powerpoint/2010/main" val="38822418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A427A4D8-01FF-E1C2-A8CE-F4966E4DBF30}"/>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FF0AB986-0DBE-DAC6-31D2-E0C3066E40F8}"/>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Match</a:t>
            </a:r>
            <a:r>
              <a:rPr lang="en" dirty="0"/>
              <a:t> - </a:t>
            </a:r>
            <a:r>
              <a:rPr lang="en" dirty="0" err="1"/>
              <a:t>ing</a:t>
            </a:r>
            <a:r>
              <a:rPr lang="en" dirty="0"/>
              <a:t> </a:t>
            </a:r>
            <a:endParaRPr dirty="0"/>
          </a:p>
        </p:txBody>
      </p:sp>
      <p:sp>
        <p:nvSpPr>
          <p:cNvPr id="222" name="Google Shape;222;p31">
            <a:extLst>
              <a:ext uri="{FF2B5EF4-FFF2-40B4-BE49-F238E27FC236}">
                <a16:creationId xmlns:a16="http://schemas.microsoft.com/office/drawing/2014/main" id="{1916D1C4-177F-62E8-076E-17D3D48B384A}"/>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r>
              <a:rPr lang="en-GB" dirty="0"/>
              <a:t>Patterns can be as simple as a single node, or contain multiple relationships.</a:t>
            </a:r>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p:txBody>
      </p:sp>
      <p:pic>
        <p:nvPicPr>
          <p:cNvPr id="4" name="Picture 3" descr="A screen shot of a movie&#10;&#10;AI-generated content may be incorrect.">
            <a:extLst>
              <a:ext uri="{FF2B5EF4-FFF2-40B4-BE49-F238E27FC236}">
                <a16:creationId xmlns:a16="http://schemas.microsoft.com/office/drawing/2014/main" id="{C0D8D0FD-314C-EC17-DE1C-97C66B6EADEB}"/>
              </a:ext>
            </a:extLst>
          </p:cNvPr>
          <p:cNvPicPr>
            <a:picLocks noChangeAspect="1"/>
          </p:cNvPicPr>
          <p:nvPr/>
        </p:nvPicPr>
        <p:blipFill>
          <a:blip r:embed="rId3"/>
          <a:stretch>
            <a:fillRect/>
          </a:stretch>
        </p:blipFill>
        <p:spPr>
          <a:xfrm>
            <a:off x="551793" y="1853475"/>
            <a:ext cx="7772400" cy="1221067"/>
          </a:xfrm>
          <a:prstGeom prst="rect">
            <a:avLst/>
          </a:prstGeom>
        </p:spPr>
      </p:pic>
    </p:spTree>
    <p:extLst>
      <p:ext uri="{BB962C8B-B14F-4D97-AF65-F5344CB8AC3E}">
        <p14:creationId xmlns:p14="http://schemas.microsoft.com/office/powerpoint/2010/main" val="5698649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7D2EBDA4-9B85-4CF3-6A50-4A4CEB3DE062}"/>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3AD1075D-67C6-4BDB-E3B2-9F3593351B82}"/>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Match</a:t>
            </a:r>
            <a:r>
              <a:rPr lang="en" dirty="0"/>
              <a:t> - </a:t>
            </a:r>
            <a:r>
              <a:rPr lang="en" dirty="0" err="1"/>
              <a:t>ing</a:t>
            </a:r>
            <a:r>
              <a:rPr lang="en" dirty="0"/>
              <a:t> </a:t>
            </a:r>
            <a:endParaRPr dirty="0"/>
          </a:p>
        </p:txBody>
      </p:sp>
      <p:sp>
        <p:nvSpPr>
          <p:cNvPr id="222" name="Google Shape;222;p31">
            <a:extLst>
              <a:ext uri="{FF2B5EF4-FFF2-40B4-BE49-F238E27FC236}">
                <a16:creationId xmlns:a16="http://schemas.microsoft.com/office/drawing/2014/main" id="{4DB59BCB-001A-2744-8440-6CE3EF0FBA63}"/>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r>
              <a:rPr lang="en-GB" sz="1600" dirty="0"/>
              <a:t>You can specify a </a:t>
            </a:r>
            <a:r>
              <a:rPr lang="en-GB" sz="1600" b="1" dirty="0">
                <a:solidFill>
                  <a:srgbClr val="92D050"/>
                </a:solidFill>
              </a:rPr>
              <a:t>range</a:t>
            </a:r>
            <a:r>
              <a:rPr lang="en-GB" sz="1600" dirty="0"/>
              <a:t> for filtering a query</a:t>
            </a:r>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0" lvl="0" indent="0">
              <a:buNone/>
            </a:pPr>
            <a:endParaRPr lang="en-GB" dirty="0"/>
          </a:p>
          <a:p>
            <a:pPr marL="0" lvl="0" indent="0">
              <a:buNone/>
            </a:pPr>
            <a:r>
              <a:rPr lang="en-GB" dirty="0"/>
              <a:t>There is no requirement that a node or relationship has a given property. This aspect can be used for filtering.</a:t>
            </a:r>
          </a:p>
        </p:txBody>
      </p:sp>
      <p:pic>
        <p:nvPicPr>
          <p:cNvPr id="3" name="Picture 2" descr="A screen shot of a movie&#10;&#10;AI-generated content may be incorrect.">
            <a:extLst>
              <a:ext uri="{FF2B5EF4-FFF2-40B4-BE49-F238E27FC236}">
                <a16:creationId xmlns:a16="http://schemas.microsoft.com/office/drawing/2014/main" id="{5174F7D6-9843-4963-3B9E-C944FE80566E}"/>
              </a:ext>
            </a:extLst>
          </p:cNvPr>
          <p:cNvPicPr>
            <a:picLocks noChangeAspect="1"/>
          </p:cNvPicPr>
          <p:nvPr/>
        </p:nvPicPr>
        <p:blipFill>
          <a:blip r:embed="rId3"/>
          <a:stretch>
            <a:fillRect/>
          </a:stretch>
        </p:blipFill>
        <p:spPr>
          <a:xfrm>
            <a:off x="1899744" y="1846590"/>
            <a:ext cx="4845160" cy="885461"/>
          </a:xfrm>
          <a:prstGeom prst="rect">
            <a:avLst/>
          </a:prstGeom>
        </p:spPr>
      </p:pic>
      <p:pic>
        <p:nvPicPr>
          <p:cNvPr id="7" name="Picture 6" descr="A screen shot of a computer&#10;&#10;AI-generated content may be incorrect.">
            <a:extLst>
              <a:ext uri="{FF2B5EF4-FFF2-40B4-BE49-F238E27FC236}">
                <a16:creationId xmlns:a16="http://schemas.microsoft.com/office/drawing/2014/main" id="{904166A1-0517-4B8C-3A75-7B07F3CD2F08}"/>
              </a:ext>
            </a:extLst>
          </p:cNvPr>
          <p:cNvPicPr>
            <a:picLocks noChangeAspect="1"/>
          </p:cNvPicPr>
          <p:nvPr/>
        </p:nvPicPr>
        <p:blipFill>
          <a:blip r:embed="rId4"/>
          <a:srcRect l="-1" r="-5550"/>
          <a:stretch>
            <a:fillRect/>
          </a:stretch>
        </p:blipFill>
        <p:spPr>
          <a:xfrm>
            <a:off x="1839417" y="3622161"/>
            <a:ext cx="5305463" cy="957064"/>
          </a:xfrm>
          <a:prstGeom prst="rect">
            <a:avLst/>
          </a:prstGeom>
        </p:spPr>
      </p:pic>
    </p:spTree>
    <p:extLst>
      <p:ext uri="{BB962C8B-B14F-4D97-AF65-F5344CB8AC3E}">
        <p14:creationId xmlns:p14="http://schemas.microsoft.com/office/powerpoint/2010/main" val="31064114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B2CCE6D3-9DD2-41C1-6E16-2A084026B0B0}"/>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B67DD381-F66E-4A5B-6DD8-8E25E07BF9E0}"/>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Match</a:t>
            </a:r>
            <a:r>
              <a:rPr lang="en" dirty="0"/>
              <a:t> - </a:t>
            </a:r>
            <a:r>
              <a:rPr lang="en" dirty="0" err="1"/>
              <a:t>ing</a:t>
            </a:r>
            <a:r>
              <a:rPr lang="en" dirty="0"/>
              <a:t> </a:t>
            </a:r>
            <a:endParaRPr dirty="0"/>
          </a:p>
        </p:txBody>
      </p:sp>
      <p:sp>
        <p:nvSpPr>
          <p:cNvPr id="222" name="Google Shape;222;p31">
            <a:extLst>
              <a:ext uri="{FF2B5EF4-FFF2-40B4-BE49-F238E27FC236}">
                <a16:creationId xmlns:a16="http://schemas.microsoft.com/office/drawing/2014/main" id="{FE3F2192-B099-2694-7948-F132CBDE4A19}"/>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r>
              <a:rPr lang="en-GB" sz="1600" dirty="0"/>
              <a:t>Cypher has a set of string-related keywords that you can use in your </a:t>
            </a:r>
            <a:r>
              <a:rPr lang="en-GB" sz="1600" dirty="0">
                <a:solidFill>
                  <a:schemeClr val="accent2">
                    <a:lumMod val="75000"/>
                  </a:schemeClr>
                </a:solidFill>
              </a:rPr>
              <a:t>WHERE</a:t>
            </a:r>
            <a:r>
              <a:rPr lang="en-GB" sz="1600" dirty="0"/>
              <a:t> clauses to test string property values. You can specify </a:t>
            </a:r>
            <a:r>
              <a:rPr lang="en-GB" sz="1600" dirty="0">
                <a:solidFill>
                  <a:srgbClr val="FF0000"/>
                </a:solidFill>
              </a:rPr>
              <a:t>STARTS WITH</a:t>
            </a:r>
            <a:r>
              <a:rPr lang="en-GB" sz="1600" dirty="0"/>
              <a:t>, </a:t>
            </a:r>
            <a:r>
              <a:rPr lang="en-GB" sz="1600" dirty="0">
                <a:solidFill>
                  <a:srgbClr val="FF0000"/>
                </a:solidFill>
              </a:rPr>
              <a:t>ENDS</a:t>
            </a:r>
            <a:r>
              <a:rPr lang="en-GB" sz="1600" dirty="0"/>
              <a:t> </a:t>
            </a:r>
            <a:r>
              <a:rPr lang="en-GB" sz="1600" dirty="0">
                <a:solidFill>
                  <a:srgbClr val="FF0000"/>
                </a:solidFill>
              </a:rPr>
              <a:t>WITH</a:t>
            </a:r>
            <a:r>
              <a:rPr lang="en-GB" sz="1600" dirty="0"/>
              <a:t>, and </a:t>
            </a:r>
            <a:r>
              <a:rPr lang="en-GB" sz="1600" dirty="0">
                <a:solidFill>
                  <a:srgbClr val="FF0000"/>
                </a:solidFill>
              </a:rPr>
              <a:t>CONTAINS</a:t>
            </a:r>
          </a:p>
          <a:p>
            <a:pPr marL="114300" indent="0">
              <a:buNone/>
            </a:pPr>
            <a:endParaRPr lang="en-GB" dirty="0"/>
          </a:p>
          <a:p>
            <a:pPr marL="114300" indent="0">
              <a:buNone/>
            </a:pPr>
            <a:endParaRPr lang="en-GB" dirty="0"/>
          </a:p>
          <a:p>
            <a:pPr marL="114300" indent="0">
              <a:buNone/>
            </a:pPr>
            <a:endParaRPr lang="en-GB" dirty="0"/>
          </a:p>
          <a:p>
            <a:pPr marL="0" lvl="0" indent="0">
              <a:buNone/>
            </a:pPr>
            <a:endParaRPr lang="en-GB" dirty="0"/>
          </a:p>
        </p:txBody>
      </p:sp>
      <p:pic>
        <p:nvPicPr>
          <p:cNvPr id="4" name="Picture 3" descr="A black screen with white text&#10;&#10;AI-generated content may be incorrect.">
            <a:extLst>
              <a:ext uri="{FF2B5EF4-FFF2-40B4-BE49-F238E27FC236}">
                <a16:creationId xmlns:a16="http://schemas.microsoft.com/office/drawing/2014/main" id="{07B7FA2F-8290-743D-BE97-B4D09F125934}"/>
              </a:ext>
            </a:extLst>
          </p:cNvPr>
          <p:cNvPicPr>
            <a:picLocks noChangeAspect="1"/>
          </p:cNvPicPr>
          <p:nvPr/>
        </p:nvPicPr>
        <p:blipFill>
          <a:blip r:embed="rId3"/>
          <a:stretch>
            <a:fillRect/>
          </a:stretch>
        </p:blipFill>
        <p:spPr>
          <a:xfrm>
            <a:off x="3920720" y="3360025"/>
            <a:ext cx="4651512" cy="1219200"/>
          </a:xfrm>
          <a:prstGeom prst="rect">
            <a:avLst/>
          </a:prstGeom>
        </p:spPr>
      </p:pic>
      <p:pic>
        <p:nvPicPr>
          <p:cNvPr id="6" name="Picture 5" descr="A screen shot of a computer&#10;&#10;AI-generated content may be incorrect.">
            <a:extLst>
              <a:ext uri="{FF2B5EF4-FFF2-40B4-BE49-F238E27FC236}">
                <a16:creationId xmlns:a16="http://schemas.microsoft.com/office/drawing/2014/main" id="{BA1C3ADD-51A8-478A-3865-CED3953F9A3B}"/>
              </a:ext>
            </a:extLst>
          </p:cNvPr>
          <p:cNvPicPr>
            <a:picLocks noChangeAspect="1"/>
          </p:cNvPicPr>
          <p:nvPr/>
        </p:nvPicPr>
        <p:blipFill>
          <a:blip r:embed="rId4"/>
          <a:stretch>
            <a:fillRect/>
          </a:stretch>
        </p:blipFill>
        <p:spPr>
          <a:xfrm>
            <a:off x="463769" y="2018175"/>
            <a:ext cx="4038600" cy="1219200"/>
          </a:xfrm>
          <a:prstGeom prst="rect">
            <a:avLst/>
          </a:prstGeom>
        </p:spPr>
      </p:pic>
    </p:spTree>
    <p:extLst>
      <p:ext uri="{BB962C8B-B14F-4D97-AF65-F5344CB8AC3E}">
        <p14:creationId xmlns:p14="http://schemas.microsoft.com/office/powerpoint/2010/main" val="2226202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33851610-CAC2-3C46-ADAF-2679AC22DE11}"/>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35478D17-2943-5DF6-463A-EBB67060115C}"/>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Match</a:t>
            </a:r>
            <a:r>
              <a:rPr lang="en" dirty="0"/>
              <a:t> - </a:t>
            </a:r>
            <a:r>
              <a:rPr lang="en" dirty="0" err="1"/>
              <a:t>ing</a:t>
            </a:r>
            <a:r>
              <a:rPr lang="en" dirty="0"/>
              <a:t> </a:t>
            </a:r>
            <a:endParaRPr dirty="0"/>
          </a:p>
        </p:txBody>
      </p:sp>
      <p:sp>
        <p:nvSpPr>
          <p:cNvPr id="222" name="Google Shape;222;p31">
            <a:extLst>
              <a:ext uri="{FF2B5EF4-FFF2-40B4-BE49-F238E27FC236}">
                <a16:creationId xmlns:a16="http://schemas.microsoft.com/office/drawing/2014/main" id="{3034DD49-34A2-21CB-8756-2D76533B0D5D}"/>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r>
              <a:rPr lang="en-GB" dirty="0"/>
              <a:t>You can place them in a list or you can test with an existing list in the graph. A Cypher list is a comma-separated set of values within square brackets.</a:t>
            </a:r>
          </a:p>
          <a:p>
            <a:pPr marL="114300" indent="0">
              <a:buNone/>
            </a:pPr>
            <a:endParaRPr lang="en-GB" dirty="0"/>
          </a:p>
          <a:p>
            <a:pPr marL="114300" indent="0">
              <a:buNone/>
            </a:pPr>
            <a:endParaRPr lang="en-GB" dirty="0"/>
          </a:p>
          <a:p>
            <a:pPr marL="0" lvl="0" indent="0">
              <a:buNone/>
            </a:pPr>
            <a:endParaRPr lang="en-GB" dirty="0"/>
          </a:p>
        </p:txBody>
      </p:sp>
      <p:pic>
        <p:nvPicPr>
          <p:cNvPr id="3" name="Picture 2" descr="A black background with white text and orange and white letters&#10;&#10;AI-generated content may be incorrect.">
            <a:extLst>
              <a:ext uri="{FF2B5EF4-FFF2-40B4-BE49-F238E27FC236}">
                <a16:creationId xmlns:a16="http://schemas.microsoft.com/office/drawing/2014/main" id="{0B5CED27-BD1B-9F2F-E781-B7E7ED58E716}"/>
              </a:ext>
            </a:extLst>
          </p:cNvPr>
          <p:cNvPicPr>
            <a:picLocks noChangeAspect="1"/>
          </p:cNvPicPr>
          <p:nvPr/>
        </p:nvPicPr>
        <p:blipFill>
          <a:blip r:embed="rId3"/>
          <a:stretch>
            <a:fillRect/>
          </a:stretch>
        </p:blipFill>
        <p:spPr>
          <a:xfrm>
            <a:off x="409247" y="2102507"/>
            <a:ext cx="3413891" cy="1070362"/>
          </a:xfrm>
          <a:prstGeom prst="rect">
            <a:avLst/>
          </a:prstGeom>
        </p:spPr>
      </p:pic>
      <p:pic>
        <p:nvPicPr>
          <p:cNvPr id="7" name="Picture 6" descr="A screen shot of a computer&#10;&#10;AI-generated content may be incorrect.">
            <a:extLst>
              <a:ext uri="{FF2B5EF4-FFF2-40B4-BE49-F238E27FC236}">
                <a16:creationId xmlns:a16="http://schemas.microsoft.com/office/drawing/2014/main" id="{D63831D8-DCB1-9F5D-EBFA-EC238E76FDE6}"/>
              </a:ext>
            </a:extLst>
          </p:cNvPr>
          <p:cNvPicPr>
            <a:picLocks noChangeAspect="1"/>
          </p:cNvPicPr>
          <p:nvPr/>
        </p:nvPicPr>
        <p:blipFill>
          <a:blip r:embed="rId4"/>
          <a:stretch>
            <a:fillRect/>
          </a:stretch>
        </p:blipFill>
        <p:spPr>
          <a:xfrm>
            <a:off x="4146330" y="3456972"/>
            <a:ext cx="4251435" cy="974287"/>
          </a:xfrm>
          <a:prstGeom prst="rect">
            <a:avLst/>
          </a:prstGeom>
        </p:spPr>
      </p:pic>
    </p:spTree>
    <p:extLst>
      <p:ext uri="{BB962C8B-B14F-4D97-AF65-F5344CB8AC3E}">
        <p14:creationId xmlns:p14="http://schemas.microsoft.com/office/powerpoint/2010/main" val="25095548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5B235937-2E7C-4E73-426E-F90407314357}"/>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133FEBA8-64C9-84E7-1A36-D976661EDD15}"/>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r>
              <a:rPr lang="en" b="1" dirty="0"/>
              <a:t>P</a:t>
            </a:r>
            <a:r>
              <a:rPr lang="en-GB" b="1" dirty="0" err="1"/>
              <a:t>roperties</a:t>
            </a:r>
            <a:r>
              <a:rPr lang="en-GB" b="1" dirty="0"/>
              <a:t> in the graph</a:t>
            </a:r>
            <a:endParaRPr dirty="0"/>
          </a:p>
        </p:txBody>
      </p:sp>
      <p:sp>
        <p:nvSpPr>
          <p:cNvPr id="222" name="Google Shape;222;p31">
            <a:extLst>
              <a:ext uri="{FF2B5EF4-FFF2-40B4-BE49-F238E27FC236}">
                <a16:creationId xmlns:a16="http://schemas.microsoft.com/office/drawing/2014/main" id="{436D8710-17A1-B1B2-9F3D-13BFFB308610}"/>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r>
              <a:rPr lang="en-GB" dirty="0"/>
              <a:t>The properties for a node with a given label need not be the same. One way you can discover the properties for a node is to use the keys() function</a:t>
            </a:r>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r>
              <a:rPr lang="en-GB" dirty="0"/>
              <a:t>More generally, you can run this code to return all the property keys defined in the graph.</a:t>
            </a:r>
          </a:p>
          <a:p>
            <a:pPr marL="114300" indent="0">
              <a:buNone/>
            </a:pPr>
            <a:endParaRPr lang="en-GB" dirty="0"/>
          </a:p>
          <a:p>
            <a:pPr marL="0" lvl="0" indent="0">
              <a:buNone/>
            </a:pPr>
            <a:endParaRPr lang="en-GB" dirty="0"/>
          </a:p>
        </p:txBody>
      </p:sp>
      <p:pic>
        <p:nvPicPr>
          <p:cNvPr id="4" name="Picture 3" descr="A black background with white text&#10;&#10;AI-generated content may be incorrect.">
            <a:extLst>
              <a:ext uri="{FF2B5EF4-FFF2-40B4-BE49-F238E27FC236}">
                <a16:creationId xmlns:a16="http://schemas.microsoft.com/office/drawing/2014/main" id="{1FFDB484-45C1-01C7-7550-CDF225E8BC5A}"/>
              </a:ext>
            </a:extLst>
          </p:cNvPr>
          <p:cNvPicPr>
            <a:picLocks noChangeAspect="1"/>
          </p:cNvPicPr>
          <p:nvPr/>
        </p:nvPicPr>
        <p:blipFill>
          <a:blip r:embed="rId3"/>
          <a:stretch>
            <a:fillRect/>
          </a:stretch>
        </p:blipFill>
        <p:spPr>
          <a:xfrm>
            <a:off x="545657" y="2027121"/>
            <a:ext cx="3289300" cy="812800"/>
          </a:xfrm>
          <a:prstGeom prst="rect">
            <a:avLst/>
          </a:prstGeom>
        </p:spPr>
      </p:pic>
      <p:pic>
        <p:nvPicPr>
          <p:cNvPr id="6" name="Picture 5">
            <a:extLst>
              <a:ext uri="{FF2B5EF4-FFF2-40B4-BE49-F238E27FC236}">
                <a16:creationId xmlns:a16="http://schemas.microsoft.com/office/drawing/2014/main" id="{7FD2191A-EA1A-3245-E9C8-D9D9B1F3EC56}"/>
              </a:ext>
            </a:extLst>
          </p:cNvPr>
          <p:cNvPicPr>
            <a:picLocks noChangeAspect="1"/>
          </p:cNvPicPr>
          <p:nvPr/>
        </p:nvPicPr>
        <p:blipFill>
          <a:blip r:embed="rId4"/>
          <a:stretch>
            <a:fillRect/>
          </a:stretch>
        </p:blipFill>
        <p:spPr>
          <a:xfrm>
            <a:off x="545657" y="3918275"/>
            <a:ext cx="3239492" cy="549822"/>
          </a:xfrm>
          <a:prstGeom prst="rect">
            <a:avLst/>
          </a:prstGeom>
        </p:spPr>
      </p:pic>
    </p:spTree>
    <p:extLst>
      <p:ext uri="{BB962C8B-B14F-4D97-AF65-F5344CB8AC3E}">
        <p14:creationId xmlns:p14="http://schemas.microsoft.com/office/powerpoint/2010/main" val="27344420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02DFE4E7-3565-B1F2-15C3-42EF61851DB8}"/>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59441567-8BBE-2591-97A9-D675EC7143EE}"/>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Create Data</a:t>
            </a:r>
            <a:endParaRPr dirty="0"/>
          </a:p>
        </p:txBody>
      </p:sp>
      <p:sp>
        <p:nvSpPr>
          <p:cNvPr id="222" name="Google Shape;222;p31">
            <a:extLst>
              <a:ext uri="{FF2B5EF4-FFF2-40B4-BE49-F238E27FC236}">
                <a16:creationId xmlns:a16="http://schemas.microsoft.com/office/drawing/2014/main" id="{F1FAA63A-0A63-7A20-43B2-C4CE6F3C8E66}"/>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r>
              <a:rPr lang="en-GB" dirty="0"/>
              <a:t>To </a:t>
            </a:r>
            <a:r>
              <a:rPr lang="en-GB" dirty="0">
                <a:solidFill>
                  <a:schemeClr val="accent6">
                    <a:lumMod val="75000"/>
                  </a:schemeClr>
                </a:solidFill>
              </a:rPr>
              <a:t>create nodes </a:t>
            </a:r>
            <a:r>
              <a:rPr lang="en-GB" dirty="0"/>
              <a:t>and </a:t>
            </a:r>
            <a:r>
              <a:rPr lang="en-GB" dirty="0">
                <a:solidFill>
                  <a:srgbClr val="FFC000"/>
                </a:solidFill>
              </a:rPr>
              <a:t>relationships</a:t>
            </a:r>
            <a:r>
              <a:rPr lang="en-GB" dirty="0"/>
              <a:t> in the database, use the </a:t>
            </a:r>
            <a:r>
              <a:rPr lang="en-GB" b="1" dirty="0">
                <a:solidFill>
                  <a:schemeClr val="tx2">
                    <a:lumMod val="75000"/>
                    <a:lumOff val="25000"/>
                  </a:schemeClr>
                </a:solidFill>
              </a:rPr>
              <a:t>MERGE</a:t>
            </a:r>
            <a:r>
              <a:rPr lang="en-GB" dirty="0"/>
              <a:t> clause.</a:t>
            </a:r>
          </a:p>
          <a:p>
            <a:pPr marL="114300" indent="0">
              <a:buNone/>
            </a:pPr>
            <a:endParaRPr lang="en-GB" dirty="0"/>
          </a:p>
          <a:p>
            <a:pPr marL="114300" indent="0">
              <a:buNone/>
            </a:pPr>
            <a:r>
              <a:rPr lang="en-GB" dirty="0"/>
              <a:t>The </a:t>
            </a:r>
            <a:r>
              <a:rPr lang="en-GB" dirty="0">
                <a:solidFill>
                  <a:srgbClr val="FF0000"/>
                </a:solidFill>
              </a:rPr>
              <a:t>MERGE</a:t>
            </a:r>
            <a:r>
              <a:rPr lang="en-GB" dirty="0"/>
              <a:t> clause </a:t>
            </a:r>
            <a:r>
              <a:rPr lang="en-GB" dirty="0">
                <a:solidFill>
                  <a:srgbClr val="FF0000"/>
                </a:solidFill>
              </a:rPr>
              <a:t>creates a pattern </a:t>
            </a:r>
            <a:r>
              <a:rPr lang="en-GB" dirty="0"/>
              <a:t>in the database. </a:t>
            </a:r>
          </a:p>
          <a:p>
            <a:pPr marL="114300" indent="0">
              <a:buNone/>
            </a:pPr>
            <a:endParaRPr lang="en-GB" dirty="0"/>
          </a:p>
          <a:p>
            <a:pPr marL="114300" indent="0">
              <a:buNone/>
            </a:pPr>
            <a:r>
              <a:rPr lang="en-GB" dirty="0"/>
              <a:t>MERGE will only </a:t>
            </a:r>
            <a:r>
              <a:rPr lang="en-GB" dirty="0">
                <a:solidFill>
                  <a:srgbClr val="FF0000"/>
                </a:solidFill>
              </a:rPr>
              <a:t>create</a:t>
            </a:r>
            <a:r>
              <a:rPr lang="en-GB" dirty="0"/>
              <a:t> the pattern </a:t>
            </a:r>
            <a:r>
              <a:rPr lang="en-GB" dirty="0">
                <a:solidFill>
                  <a:srgbClr val="FF0000"/>
                </a:solidFill>
              </a:rPr>
              <a:t>if it doesn’t already exist</a:t>
            </a:r>
            <a:r>
              <a:rPr lang="en-GB" dirty="0"/>
              <a:t>.</a:t>
            </a:r>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p:txBody>
      </p:sp>
      <p:pic>
        <p:nvPicPr>
          <p:cNvPr id="3" name="Picture 2" descr="A black screen with white text&#10;&#10;AI-generated content may be incorrect.">
            <a:extLst>
              <a:ext uri="{FF2B5EF4-FFF2-40B4-BE49-F238E27FC236}">
                <a16:creationId xmlns:a16="http://schemas.microsoft.com/office/drawing/2014/main" id="{C27353F6-1948-F9B0-34BF-662501059325}"/>
              </a:ext>
            </a:extLst>
          </p:cNvPr>
          <p:cNvPicPr>
            <a:picLocks noChangeAspect="1"/>
          </p:cNvPicPr>
          <p:nvPr/>
        </p:nvPicPr>
        <p:blipFill>
          <a:blip r:embed="rId3"/>
          <a:stretch>
            <a:fillRect/>
          </a:stretch>
        </p:blipFill>
        <p:spPr>
          <a:xfrm>
            <a:off x="629745" y="3031578"/>
            <a:ext cx="5283200" cy="1066800"/>
          </a:xfrm>
          <a:prstGeom prst="rect">
            <a:avLst/>
          </a:prstGeom>
        </p:spPr>
      </p:pic>
    </p:spTree>
    <p:extLst>
      <p:ext uri="{BB962C8B-B14F-4D97-AF65-F5344CB8AC3E}">
        <p14:creationId xmlns:p14="http://schemas.microsoft.com/office/powerpoint/2010/main" val="8402826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983B6583-7760-2B99-527C-E73900CC7772}"/>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E4B10D37-D022-E201-8280-9A4A7C5395FB}"/>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Create Data</a:t>
            </a:r>
            <a:endParaRPr dirty="0"/>
          </a:p>
        </p:txBody>
      </p:sp>
      <p:sp>
        <p:nvSpPr>
          <p:cNvPr id="222" name="Google Shape;222;p31">
            <a:extLst>
              <a:ext uri="{FF2B5EF4-FFF2-40B4-BE49-F238E27FC236}">
                <a16:creationId xmlns:a16="http://schemas.microsoft.com/office/drawing/2014/main" id="{E420D577-E59C-1D7B-B8BB-A31F52906A6A}"/>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r>
              <a:rPr lang="en-GB" dirty="0"/>
              <a:t>To </a:t>
            </a:r>
            <a:r>
              <a:rPr lang="en-GB" dirty="0">
                <a:solidFill>
                  <a:schemeClr val="accent6">
                    <a:lumMod val="75000"/>
                  </a:schemeClr>
                </a:solidFill>
              </a:rPr>
              <a:t>create nodes </a:t>
            </a:r>
            <a:r>
              <a:rPr lang="en-GB" dirty="0"/>
              <a:t>and </a:t>
            </a:r>
            <a:r>
              <a:rPr lang="en-GB" dirty="0">
                <a:solidFill>
                  <a:srgbClr val="FFC000"/>
                </a:solidFill>
              </a:rPr>
              <a:t>relationships</a:t>
            </a:r>
            <a:r>
              <a:rPr lang="en-GB" dirty="0"/>
              <a:t> in the database, use the </a:t>
            </a:r>
            <a:r>
              <a:rPr lang="en-GB" b="1" dirty="0">
                <a:solidFill>
                  <a:schemeClr val="tx2">
                    <a:lumMod val="75000"/>
                    <a:lumOff val="25000"/>
                  </a:schemeClr>
                </a:solidFill>
              </a:rPr>
              <a:t>MERGE</a:t>
            </a:r>
            <a:r>
              <a:rPr lang="en-GB" dirty="0"/>
              <a:t> clause.</a:t>
            </a:r>
          </a:p>
          <a:p>
            <a:pPr marL="114300" indent="0">
              <a:buNone/>
            </a:pPr>
            <a:endParaRPr lang="en-GB" dirty="0"/>
          </a:p>
          <a:p>
            <a:pPr marL="114300" indent="0">
              <a:buNone/>
            </a:pPr>
            <a:r>
              <a:rPr lang="en-GB" dirty="0"/>
              <a:t>The </a:t>
            </a:r>
            <a:r>
              <a:rPr lang="en-GB" dirty="0">
                <a:solidFill>
                  <a:srgbClr val="FF0000"/>
                </a:solidFill>
              </a:rPr>
              <a:t>MERGE</a:t>
            </a:r>
            <a:r>
              <a:rPr lang="en-GB" dirty="0"/>
              <a:t> clause </a:t>
            </a:r>
            <a:r>
              <a:rPr lang="en-GB" dirty="0">
                <a:solidFill>
                  <a:srgbClr val="FF0000"/>
                </a:solidFill>
              </a:rPr>
              <a:t>creates a pattern </a:t>
            </a:r>
            <a:r>
              <a:rPr lang="en-GB" dirty="0"/>
              <a:t>in the database. </a:t>
            </a:r>
          </a:p>
          <a:p>
            <a:pPr marL="114300" indent="0">
              <a:buNone/>
            </a:pPr>
            <a:endParaRPr lang="en-GB" dirty="0"/>
          </a:p>
          <a:p>
            <a:pPr marL="114300" indent="0">
              <a:buNone/>
            </a:pPr>
            <a:r>
              <a:rPr lang="en-GB" dirty="0"/>
              <a:t>MERGE will only </a:t>
            </a:r>
            <a:r>
              <a:rPr lang="en-GB" dirty="0">
                <a:solidFill>
                  <a:srgbClr val="FF0000"/>
                </a:solidFill>
              </a:rPr>
              <a:t>create</a:t>
            </a:r>
            <a:r>
              <a:rPr lang="en-GB" dirty="0"/>
              <a:t> the pattern </a:t>
            </a:r>
            <a:r>
              <a:rPr lang="en-GB" dirty="0">
                <a:solidFill>
                  <a:srgbClr val="FF0000"/>
                </a:solidFill>
              </a:rPr>
              <a:t>if it doesn’t already exist</a:t>
            </a:r>
            <a:r>
              <a:rPr lang="en-GB" dirty="0"/>
              <a:t>.</a:t>
            </a:r>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p:txBody>
      </p:sp>
      <p:pic>
        <p:nvPicPr>
          <p:cNvPr id="4" name="Picture 3" descr="A black screen with white text&#10;&#10;AI-generated content may be incorrect.">
            <a:extLst>
              <a:ext uri="{FF2B5EF4-FFF2-40B4-BE49-F238E27FC236}">
                <a16:creationId xmlns:a16="http://schemas.microsoft.com/office/drawing/2014/main" id="{A2973A85-8826-0185-967B-A05142FC8BAA}"/>
              </a:ext>
            </a:extLst>
          </p:cNvPr>
          <p:cNvPicPr>
            <a:picLocks noChangeAspect="1"/>
          </p:cNvPicPr>
          <p:nvPr/>
        </p:nvPicPr>
        <p:blipFill>
          <a:blip r:embed="rId3"/>
          <a:stretch>
            <a:fillRect/>
          </a:stretch>
        </p:blipFill>
        <p:spPr>
          <a:xfrm>
            <a:off x="878219" y="2902224"/>
            <a:ext cx="6236424" cy="1563449"/>
          </a:xfrm>
          <a:prstGeom prst="rect">
            <a:avLst/>
          </a:prstGeom>
        </p:spPr>
      </p:pic>
    </p:spTree>
    <p:extLst>
      <p:ext uri="{BB962C8B-B14F-4D97-AF65-F5344CB8AC3E}">
        <p14:creationId xmlns:p14="http://schemas.microsoft.com/office/powerpoint/2010/main" val="41547087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BBD67DBF-3B9F-BFD7-5FF1-96461C739365}"/>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930B1964-E116-5BFF-0893-3194A3EA1FF1}"/>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Create Data</a:t>
            </a:r>
            <a:endParaRPr dirty="0"/>
          </a:p>
        </p:txBody>
      </p:sp>
      <p:sp>
        <p:nvSpPr>
          <p:cNvPr id="222" name="Google Shape;222;p31">
            <a:extLst>
              <a:ext uri="{FF2B5EF4-FFF2-40B4-BE49-F238E27FC236}">
                <a16:creationId xmlns:a16="http://schemas.microsoft.com/office/drawing/2014/main" id="{AE690B43-D93C-6C03-A47E-3B56FA209157}"/>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r>
              <a:rPr lang="en-GB" dirty="0"/>
              <a:t>To </a:t>
            </a:r>
            <a:r>
              <a:rPr lang="en-GB" dirty="0">
                <a:solidFill>
                  <a:schemeClr val="accent6">
                    <a:lumMod val="75000"/>
                  </a:schemeClr>
                </a:solidFill>
              </a:rPr>
              <a:t>create nodes </a:t>
            </a:r>
            <a:r>
              <a:rPr lang="en-GB" dirty="0"/>
              <a:t>and </a:t>
            </a:r>
            <a:r>
              <a:rPr lang="en-GB" dirty="0">
                <a:solidFill>
                  <a:srgbClr val="FFC000"/>
                </a:solidFill>
              </a:rPr>
              <a:t>relationships</a:t>
            </a:r>
            <a:r>
              <a:rPr lang="en-GB" dirty="0"/>
              <a:t> in the database, use the </a:t>
            </a:r>
            <a:r>
              <a:rPr lang="en-GB" b="1" dirty="0">
                <a:solidFill>
                  <a:schemeClr val="tx2">
                    <a:lumMod val="75000"/>
                    <a:lumOff val="25000"/>
                  </a:schemeClr>
                </a:solidFill>
              </a:rPr>
              <a:t>MERGE</a:t>
            </a:r>
            <a:r>
              <a:rPr lang="en-GB" dirty="0"/>
              <a:t> clause.</a:t>
            </a:r>
          </a:p>
          <a:p>
            <a:pPr marL="114300" indent="0">
              <a:buNone/>
            </a:pPr>
            <a:endParaRPr lang="en-GB" dirty="0"/>
          </a:p>
          <a:p>
            <a:pPr marL="114300" indent="0">
              <a:buNone/>
            </a:pPr>
            <a:r>
              <a:rPr lang="en-GB" dirty="0"/>
              <a:t>The </a:t>
            </a:r>
            <a:r>
              <a:rPr lang="en-GB" dirty="0">
                <a:solidFill>
                  <a:srgbClr val="FF0000"/>
                </a:solidFill>
              </a:rPr>
              <a:t>MERGE</a:t>
            </a:r>
            <a:r>
              <a:rPr lang="en-GB" dirty="0"/>
              <a:t> clause </a:t>
            </a:r>
            <a:r>
              <a:rPr lang="en-GB" dirty="0">
                <a:solidFill>
                  <a:srgbClr val="FF0000"/>
                </a:solidFill>
              </a:rPr>
              <a:t>creates a pattern </a:t>
            </a:r>
            <a:r>
              <a:rPr lang="en-GB" dirty="0"/>
              <a:t>in the database. </a:t>
            </a:r>
          </a:p>
          <a:p>
            <a:pPr marL="114300" indent="0">
              <a:buNone/>
            </a:pPr>
            <a:endParaRPr lang="en-GB" dirty="0"/>
          </a:p>
          <a:p>
            <a:pPr marL="114300" indent="0">
              <a:buNone/>
            </a:pPr>
            <a:r>
              <a:rPr lang="en-GB" dirty="0"/>
              <a:t>MERGE will only </a:t>
            </a:r>
            <a:r>
              <a:rPr lang="en-GB" dirty="0">
                <a:solidFill>
                  <a:srgbClr val="FF0000"/>
                </a:solidFill>
              </a:rPr>
              <a:t>create</a:t>
            </a:r>
            <a:r>
              <a:rPr lang="en-GB" dirty="0"/>
              <a:t> the pattern </a:t>
            </a:r>
            <a:r>
              <a:rPr lang="en-GB" dirty="0">
                <a:solidFill>
                  <a:srgbClr val="FF0000"/>
                </a:solidFill>
              </a:rPr>
              <a:t>if it doesn’t already exist</a:t>
            </a:r>
            <a:r>
              <a:rPr lang="en-GB" dirty="0"/>
              <a:t>.</a:t>
            </a:r>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p:txBody>
      </p:sp>
      <p:pic>
        <p:nvPicPr>
          <p:cNvPr id="3" name="Picture 2" descr="A black background with yellow text&#10;&#10;AI-generated content may be incorrect.">
            <a:extLst>
              <a:ext uri="{FF2B5EF4-FFF2-40B4-BE49-F238E27FC236}">
                <a16:creationId xmlns:a16="http://schemas.microsoft.com/office/drawing/2014/main" id="{BE65D1CB-42FD-5810-B033-F387A4BB438E}"/>
              </a:ext>
            </a:extLst>
          </p:cNvPr>
          <p:cNvPicPr>
            <a:picLocks noChangeAspect="1"/>
          </p:cNvPicPr>
          <p:nvPr/>
        </p:nvPicPr>
        <p:blipFill>
          <a:blip r:embed="rId3"/>
          <a:stretch>
            <a:fillRect/>
          </a:stretch>
        </p:blipFill>
        <p:spPr>
          <a:xfrm>
            <a:off x="931676" y="2902225"/>
            <a:ext cx="5719987" cy="1457124"/>
          </a:xfrm>
          <a:prstGeom prst="rect">
            <a:avLst/>
          </a:prstGeom>
        </p:spPr>
      </p:pic>
    </p:spTree>
    <p:extLst>
      <p:ext uri="{BB962C8B-B14F-4D97-AF65-F5344CB8AC3E}">
        <p14:creationId xmlns:p14="http://schemas.microsoft.com/office/powerpoint/2010/main" val="6401030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BEE5A3E9-ECD4-5B4C-96A0-DB59E7DE3934}"/>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8C99FC45-99BF-12C0-3FEA-3D228C85A66D}"/>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lvl="0"/>
            <a:r>
              <a:rPr lang="en" b="1" dirty="0"/>
              <a:t>SET Property</a:t>
            </a:r>
            <a:endParaRPr dirty="0"/>
          </a:p>
        </p:txBody>
      </p:sp>
      <p:sp>
        <p:nvSpPr>
          <p:cNvPr id="222" name="Google Shape;222;p31">
            <a:extLst>
              <a:ext uri="{FF2B5EF4-FFF2-40B4-BE49-F238E27FC236}">
                <a16:creationId xmlns:a16="http://schemas.microsoft.com/office/drawing/2014/main" id="{798C211F-FD54-BF84-E58D-11DFEDA5D1FF}"/>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endParaRPr lang="en-GB" dirty="0"/>
          </a:p>
          <a:p>
            <a:pPr marL="114300" indent="0">
              <a:buNone/>
            </a:pPr>
            <a:endParaRPr lang="en-GB" dirty="0"/>
          </a:p>
          <a:p>
            <a:pPr marL="11430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p:txBody>
      </p:sp>
      <p:pic>
        <p:nvPicPr>
          <p:cNvPr id="6" name="Picture 5" descr="A screen shot of a computer&#10;&#10;AI-generated content may be incorrect.">
            <a:extLst>
              <a:ext uri="{FF2B5EF4-FFF2-40B4-BE49-F238E27FC236}">
                <a16:creationId xmlns:a16="http://schemas.microsoft.com/office/drawing/2014/main" id="{A60F73A4-2DD6-3F8F-2D78-26F2A78D824E}"/>
              </a:ext>
            </a:extLst>
          </p:cNvPr>
          <p:cNvPicPr>
            <a:picLocks noChangeAspect="1"/>
          </p:cNvPicPr>
          <p:nvPr/>
        </p:nvPicPr>
        <p:blipFill>
          <a:blip r:embed="rId3"/>
          <a:stretch>
            <a:fillRect/>
          </a:stretch>
        </p:blipFill>
        <p:spPr>
          <a:xfrm>
            <a:off x="428404" y="1388861"/>
            <a:ext cx="5164322" cy="1182889"/>
          </a:xfrm>
          <a:prstGeom prst="rect">
            <a:avLst/>
          </a:prstGeom>
        </p:spPr>
      </p:pic>
      <p:pic>
        <p:nvPicPr>
          <p:cNvPr id="8" name="Picture 7" descr="A screen shot of a computer&#10;&#10;AI-generated content may be incorrect.">
            <a:extLst>
              <a:ext uri="{FF2B5EF4-FFF2-40B4-BE49-F238E27FC236}">
                <a16:creationId xmlns:a16="http://schemas.microsoft.com/office/drawing/2014/main" id="{173314CB-5812-D8F8-667E-6E8EBCF1F4B0}"/>
              </a:ext>
            </a:extLst>
          </p:cNvPr>
          <p:cNvPicPr>
            <a:picLocks noChangeAspect="1"/>
          </p:cNvPicPr>
          <p:nvPr/>
        </p:nvPicPr>
        <p:blipFill>
          <a:blip r:embed="rId4"/>
          <a:stretch>
            <a:fillRect/>
          </a:stretch>
        </p:blipFill>
        <p:spPr>
          <a:xfrm>
            <a:off x="2256169" y="2989380"/>
            <a:ext cx="5622556" cy="1366438"/>
          </a:xfrm>
          <a:prstGeom prst="rect">
            <a:avLst/>
          </a:prstGeom>
        </p:spPr>
      </p:pic>
    </p:spTree>
    <p:extLst>
      <p:ext uri="{BB962C8B-B14F-4D97-AF65-F5344CB8AC3E}">
        <p14:creationId xmlns:p14="http://schemas.microsoft.com/office/powerpoint/2010/main" val="13298810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82C955D9-3182-554D-B26C-91E14A476B60}"/>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600C0C56-0B10-F27F-C4D4-D85341792168}"/>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UPDATE and DELETE Property</a:t>
            </a:r>
            <a:endParaRPr dirty="0"/>
          </a:p>
        </p:txBody>
      </p:sp>
      <p:sp>
        <p:nvSpPr>
          <p:cNvPr id="222" name="Google Shape;222;p31">
            <a:extLst>
              <a:ext uri="{FF2B5EF4-FFF2-40B4-BE49-F238E27FC236}">
                <a16:creationId xmlns:a16="http://schemas.microsoft.com/office/drawing/2014/main" id="{2A351662-14C2-B547-83BF-54A980A7AD22}"/>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lnSpc>
                <a:spcPct val="150000"/>
              </a:lnSpc>
              <a:buNone/>
            </a:pPr>
            <a:r>
              <a:rPr lang="en-GB" dirty="0"/>
              <a:t>We also have the option to use the </a:t>
            </a:r>
            <a:r>
              <a:rPr lang="en-GB" dirty="0">
                <a:solidFill>
                  <a:schemeClr val="accent2">
                    <a:lumMod val="75000"/>
                  </a:schemeClr>
                </a:solidFill>
              </a:rPr>
              <a:t>SET</a:t>
            </a:r>
            <a:r>
              <a:rPr lang="en-GB" dirty="0"/>
              <a:t> keyword for </a:t>
            </a:r>
            <a:r>
              <a:rPr lang="en-GB" dirty="0">
                <a:solidFill>
                  <a:schemeClr val="accent2">
                    <a:lumMod val="75000"/>
                  </a:schemeClr>
                </a:solidFill>
              </a:rPr>
              <a:t>setting</a:t>
            </a:r>
            <a:r>
              <a:rPr lang="en-GB" dirty="0"/>
              <a:t> a </a:t>
            </a:r>
            <a:r>
              <a:rPr lang="en-GB" dirty="0">
                <a:solidFill>
                  <a:schemeClr val="accent2"/>
                </a:solidFill>
              </a:rPr>
              <a:t>property value</a:t>
            </a:r>
            <a:r>
              <a:rPr lang="en-GB" dirty="0"/>
              <a:t>. In the context of particular MERGE or MATCH clause where you have defined a variable to reference the node or relationship, you can set property values.</a:t>
            </a:r>
          </a:p>
          <a:p>
            <a:pPr marL="114300" indent="0">
              <a:buNone/>
            </a:pPr>
            <a:endParaRPr lang="en-GB" dirty="0"/>
          </a:p>
          <a:p>
            <a:pPr marL="114300" indent="0">
              <a:buNone/>
            </a:pPr>
            <a:endParaRPr lang="en-GB" dirty="0"/>
          </a:p>
          <a:p>
            <a:pPr marL="114300" indent="0">
              <a:buNone/>
            </a:pPr>
            <a:endParaRPr lang="en-GB" dirty="0"/>
          </a:p>
          <a:p>
            <a:pPr marL="11430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p:txBody>
      </p:sp>
      <p:pic>
        <p:nvPicPr>
          <p:cNvPr id="4" name="Picture 3" descr="A screen shot of a computer&#10;&#10;AI-generated content may be incorrect.">
            <a:extLst>
              <a:ext uri="{FF2B5EF4-FFF2-40B4-BE49-F238E27FC236}">
                <a16:creationId xmlns:a16="http://schemas.microsoft.com/office/drawing/2014/main" id="{F21D1F16-55DD-0FB0-7584-FD83651821A0}"/>
              </a:ext>
            </a:extLst>
          </p:cNvPr>
          <p:cNvPicPr>
            <a:picLocks noChangeAspect="1"/>
          </p:cNvPicPr>
          <p:nvPr/>
        </p:nvPicPr>
        <p:blipFill>
          <a:blip r:embed="rId3"/>
          <a:stretch>
            <a:fillRect/>
          </a:stretch>
        </p:blipFill>
        <p:spPr>
          <a:xfrm>
            <a:off x="1428750" y="2902225"/>
            <a:ext cx="6286500" cy="1549400"/>
          </a:xfrm>
          <a:prstGeom prst="rect">
            <a:avLst/>
          </a:prstGeom>
        </p:spPr>
      </p:pic>
    </p:spTree>
    <p:extLst>
      <p:ext uri="{BB962C8B-B14F-4D97-AF65-F5344CB8AC3E}">
        <p14:creationId xmlns:p14="http://schemas.microsoft.com/office/powerpoint/2010/main" val="9327392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8F048-3D7E-9569-F18A-82444728EE73}"/>
              </a:ext>
            </a:extLst>
          </p:cNvPr>
          <p:cNvSpPr>
            <a:spLocks noGrp="1"/>
          </p:cNvSpPr>
          <p:nvPr>
            <p:ph type="title"/>
          </p:nvPr>
        </p:nvSpPr>
        <p:spPr>
          <a:xfrm>
            <a:off x="311700" y="132587"/>
            <a:ext cx="8520600" cy="831300"/>
          </a:xfrm>
        </p:spPr>
        <p:txBody>
          <a:bodyPr>
            <a:normAutofit/>
          </a:bodyPr>
          <a:lstStyle/>
          <a:p>
            <a:r>
              <a:rPr lang="en-GB" b="1" dirty="0"/>
              <a:t>Deleting node and relationship</a:t>
            </a:r>
            <a:endParaRPr lang="en-US" dirty="0"/>
          </a:p>
        </p:txBody>
      </p:sp>
      <p:sp>
        <p:nvSpPr>
          <p:cNvPr id="3" name="Text Placeholder 2">
            <a:extLst>
              <a:ext uri="{FF2B5EF4-FFF2-40B4-BE49-F238E27FC236}">
                <a16:creationId xmlns:a16="http://schemas.microsoft.com/office/drawing/2014/main" id="{3774134C-E605-A539-F9CA-A28AA0FA87B9}"/>
              </a:ext>
            </a:extLst>
          </p:cNvPr>
          <p:cNvSpPr>
            <a:spLocks noGrp="1"/>
          </p:cNvSpPr>
          <p:nvPr>
            <p:ph type="body" idx="1"/>
          </p:nvPr>
        </p:nvSpPr>
        <p:spPr>
          <a:xfrm>
            <a:off x="311700" y="1225225"/>
            <a:ext cx="8215612" cy="3354000"/>
          </a:xfrm>
        </p:spPr>
        <p:txBody>
          <a:bodyPr>
            <a:normAutofit/>
          </a:bodyPr>
          <a:lstStyle/>
          <a:p>
            <a:pPr marL="114300" indent="0">
              <a:lnSpc>
                <a:spcPct val="150000"/>
              </a:lnSpc>
              <a:buNone/>
            </a:pPr>
            <a:r>
              <a:rPr lang="en-GB" sz="1600" dirty="0"/>
              <a:t>You can also specify </a:t>
            </a:r>
            <a:r>
              <a:rPr lang="en-GB" sz="1600" dirty="0" err="1"/>
              <a:t>behavior</a:t>
            </a:r>
            <a:r>
              <a:rPr lang="en-GB" sz="1600" dirty="0"/>
              <a:t> at runtime that enables you to set properties when the node is created or when the node is found. We can use the ON CREATE SET or </a:t>
            </a:r>
          </a:p>
          <a:p>
            <a:pPr marL="114300" indent="0">
              <a:lnSpc>
                <a:spcPct val="150000"/>
              </a:lnSpc>
              <a:buNone/>
            </a:pPr>
            <a:r>
              <a:rPr lang="en-GB" sz="1600" dirty="0"/>
              <a:t>ON MATCH SET conditions, or the SET keywords to set any additional properties.</a:t>
            </a:r>
            <a:endParaRPr lang="en-US" sz="1600" dirty="0"/>
          </a:p>
        </p:txBody>
      </p:sp>
      <p:pic>
        <p:nvPicPr>
          <p:cNvPr id="7" name="Picture 6" descr="A black background with yellow text&#10;&#10;AI-generated content may be incorrect.">
            <a:extLst>
              <a:ext uri="{FF2B5EF4-FFF2-40B4-BE49-F238E27FC236}">
                <a16:creationId xmlns:a16="http://schemas.microsoft.com/office/drawing/2014/main" id="{9DF3DE66-B228-CEBE-10C9-40669A797227}"/>
              </a:ext>
            </a:extLst>
          </p:cNvPr>
          <p:cNvPicPr>
            <a:picLocks noChangeAspect="1"/>
          </p:cNvPicPr>
          <p:nvPr/>
        </p:nvPicPr>
        <p:blipFill>
          <a:blip r:embed="rId2"/>
          <a:stretch>
            <a:fillRect/>
          </a:stretch>
        </p:blipFill>
        <p:spPr>
          <a:xfrm>
            <a:off x="444500" y="2724587"/>
            <a:ext cx="4127500" cy="762000"/>
          </a:xfrm>
          <a:prstGeom prst="rect">
            <a:avLst/>
          </a:prstGeom>
        </p:spPr>
      </p:pic>
      <p:pic>
        <p:nvPicPr>
          <p:cNvPr id="9" name="Picture 8" descr="A computer screen shot of a computer code&#10;&#10;AI-generated content may be incorrect.">
            <a:extLst>
              <a:ext uri="{FF2B5EF4-FFF2-40B4-BE49-F238E27FC236}">
                <a16:creationId xmlns:a16="http://schemas.microsoft.com/office/drawing/2014/main" id="{43FB49CB-64C7-7C4F-A8EE-BF30801B5829}"/>
              </a:ext>
            </a:extLst>
          </p:cNvPr>
          <p:cNvPicPr>
            <a:picLocks noChangeAspect="1"/>
          </p:cNvPicPr>
          <p:nvPr/>
        </p:nvPicPr>
        <p:blipFill>
          <a:blip r:embed="rId3"/>
          <a:stretch>
            <a:fillRect/>
          </a:stretch>
        </p:blipFill>
        <p:spPr>
          <a:xfrm>
            <a:off x="2154718" y="3639065"/>
            <a:ext cx="6372594" cy="985342"/>
          </a:xfrm>
          <a:prstGeom prst="rect">
            <a:avLst/>
          </a:prstGeom>
        </p:spPr>
      </p:pic>
    </p:spTree>
    <p:extLst>
      <p:ext uri="{BB962C8B-B14F-4D97-AF65-F5344CB8AC3E}">
        <p14:creationId xmlns:p14="http://schemas.microsoft.com/office/powerpoint/2010/main" val="41242658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096368-D441-FC65-C310-47430789971D}"/>
              </a:ext>
            </a:extLst>
          </p:cNvPr>
          <p:cNvSpPr>
            <a:spLocks noGrp="1"/>
          </p:cNvSpPr>
          <p:nvPr>
            <p:ph type="title"/>
          </p:nvPr>
        </p:nvSpPr>
        <p:spPr>
          <a:xfrm>
            <a:off x="311700" y="148625"/>
            <a:ext cx="8520600" cy="831300"/>
          </a:xfrm>
        </p:spPr>
        <p:txBody>
          <a:bodyPr/>
          <a:lstStyle/>
          <a:p>
            <a:r>
              <a:rPr lang="en-GB" b="1" dirty="0"/>
              <a:t>Deleting node and relationship</a:t>
            </a:r>
            <a:endParaRPr lang="en-US" dirty="0"/>
          </a:p>
        </p:txBody>
      </p:sp>
      <p:sp>
        <p:nvSpPr>
          <p:cNvPr id="3" name="Text Placeholder 2">
            <a:extLst>
              <a:ext uri="{FF2B5EF4-FFF2-40B4-BE49-F238E27FC236}">
                <a16:creationId xmlns:a16="http://schemas.microsoft.com/office/drawing/2014/main" id="{AF67E004-8E2C-8113-05D1-BAD943F6A793}"/>
              </a:ext>
            </a:extLst>
          </p:cNvPr>
          <p:cNvSpPr>
            <a:spLocks noGrp="1"/>
          </p:cNvSpPr>
          <p:nvPr>
            <p:ph type="body" idx="1"/>
          </p:nvPr>
        </p:nvSpPr>
        <p:spPr/>
        <p:txBody>
          <a:bodyPr/>
          <a:lstStyle/>
          <a:p>
            <a:pPr marL="114300" indent="0">
              <a:buNone/>
            </a:pPr>
            <a:r>
              <a:rPr lang="en-GB" dirty="0"/>
              <a:t>Neo4j provides a feature where you cannot delete a node if it has incoming or outgoing relationships. This prevents the graph from having orphaned relationships.</a:t>
            </a:r>
            <a:endParaRPr lang="en-US" dirty="0"/>
          </a:p>
        </p:txBody>
      </p:sp>
      <p:pic>
        <p:nvPicPr>
          <p:cNvPr id="5" name="Picture 4" descr="A black background with white text&#10;&#10;AI-generated content may be incorrect.">
            <a:extLst>
              <a:ext uri="{FF2B5EF4-FFF2-40B4-BE49-F238E27FC236}">
                <a16:creationId xmlns:a16="http://schemas.microsoft.com/office/drawing/2014/main" id="{410A6A96-0D50-9974-532E-E1190222E98F}"/>
              </a:ext>
            </a:extLst>
          </p:cNvPr>
          <p:cNvPicPr>
            <a:picLocks noChangeAspect="1"/>
          </p:cNvPicPr>
          <p:nvPr/>
        </p:nvPicPr>
        <p:blipFill>
          <a:blip r:embed="rId2"/>
          <a:stretch>
            <a:fillRect/>
          </a:stretch>
        </p:blipFill>
        <p:spPr>
          <a:xfrm>
            <a:off x="451293" y="2426734"/>
            <a:ext cx="4222266" cy="805564"/>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4423B77D-5B4F-B4DC-43ED-882F1E27CA67}"/>
              </a:ext>
            </a:extLst>
          </p:cNvPr>
          <p:cNvPicPr>
            <a:picLocks noChangeAspect="1"/>
          </p:cNvPicPr>
          <p:nvPr/>
        </p:nvPicPr>
        <p:blipFill>
          <a:blip r:embed="rId3"/>
          <a:stretch>
            <a:fillRect/>
          </a:stretch>
        </p:blipFill>
        <p:spPr>
          <a:xfrm>
            <a:off x="5114019" y="3593805"/>
            <a:ext cx="3096088" cy="896236"/>
          </a:xfrm>
          <a:prstGeom prst="rect">
            <a:avLst/>
          </a:prstGeom>
        </p:spPr>
      </p:pic>
    </p:spTree>
    <p:extLst>
      <p:ext uri="{BB962C8B-B14F-4D97-AF65-F5344CB8AC3E}">
        <p14:creationId xmlns:p14="http://schemas.microsoft.com/office/powerpoint/2010/main" val="25591680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A6392-8348-24CA-31A0-FD57771B7AD5}"/>
              </a:ext>
            </a:extLst>
          </p:cNvPr>
          <p:cNvSpPr>
            <a:spLocks noGrp="1"/>
          </p:cNvSpPr>
          <p:nvPr>
            <p:ph type="title"/>
          </p:nvPr>
        </p:nvSpPr>
        <p:spPr>
          <a:xfrm>
            <a:off x="311700" y="177885"/>
            <a:ext cx="8520600" cy="831300"/>
          </a:xfrm>
        </p:spPr>
        <p:txBody>
          <a:bodyPr/>
          <a:lstStyle/>
          <a:p>
            <a:r>
              <a:rPr lang="en-US" dirty="0"/>
              <a:t>Data Model</a:t>
            </a:r>
          </a:p>
        </p:txBody>
      </p:sp>
      <p:sp>
        <p:nvSpPr>
          <p:cNvPr id="3" name="Text Placeholder 2">
            <a:extLst>
              <a:ext uri="{FF2B5EF4-FFF2-40B4-BE49-F238E27FC236}">
                <a16:creationId xmlns:a16="http://schemas.microsoft.com/office/drawing/2014/main" id="{7D71C7E8-8227-B8D9-96FB-2640C789A8D4}"/>
              </a:ext>
            </a:extLst>
          </p:cNvPr>
          <p:cNvSpPr>
            <a:spLocks noGrp="1"/>
          </p:cNvSpPr>
          <p:nvPr>
            <p:ph type="body" idx="1"/>
          </p:nvPr>
        </p:nvSpPr>
        <p:spPr/>
        <p:txBody>
          <a:bodyPr/>
          <a:lstStyle/>
          <a:p>
            <a:pPr marL="114300" indent="0">
              <a:buNone/>
            </a:pPr>
            <a:r>
              <a:rPr lang="en-US" dirty="0"/>
              <a:t>Some pivotal information can be retrieved by the following queries</a:t>
            </a:r>
          </a:p>
        </p:txBody>
      </p:sp>
      <p:pic>
        <p:nvPicPr>
          <p:cNvPr id="5" name="Picture 4">
            <a:extLst>
              <a:ext uri="{FF2B5EF4-FFF2-40B4-BE49-F238E27FC236}">
                <a16:creationId xmlns:a16="http://schemas.microsoft.com/office/drawing/2014/main" id="{8BA00EC9-ACE4-E0C4-B39A-C1F87514FE0D}"/>
              </a:ext>
            </a:extLst>
          </p:cNvPr>
          <p:cNvPicPr>
            <a:picLocks noChangeAspect="1"/>
          </p:cNvPicPr>
          <p:nvPr/>
        </p:nvPicPr>
        <p:blipFill>
          <a:blip r:embed="rId2"/>
          <a:stretch>
            <a:fillRect/>
          </a:stretch>
        </p:blipFill>
        <p:spPr>
          <a:xfrm>
            <a:off x="701166" y="2086799"/>
            <a:ext cx="3962400" cy="444500"/>
          </a:xfrm>
          <a:prstGeom prst="rect">
            <a:avLst/>
          </a:prstGeom>
        </p:spPr>
      </p:pic>
      <p:pic>
        <p:nvPicPr>
          <p:cNvPr id="7" name="Picture 6">
            <a:extLst>
              <a:ext uri="{FF2B5EF4-FFF2-40B4-BE49-F238E27FC236}">
                <a16:creationId xmlns:a16="http://schemas.microsoft.com/office/drawing/2014/main" id="{28E04B65-E426-BC60-C285-A756D07CFAFC}"/>
              </a:ext>
            </a:extLst>
          </p:cNvPr>
          <p:cNvPicPr>
            <a:picLocks noChangeAspect="1"/>
          </p:cNvPicPr>
          <p:nvPr/>
        </p:nvPicPr>
        <p:blipFill>
          <a:blip r:embed="rId3"/>
          <a:stretch>
            <a:fillRect/>
          </a:stretch>
        </p:blipFill>
        <p:spPr>
          <a:xfrm>
            <a:off x="3458633" y="2963378"/>
            <a:ext cx="4597400" cy="469900"/>
          </a:xfrm>
          <a:prstGeom prst="rect">
            <a:avLst/>
          </a:prstGeom>
        </p:spPr>
      </p:pic>
      <p:pic>
        <p:nvPicPr>
          <p:cNvPr id="9" name="Picture 8">
            <a:extLst>
              <a:ext uri="{FF2B5EF4-FFF2-40B4-BE49-F238E27FC236}">
                <a16:creationId xmlns:a16="http://schemas.microsoft.com/office/drawing/2014/main" id="{23BDBF4B-239B-C5CC-4B27-BADF0B373ECB}"/>
              </a:ext>
            </a:extLst>
          </p:cNvPr>
          <p:cNvPicPr>
            <a:picLocks noChangeAspect="1"/>
          </p:cNvPicPr>
          <p:nvPr/>
        </p:nvPicPr>
        <p:blipFill>
          <a:blip r:embed="rId4"/>
          <a:stretch>
            <a:fillRect/>
          </a:stretch>
        </p:blipFill>
        <p:spPr>
          <a:xfrm>
            <a:off x="931333" y="3865358"/>
            <a:ext cx="4191000" cy="444500"/>
          </a:xfrm>
          <a:prstGeom prst="rect">
            <a:avLst/>
          </a:prstGeom>
        </p:spPr>
      </p:pic>
    </p:spTree>
    <p:extLst>
      <p:ext uri="{BB962C8B-B14F-4D97-AF65-F5344CB8AC3E}">
        <p14:creationId xmlns:p14="http://schemas.microsoft.com/office/powerpoint/2010/main" val="25541364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48B30-F778-D6B9-7746-28F25DBEE500}"/>
              </a:ext>
            </a:extLst>
          </p:cNvPr>
          <p:cNvSpPr>
            <a:spLocks noGrp="1"/>
          </p:cNvSpPr>
          <p:nvPr>
            <p:ph type="title"/>
          </p:nvPr>
        </p:nvSpPr>
        <p:spPr>
          <a:xfrm>
            <a:off x="311700" y="148625"/>
            <a:ext cx="8520600" cy="831300"/>
          </a:xfrm>
        </p:spPr>
        <p:txBody>
          <a:bodyPr>
            <a:normAutofit/>
          </a:bodyPr>
          <a:lstStyle/>
          <a:p>
            <a:r>
              <a:rPr lang="en-GB" b="1" dirty="0"/>
              <a:t>Testing labels or patterns?</a:t>
            </a:r>
            <a:endParaRPr lang="en-US" dirty="0"/>
          </a:p>
        </p:txBody>
      </p:sp>
      <p:sp>
        <p:nvSpPr>
          <p:cNvPr id="3" name="Text Placeholder 2">
            <a:extLst>
              <a:ext uri="{FF2B5EF4-FFF2-40B4-BE49-F238E27FC236}">
                <a16:creationId xmlns:a16="http://schemas.microsoft.com/office/drawing/2014/main" id="{B267F04D-165F-D6E2-5E9C-4F9E5A804BD2}"/>
              </a:ext>
            </a:extLst>
          </p:cNvPr>
          <p:cNvSpPr>
            <a:spLocks noGrp="1"/>
          </p:cNvSpPr>
          <p:nvPr>
            <p:ph type="body" idx="1"/>
          </p:nvPr>
        </p:nvSpPr>
        <p:spPr/>
        <p:txBody>
          <a:bodyPr/>
          <a:lstStyle/>
          <a:p>
            <a:pPr marL="114300" indent="0">
              <a:buNone/>
            </a:pPr>
            <a:r>
              <a:rPr lang="en-GB" dirty="0"/>
              <a:t>Depending on your data model, it may be useful to test that a node has a label. This is particularly useful when a node may have </a:t>
            </a:r>
            <a:r>
              <a:rPr lang="en-GB" dirty="0">
                <a:solidFill>
                  <a:schemeClr val="accent2"/>
                </a:solidFill>
              </a:rPr>
              <a:t>multiple labels</a:t>
            </a:r>
            <a:r>
              <a:rPr lang="en-GB" dirty="0"/>
              <a:t>.</a:t>
            </a:r>
            <a:endParaRPr lang="en-US" dirty="0"/>
          </a:p>
        </p:txBody>
      </p:sp>
      <p:pic>
        <p:nvPicPr>
          <p:cNvPr id="5" name="Picture 4" descr="A black background with white text&#10;&#10;AI-generated content may be incorrect.">
            <a:extLst>
              <a:ext uri="{FF2B5EF4-FFF2-40B4-BE49-F238E27FC236}">
                <a16:creationId xmlns:a16="http://schemas.microsoft.com/office/drawing/2014/main" id="{887EF383-B8D9-F6E0-0336-EAAF3DCADC68}"/>
              </a:ext>
            </a:extLst>
          </p:cNvPr>
          <p:cNvPicPr>
            <a:picLocks noChangeAspect="1"/>
          </p:cNvPicPr>
          <p:nvPr/>
        </p:nvPicPr>
        <p:blipFill>
          <a:blip r:embed="rId2"/>
          <a:stretch>
            <a:fillRect/>
          </a:stretch>
        </p:blipFill>
        <p:spPr>
          <a:xfrm>
            <a:off x="635000" y="2114550"/>
            <a:ext cx="3073400" cy="1370070"/>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215CA8B5-C8B2-EED1-DE1A-511C69E30BB2}"/>
              </a:ext>
            </a:extLst>
          </p:cNvPr>
          <p:cNvPicPr>
            <a:picLocks noChangeAspect="1"/>
          </p:cNvPicPr>
          <p:nvPr/>
        </p:nvPicPr>
        <p:blipFill>
          <a:blip r:embed="rId3"/>
          <a:stretch>
            <a:fillRect/>
          </a:stretch>
        </p:blipFill>
        <p:spPr>
          <a:xfrm>
            <a:off x="3527053" y="3729920"/>
            <a:ext cx="5003113" cy="821266"/>
          </a:xfrm>
          <a:prstGeom prst="rect">
            <a:avLst/>
          </a:prstGeom>
        </p:spPr>
      </p:pic>
    </p:spTree>
    <p:extLst>
      <p:ext uri="{BB962C8B-B14F-4D97-AF65-F5344CB8AC3E}">
        <p14:creationId xmlns:p14="http://schemas.microsoft.com/office/powerpoint/2010/main" val="23280135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E5BC2-57DC-C174-7A6B-3AC89FE9F5E3}"/>
              </a:ext>
            </a:extLst>
          </p:cNvPr>
          <p:cNvSpPr>
            <a:spLocks noGrp="1"/>
          </p:cNvSpPr>
          <p:nvPr>
            <p:ph type="title"/>
          </p:nvPr>
        </p:nvSpPr>
        <p:spPr/>
        <p:txBody>
          <a:bodyPr/>
          <a:lstStyle/>
          <a:p>
            <a:r>
              <a:rPr lang="en-US" dirty="0"/>
              <a:t>Discover relation type</a:t>
            </a:r>
          </a:p>
        </p:txBody>
      </p:sp>
      <p:sp>
        <p:nvSpPr>
          <p:cNvPr id="3" name="Text Placeholder 2">
            <a:extLst>
              <a:ext uri="{FF2B5EF4-FFF2-40B4-BE49-F238E27FC236}">
                <a16:creationId xmlns:a16="http://schemas.microsoft.com/office/drawing/2014/main" id="{6647D880-B952-F4D1-35EB-B54E44E67295}"/>
              </a:ext>
            </a:extLst>
          </p:cNvPr>
          <p:cNvSpPr>
            <a:spLocks noGrp="1"/>
          </p:cNvSpPr>
          <p:nvPr>
            <p:ph type="body" idx="1"/>
          </p:nvPr>
        </p:nvSpPr>
        <p:spPr/>
        <p:txBody>
          <a:bodyPr/>
          <a:lstStyle/>
          <a:p>
            <a:pPr marL="114300" indent="0">
              <a:lnSpc>
                <a:spcPct val="150000"/>
              </a:lnSpc>
              <a:buNone/>
            </a:pPr>
            <a:r>
              <a:rPr lang="en-GB" dirty="0"/>
              <a:t>This query retrieves all Movie nodes that are related to Tom Hanks. Each row returned is a movie title and the type of relationship that Tom Hanks has to that movie. We use the type() function to return the type of the relationship, r.</a:t>
            </a:r>
            <a:endParaRPr lang="en-US" dirty="0"/>
          </a:p>
        </p:txBody>
      </p:sp>
      <p:pic>
        <p:nvPicPr>
          <p:cNvPr id="5" name="Picture 4" descr="A black background with text&#10;&#10;AI-generated content may be incorrect.">
            <a:extLst>
              <a:ext uri="{FF2B5EF4-FFF2-40B4-BE49-F238E27FC236}">
                <a16:creationId xmlns:a16="http://schemas.microsoft.com/office/drawing/2014/main" id="{001B93DE-455E-50B3-CDC7-F57BE05FBF6C}"/>
              </a:ext>
            </a:extLst>
          </p:cNvPr>
          <p:cNvPicPr>
            <a:picLocks noChangeAspect="1"/>
          </p:cNvPicPr>
          <p:nvPr/>
        </p:nvPicPr>
        <p:blipFill>
          <a:blip r:embed="rId2"/>
          <a:stretch>
            <a:fillRect/>
          </a:stretch>
        </p:blipFill>
        <p:spPr>
          <a:xfrm>
            <a:off x="1155700" y="3062817"/>
            <a:ext cx="6832600" cy="1219200"/>
          </a:xfrm>
          <a:prstGeom prst="rect">
            <a:avLst/>
          </a:prstGeom>
        </p:spPr>
      </p:pic>
    </p:spTree>
    <p:extLst>
      <p:ext uri="{BB962C8B-B14F-4D97-AF65-F5344CB8AC3E}">
        <p14:creationId xmlns:p14="http://schemas.microsoft.com/office/powerpoint/2010/main" val="22945680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28363-4BBC-28E2-7BFE-FF91F38EAC60}"/>
              </a:ext>
            </a:extLst>
          </p:cNvPr>
          <p:cNvSpPr>
            <a:spLocks noGrp="1"/>
          </p:cNvSpPr>
          <p:nvPr>
            <p:ph type="title"/>
          </p:nvPr>
        </p:nvSpPr>
        <p:spPr>
          <a:xfrm>
            <a:off x="311700" y="214325"/>
            <a:ext cx="8520600" cy="831300"/>
          </a:xfrm>
        </p:spPr>
        <p:txBody>
          <a:bodyPr/>
          <a:lstStyle/>
          <a:p>
            <a:r>
              <a:rPr lang="en-US" dirty="0"/>
              <a:t>Counts</a:t>
            </a:r>
          </a:p>
        </p:txBody>
      </p:sp>
      <p:sp>
        <p:nvSpPr>
          <p:cNvPr id="3" name="Text Placeholder 2">
            <a:extLst>
              <a:ext uri="{FF2B5EF4-FFF2-40B4-BE49-F238E27FC236}">
                <a16:creationId xmlns:a16="http://schemas.microsoft.com/office/drawing/2014/main" id="{4ADC94A2-239A-D7A2-6446-86912D4E54A1}"/>
              </a:ext>
            </a:extLst>
          </p:cNvPr>
          <p:cNvSpPr>
            <a:spLocks noGrp="1"/>
          </p:cNvSpPr>
          <p:nvPr>
            <p:ph type="body" idx="1"/>
          </p:nvPr>
        </p:nvSpPr>
        <p:spPr/>
        <p:txBody>
          <a:bodyPr>
            <a:normAutofit/>
          </a:bodyPr>
          <a:lstStyle/>
          <a:p>
            <a:pPr marL="114300" indent="0">
              <a:lnSpc>
                <a:spcPct val="150000"/>
              </a:lnSpc>
              <a:buNone/>
            </a:pPr>
            <a:r>
              <a:rPr lang="en-US" sz="1600" dirty="0"/>
              <a:t>Cypher has a count() function that you can use to perform a count of nodes, relationships, paths, rows during query processing. When you aggregate in a Cypher statement, this means that the query must process all patterns in the MATCH clause to complete the aggregation to either return results or perform the next part of the query.</a:t>
            </a:r>
          </a:p>
        </p:txBody>
      </p:sp>
      <p:pic>
        <p:nvPicPr>
          <p:cNvPr id="5" name="Picture 4" descr="A screen shot of a computer&#10;&#10;AI-generated content may be incorrect.">
            <a:extLst>
              <a:ext uri="{FF2B5EF4-FFF2-40B4-BE49-F238E27FC236}">
                <a16:creationId xmlns:a16="http://schemas.microsoft.com/office/drawing/2014/main" id="{CF852BA9-63A8-DB0E-5F8E-4C5C041F0F19}"/>
              </a:ext>
            </a:extLst>
          </p:cNvPr>
          <p:cNvPicPr>
            <a:picLocks noChangeAspect="1"/>
          </p:cNvPicPr>
          <p:nvPr/>
        </p:nvPicPr>
        <p:blipFill>
          <a:blip r:embed="rId2"/>
          <a:stretch>
            <a:fillRect/>
          </a:stretch>
        </p:blipFill>
        <p:spPr>
          <a:xfrm>
            <a:off x="1911350" y="3004425"/>
            <a:ext cx="5321300" cy="1574800"/>
          </a:xfrm>
          <a:prstGeom prst="rect">
            <a:avLst/>
          </a:prstGeom>
        </p:spPr>
      </p:pic>
    </p:spTree>
    <p:extLst>
      <p:ext uri="{BB962C8B-B14F-4D97-AF65-F5344CB8AC3E}">
        <p14:creationId xmlns:p14="http://schemas.microsoft.com/office/powerpoint/2010/main" val="34050043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64B7D-385F-BAB2-20CE-FF027F01684A}"/>
              </a:ext>
            </a:extLst>
          </p:cNvPr>
          <p:cNvSpPr>
            <a:spLocks noGrp="1"/>
          </p:cNvSpPr>
          <p:nvPr>
            <p:ph type="title"/>
          </p:nvPr>
        </p:nvSpPr>
        <p:spPr>
          <a:xfrm>
            <a:off x="311700" y="265123"/>
            <a:ext cx="8520600" cy="831300"/>
          </a:xfrm>
        </p:spPr>
        <p:txBody>
          <a:bodyPr/>
          <a:lstStyle/>
          <a:p>
            <a:r>
              <a:rPr lang="en-US" b="1" dirty="0"/>
              <a:t>Counts</a:t>
            </a:r>
            <a:r>
              <a:rPr lang="en-US" dirty="0"/>
              <a:t> and </a:t>
            </a:r>
            <a:r>
              <a:rPr lang="en-US" b="1" dirty="0"/>
              <a:t>collect</a:t>
            </a:r>
          </a:p>
        </p:txBody>
      </p:sp>
      <p:sp>
        <p:nvSpPr>
          <p:cNvPr id="3" name="Text Placeholder 2">
            <a:extLst>
              <a:ext uri="{FF2B5EF4-FFF2-40B4-BE49-F238E27FC236}">
                <a16:creationId xmlns:a16="http://schemas.microsoft.com/office/drawing/2014/main" id="{9905BCA0-F43A-B2FC-9065-3FA3535EFDA3}"/>
              </a:ext>
            </a:extLst>
          </p:cNvPr>
          <p:cNvSpPr>
            <a:spLocks noGrp="1"/>
          </p:cNvSpPr>
          <p:nvPr>
            <p:ph type="body" idx="1"/>
          </p:nvPr>
        </p:nvSpPr>
        <p:spPr/>
        <p:txBody>
          <a:bodyPr>
            <a:normAutofit lnSpcReduction="10000"/>
          </a:bodyPr>
          <a:lstStyle/>
          <a:p>
            <a:pPr marL="114300" indent="0">
              <a:buNone/>
            </a:pPr>
            <a:r>
              <a:rPr lang="en-GB" sz="1400" dirty="0">
                <a:solidFill>
                  <a:schemeClr val="tx1"/>
                </a:solidFill>
              </a:rPr>
              <a:t>Count works also by aggregating the elements of the previous variable in the returned list of elements</a:t>
            </a:r>
          </a:p>
          <a:p>
            <a:pPr marL="114300" indent="0">
              <a:buNone/>
            </a:pPr>
            <a:endParaRPr lang="en-GB" sz="1400" dirty="0">
              <a:solidFill>
                <a:schemeClr val="accent6"/>
              </a:solidFill>
            </a:endParaRPr>
          </a:p>
          <a:p>
            <a:pPr marL="114300" indent="0">
              <a:buNone/>
            </a:pPr>
            <a:r>
              <a:rPr lang="en-GB" sz="1400" dirty="0">
                <a:solidFill>
                  <a:schemeClr val="accent6"/>
                </a:solidFill>
              </a:rPr>
              <a:t>MATCH</a:t>
            </a:r>
            <a:r>
              <a:rPr lang="en-GB" sz="1400" dirty="0"/>
              <a:t> (</a:t>
            </a:r>
            <a:r>
              <a:rPr lang="en-GB" sz="1400" dirty="0" err="1"/>
              <a:t>p:</a:t>
            </a:r>
            <a:r>
              <a:rPr lang="en-GB" sz="1400" dirty="0" err="1">
                <a:solidFill>
                  <a:schemeClr val="accent2"/>
                </a:solidFill>
              </a:rPr>
              <a:t>Person</a:t>
            </a:r>
            <a:r>
              <a:rPr lang="en-GB" sz="1400" dirty="0"/>
              <a:t> {name: "Tom Hanks"})-[:</a:t>
            </a:r>
            <a:r>
              <a:rPr lang="en-GB" sz="1400" dirty="0">
                <a:solidFill>
                  <a:schemeClr val="accent2"/>
                </a:solidFill>
              </a:rPr>
              <a:t>ACTED_IN</a:t>
            </a:r>
            <a:r>
              <a:rPr lang="en-GB" sz="1400" dirty="0"/>
              <a:t>]-&gt;(</a:t>
            </a:r>
            <a:r>
              <a:rPr lang="en-GB" sz="1400" dirty="0" err="1"/>
              <a:t>m:</a:t>
            </a:r>
            <a:r>
              <a:rPr lang="en-GB" sz="1400" dirty="0" err="1">
                <a:solidFill>
                  <a:schemeClr val="accent2"/>
                </a:solidFill>
              </a:rPr>
              <a:t>Movie</a:t>
            </a:r>
            <a:r>
              <a:rPr lang="en-GB" sz="1400" dirty="0"/>
              <a:t>)&lt;-[:</a:t>
            </a:r>
            <a:r>
              <a:rPr lang="en-GB" sz="1400" dirty="0">
                <a:solidFill>
                  <a:schemeClr val="accent2"/>
                </a:solidFill>
              </a:rPr>
              <a:t>ACTED_IN</a:t>
            </a:r>
            <a:r>
              <a:rPr lang="en-GB" sz="1400" dirty="0"/>
              <a:t>]-(</a:t>
            </a:r>
            <a:r>
              <a:rPr lang="en-GB" sz="1400" dirty="0" err="1"/>
              <a:t>s:</a:t>
            </a:r>
            <a:r>
              <a:rPr lang="en-GB" sz="1400" dirty="0" err="1">
                <a:solidFill>
                  <a:schemeClr val="accent2"/>
                </a:solidFill>
              </a:rPr>
              <a:t>Person</a:t>
            </a:r>
            <a:r>
              <a:rPr lang="en-GB" sz="1400" dirty="0"/>
              <a:t>)</a:t>
            </a:r>
          </a:p>
          <a:p>
            <a:pPr marL="114300" indent="0">
              <a:buNone/>
            </a:pPr>
            <a:r>
              <a:rPr lang="en-GB" sz="1400" dirty="0">
                <a:solidFill>
                  <a:schemeClr val="accent6"/>
                </a:solidFill>
              </a:rPr>
              <a:t>WHERE</a:t>
            </a:r>
            <a:r>
              <a:rPr lang="en-GB" sz="1400" dirty="0"/>
              <a:t> s &lt;&gt; p</a:t>
            </a:r>
          </a:p>
          <a:p>
            <a:pPr marL="114300" indent="0">
              <a:buNone/>
            </a:pPr>
            <a:r>
              <a:rPr lang="en-GB" sz="1400" dirty="0">
                <a:solidFill>
                  <a:schemeClr val="accent6"/>
                </a:solidFill>
              </a:rPr>
              <a:t>RETURN</a:t>
            </a:r>
            <a:r>
              <a:rPr lang="en-GB" sz="1400" dirty="0"/>
              <a:t> </a:t>
            </a:r>
            <a:r>
              <a:rPr lang="en-GB" sz="1400" dirty="0" err="1"/>
              <a:t>s.name</a:t>
            </a:r>
            <a:r>
              <a:rPr lang="en-GB" sz="1400" dirty="0"/>
              <a:t> </a:t>
            </a:r>
            <a:r>
              <a:rPr lang="en-GB" sz="1400" dirty="0">
                <a:solidFill>
                  <a:schemeClr val="accent6"/>
                </a:solidFill>
              </a:rPr>
              <a:t>AS</a:t>
            </a:r>
            <a:r>
              <a:rPr lang="en-GB" sz="1400" dirty="0"/>
              <a:t> </a:t>
            </a:r>
            <a:r>
              <a:rPr lang="en-GB" sz="1400" dirty="0" err="1"/>
              <a:t>co_actor</a:t>
            </a:r>
            <a:r>
              <a:rPr lang="en-GB" sz="1400" dirty="0"/>
              <a:t>, count(</a:t>
            </a:r>
            <a:r>
              <a:rPr lang="en-GB" sz="1400" dirty="0">
                <a:solidFill>
                  <a:schemeClr val="accent6"/>
                </a:solidFill>
              </a:rPr>
              <a:t>DISTINCT</a:t>
            </a:r>
            <a:r>
              <a:rPr lang="en-GB" sz="1400" dirty="0"/>
              <a:t> m) </a:t>
            </a:r>
            <a:r>
              <a:rPr lang="en-GB" sz="1400" dirty="0">
                <a:solidFill>
                  <a:schemeClr val="accent6"/>
                </a:solidFill>
              </a:rPr>
              <a:t>AS</a:t>
            </a:r>
            <a:r>
              <a:rPr lang="en-GB" sz="1400" dirty="0"/>
              <a:t> </a:t>
            </a:r>
            <a:r>
              <a:rPr lang="en-GB" sz="1400" dirty="0" err="1"/>
              <a:t>times_coacted</a:t>
            </a:r>
            <a:endParaRPr lang="en-GB" sz="1400" dirty="0"/>
          </a:p>
          <a:p>
            <a:pPr marL="114300" indent="0">
              <a:buNone/>
            </a:pPr>
            <a:r>
              <a:rPr lang="en-GB" sz="1400" dirty="0">
                <a:solidFill>
                  <a:schemeClr val="accent6"/>
                </a:solidFill>
              </a:rPr>
              <a:t>ORDER BY</a:t>
            </a:r>
            <a:r>
              <a:rPr lang="en-GB" sz="1400" dirty="0"/>
              <a:t> </a:t>
            </a:r>
            <a:r>
              <a:rPr lang="en-GB" sz="1400" dirty="0" err="1"/>
              <a:t>times_coacted</a:t>
            </a:r>
            <a:r>
              <a:rPr lang="en-GB" sz="1400" dirty="0"/>
              <a:t> </a:t>
            </a:r>
            <a:r>
              <a:rPr lang="en-GB" sz="1400" dirty="0">
                <a:solidFill>
                  <a:schemeClr val="accent6"/>
                </a:solidFill>
              </a:rPr>
              <a:t>DESC</a:t>
            </a:r>
            <a:r>
              <a:rPr lang="en-GB" sz="1400" dirty="0"/>
              <a:t>, </a:t>
            </a:r>
            <a:r>
              <a:rPr lang="en-GB" sz="1400" dirty="0" err="1"/>
              <a:t>co_actor</a:t>
            </a:r>
            <a:r>
              <a:rPr lang="en-GB" sz="1400" dirty="0"/>
              <a:t>;</a:t>
            </a:r>
          </a:p>
          <a:p>
            <a:pPr marL="114300" indent="0">
              <a:buNone/>
            </a:pPr>
            <a:endParaRPr lang="en-GB" sz="1400" dirty="0">
              <a:solidFill>
                <a:schemeClr val="accent6"/>
              </a:solidFill>
            </a:endParaRPr>
          </a:p>
          <a:p>
            <a:pPr marL="114300" indent="0">
              <a:buNone/>
            </a:pPr>
            <a:r>
              <a:rPr lang="en-GB" sz="1400" dirty="0">
                <a:solidFill>
                  <a:schemeClr val="tx1"/>
                </a:solidFill>
              </a:rPr>
              <a:t>You can also get a list of the counted elements with </a:t>
            </a:r>
          </a:p>
          <a:p>
            <a:pPr marL="114300" indent="0">
              <a:buNone/>
            </a:pPr>
            <a:endParaRPr lang="en-GB" sz="1400" dirty="0">
              <a:solidFill>
                <a:schemeClr val="accent6"/>
              </a:solidFill>
            </a:endParaRPr>
          </a:p>
          <a:p>
            <a:pPr marL="114300" indent="0">
              <a:buNone/>
            </a:pPr>
            <a:endParaRPr lang="en-GB" sz="1400" dirty="0">
              <a:solidFill>
                <a:schemeClr val="accent6"/>
              </a:solidFill>
            </a:endParaRPr>
          </a:p>
          <a:p>
            <a:pPr marL="114300" indent="0">
              <a:buNone/>
            </a:pPr>
            <a:r>
              <a:rPr lang="en-GB" sz="1400" dirty="0">
                <a:solidFill>
                  <a:schemeClr val="accent6"/>
                </a:solidFill>
              </a:rPr>
              <a:t>MATCH</a:t>
            </a:r>
            <a:r>
              <a:rPr lang="en-GB" sz="1400" dirty="0"/>
              <a:t> (</a:t>
            </a:r>
            <a:r>
              <a:rPr lang="en-GB" sz="1400" dirty="0" err="1"/>
              <a:t>p:</a:t>
            </a:r>
            <a:r>
              <a:rPr lang="en-GB" sz="1400" dirty="0" err="1">
                <a:solidFill>
                  <a:schemeClr val="accent2"/>
                </a:solidFill>
              </a:rPr>
              <a:t>Person</a:t>
            </a:r>
            <a:r>
              <a:rPr lang="en-GB" sz="1400" dirty="0"/>
              <a:t> {name: "Tom Hanks"})-[:</a:t>
            </a:r>
            <a:r>
              <a:rPr lang="en-GB" sz="1400" dirty="0">
                <a:solidFill>
                  <a:schemeClr val="accent2"/>
                </a:solidFill>
              </a:rPr>
              <a:t>ACTED_IN</a:t>
            </a:r>
            <a:r>
              <a:rPr lang="en-GB" sz="1400" dirty="0"/>
              <a:t>]-&gt;(</a:t>
            </a:r>
            <a:r>
              <a:rPr lang="en-GB" sz="1400" dirty="0" err="1"/>
              <a:t>m:</a:t>
            </a:r>
            <a:r>
              <a:rPr lang="en-GB" sz="1400" dirty="0" err="1">
                <a:solidFill>
                  <a:schemeClr val="accent2"/>
                </a:solidFill>
              </a:rPr>
              <a:t>Movie</a:t>
            </a:r>
            <a:r>
              <a:rPr lang="en-GB" sz="1400" dirty="0"/>
              <a:t>)&lt;-[:</a:t>
            </a:r>
            <a:r>
              <a:rPr lang="en-GB" sz="1400" dirty="0">
                <a:solidFill>
                  <a:schemeClr val="accent2"/>
                </a:solidFill>
              </a:rPr>
              <a:t>ACTED_IN</a:t>
            </a:r>
            <a:r>
              <a:rPr lang="en-GB" sz="1400" dirty="0"/>
              <a:t>]-(</a:t>
            </a:r>
            <a:r>
              <a:rPr lang="en-GB" sz="1400" dirty="0" err="1"/>
              <a:t>s:</a:t>
            </a:r>
            <a:r>
              <a:rPr lang="en-GB" sz="1400" dirty="0" err="1">
                <a:solidFill>
                  <a:schemeClr val="accent2"/>
                </a:solidFill>
              </a:rPr>
              <a:t>Person</a:t>
            </a:r>
            <a:r>
              <a:rPr lang="en-GB" sz="1400" dirty="0"/>
              <a:t>)</a:t>
            </a:r>
          </a:p>
          <a:p>
            <a:pPr marL="114300" indent="0">
              <a:buNone/>
            </a:pPr>
            <a:r>
              <a:rPr lang="en-GB" sz="1400" dirty="0">
                <a:solidFill>
                  <a:schemeClr val="accent6"/>
                </a:solidFill>
              </a:rPr>
              <a:t>WHERE</a:t>
            </a:r>
            <a:r>
              <a:rPr lang="en-GB" sz="1400" dirty="0"/>
              <a:t> s &lt;&gt; p</a:t>
            </a:r>
          </a:p>
          <a:p>
            <a:pPr marL="114300" indent="0">
              <a:buNone/>
            </a:pPr>
            <a:r>
              <a:rPr lang="en-GB" sz="1400" dirty="0">
                <a:solidFill>
                  <a:schemeClr val="accent6"/>
                </a:solidFill>
              </a:rPr>
              <a:t>RETURN</a:t>
            </a:r>
            <a:r>
              <a:rPr lang="en-GB" sz="1400" dirty="0"/>
              <a:t> </a:t>
            </a:r>
            <a:r>
              <a:rPr lang="en-GB" sz="1400" dirty="0" err="1"/>
              <a:t>s.name</a:t>
            </a:r>
            <a:r>
              <a:rPr lang="en-GB" sz="1400" dirty="0"/>
              <a:t> </a:t>
            </a:r>
            <a:r>
              <a:rPr lang="en-GB" sz="1400" dirty="0">
                <a:solidFill>
                  <a:schemeClr val="accent6"/>
                </a:solidFill>
              </a:rPr>
              <a:t>AS</a:t>
            </a:r>
            <a:r>
              <a:rPr lang="en-GB" sz="1400" dirty="0"/>
              <a:t> </a:t>
            </a:r>
            <a:r>
              <a:rPr lang="en-GB" sz="1400" dirty="0" err="1"/>
              <a:t>co_actor</a:t>
            </a:r>
            <a:r>
              <a:rPr lang="en-GB" sz="1400" dirty="0"/>
              <a:t>, count(</a:t>
            </a:r>
            <a:r>
              <a:rPr lang="en-GB" sz="1400" dirty="0">
                <a:solidFill>
                  <a:schemeClr val="accent6"/>
                </a:solidFill>
              </a:rPr>
              <a:t>DISTINCT</a:t>
            </a:r>
            <a:r>
              <a:rPr lang="en-GB" sz="1400" dirty="0"/>
              <a:t> m) </a:t>
            </a:r>
            <a:r>
              <a:rPr lang="en-GB" sz="1400" dirty="0">
                <a:solidFill>
                  <a:schemeClr val="accent6"/>
                </a:solidFill>
              </a:rPr>
              <a:t>AS</a:t>
            </a:r>
            <a:r>
              <a:rPr lang="en-GB" sz="1400" dirty="0"/>
              <a:t> </a:t>
            </a:r>
            <a:r>
              <a:rPr lang="en-GB" sz="1400" dirty="0" err="1"/>
              <a:t>times_coacted</a:t>
            </a:r>
            <a:r>
              <a:rPr lang="en-GB" sz="1400" dirty="0"/>
              <a:t>,</a:t>
            </a:r>
          </a:p>
          <a:p>
            <a:pPr marL="114300" indent="0">
              <a:buNone/>
            </a:pPr>
            <a:r>
              <a:rPr lang="en-GB" sz="1400" dirty="0"/>
              <a:t>	collect(DISTINCT </a:t>
            </a:r>
            <a:r>
              <a:rPr lang="en-GB" sz="1400" dirty="0" err="1"/>
              <a:t>m.title</a:t>
            </a:r>
            <a:r>
              <a:rPr lang="en-GB" sz="1400" dirty="0"/>
              <a:t>) AS </a:t>
            </a:r>
            <a:r>
              <a:rPr lang="en-GB" sz="1400" dirty="0" err="1"/>
              <a:t>shared_movies</a:t>
            </a:r>
            <a:endParaRPr lang="en-GB" sz="1400" dirty="0"/>
          </a:p>
          <a:p>
            <a:pPr marL="114300" indent="0">
              <a:buNone/>
            </a:pPr>
            <a:r>
              <a:rPr lang="en-GB" sz="1400" dirty="0">
                <a:solidFill>
                  <a:schemeClr val="accent6"/>
                </a:solidFill>
              </a:rPr>
              <a:t>ORDER BY</a:t>
            </a:r>
            <a:r>
              <a:rPr lang="en-GB" sz="1400" dirty="0"/>
              <a:t> </a:t>
            </a:r>
            <a:r>
              <a:rPr lang="en-GB" sz="1400" dirty="0" err="1"/>
              <a:t>times_coacted</a:t>
            </a:r>
            <a:r>
              <a:rPr lang="en-GB" sz="1400" dirty="0"/>
              <a:t> </a:t>
            </a:r>
            <a:r>
              <a:rPr lang="en-GB" sz="1400" dirty="0">
                <a:solidFill>
                  <a:schemeClr val="accent6"/>
                </a:solidFill>
              </a:rPr>
              <a:t>DESC</a:t>
            </a:r>
            <a:r>
              <a:rPr lang="en-GB" sz="1400" dirty="0"/>
              <a:t>, </a:t>
            </a:r>
            <a:r>
              <a:rPr lang="en-GB" sz="1400" dirty="0" err="1"/>
              <a:t>co_actor</a:t>
            </a:r>
            <a:r>
              <a:rPr lang="en-GB" sz="1400" dirty="0"/>
              <a:t>;</a:t>
            </a:r>
          </a:p>
          <a:p>
            <a:pPr marL="114300" indent="0">
              <a:buNone/>
            </a:pPr>
            <a:endParaRPr lang="en-US" dirty="0"/>
          </a:p>
        </p:txBody>
      </p:sp>
    </p:spTree>
    <p:extLst>
      <p:ext uri="{BB962C8B-B14F-4D97-AF65-F5344CB8AC3E}">
        <p14:creationId xmlns:p14="http://schemas.microsoft.com/office/powerpoint/2010/main" val="85690632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010FF6-21E8-171D-28D2-31F7FBC2BE8B}"/>
              </a:ext>
            </a:extLst>
          </p:cNvPr>
          <p:cNvSpPr>
            <a:spLocks noGrp="1"/>
          </p:cNvSpPr>
          <p:nvPr>
            <p:ph type="title"/>
          </p:nvPr>
        </p:nvSpPr>
        <p:spPr>
          <a:xfrm>
            <a:off x="311700" y="148625"/>
            <a:ext cx="8520600" cy="831300"/>
          </a:xfrm>
        </p:spPr>
        <p:txBody>
          <a:bodyPr/>
          <a:lstStyle/>
          <a:p>
            <a:r>
              <a:rPr lang="en-US" dirty="0"/>
              <a:t>PROFILE</a:t>
            </a:r>
          </a:p>
        </p:txBody>
      </p:sp>
      <p:sp>
        <p:nvSpPr>
          <p:cNvPr id="3" name="Text Placeholder 2">
            <a:extLst>
              <a:ext uri="{FF2B5EF4-FFF2-40B4-BE49-F238E27FC236}">
                <a16:creationId xmlns:a16="http://schemas.microsoft.com/office/drawing/2014/main" id="{9EDAF4B1-D594-CA5B-89A3-10A9CF0BE4A3}"/>
              </a:ext>
            </a:extLst>
          </p:cNvPr>
          <p:cNvSpPr>
            <a:spLocks noGrp="1"/>
          </p:cNvSpPr>
          <p:nvPr>
            <p:ph type="body" idx="1"/>
          </p:nvPr>
        </p:nvSpPr>
        <p:spPr/>
        <p:txBody>
          <a:bodyPr/>
          <a:lstStyle/>
          <a:p>
            <a:r>
              <a:rPr lang="en-US" dirty="0"/>
              <a:t>PROFILE statement allow to understand how a query starts and then how it is processed as the nodes are traversed in the graph.</a:t>
            </a:r>
          </a:p>
        </p:txBody>
      </p:sp>
      <p:pic>
        <p:nvPicPr>
          <p:cNvPr id="5" name="Picture 4" descr="A screenshot of a computer program&#10;&#10;AI-generated content may be incorrect.">
            <a:extLst>
              <a:ext uri="{FF2B5EF4-FFF2-40B4-BE49-F238E27FC236}">
                <a16:creationId xmlns:a16="http://schemas.microsoft.com/office/drawing/2014/main" id="{A056FBB8-3652-975C-23E7-7C5B680801E4}"/>
              </a:ext>
            </a:extLst>
          </p:cNvPr>
          <p:cNvPicPr>
            <a:picLocks noChangeAspect="1"/>
          </p:cNvPicPr>
          <p:nvPr/>
        </p:nvPicPr>
        <p:blipFill>
          <a:blip r:embed="rId2"/>
          <a:stretch>
            <a:fillRect/>
          </a:stretch>
        </p:blipFill>
        <p:spPr>
          <a:xfrm>
            <a:off x="2294464" y="2237586"/>
            <a:ext cx="4128598" cy="2232813"/>
          </a:xfrm>
          <a:prstGeom prst="rect">
            <a:avLst/>
          </a:prstGeom>
        </p:spPr>
      </p:pic>
    </p:spTree>
    <p:extLst>
      <p:ext uri="{BB962C8B-B14F-4D97-AF65-F5344CB8AC3E}">
        <p14:creationId xmlns:p14="http://schemas.microsoft.com/office/powerpoint/2010/main" val="9410526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78AB3-72E1-43E5-A367-B057501B9DC1}"/>
              </a:ext>
            </a:extLst>
          </p:cNvPr>
          <p:cNvSpPr>
            <a:spLocks noGrp="1"/>
          </p:cNvSpPr>
          <p:nvPr>
            <p:ph type="title"/>
          </p:nvPr>
        </p:nvSpPr>
        <p:spPr>
          <a:xfrm>
            <a:off x="311700" y="148625"/>
            <a:ext cx="8520600" cy="831300"/>
          </a:xfrm>
        </p:spPr>
        <p:txBody>
          <a:bodyPr/>
          <a:lstStyle/>
          <a:p>
            <a:r>
              <a:rPr lang="en-US" dirty="0"/>
              <a:t>Subquery</a:t>
            </a:r>
          </a:p>
        </p:txBody>
      </p:sp>
      <p:sp>
        <p:nvSpPr>
          <p:cNvPr id="3" name="Text Placeholder 2">
            <a:extLst>
              <a:ext uri="{FF2B5EF4-FFF2-40B4-BE49-F238E27FC236}">
                <a16:creationId xmlns:a16="http://schemas.microsoft.com/office/drawing/2014/main" id="{208D98E9-8766-4C9B-A152-68266C1BD40C}"/>
              </a:ext>
            </a:extLst>
          </p:cNvPr>
          <p:cNvSpPr>
            <a:spLocks noGrp="1"/>
          </p:cNvSpPr>
          <p:nvPr>
            <p:ph type="body" idx="1"/>
          </p:nvPr>
        </p:nvSpPr>
        <p:spPr/>
        <p:txBody>
          <a:bodyPr/>
          <a:lstStyle/>
          <a:p>
            <a:pPr marL="114300" indent="0">
              <a:buNone/>
            </a:pPr>
            <a:r>
              <a:rPr lang="en-US" sz="1400" dirty="0"/>
              <a:t>When you execute a series of MATCH clauses, all nodes and relationships retrieved are in memory. If the memory requirements for a set of MATCH clauses exceed the VM configured, the query will fail.</a:t>
            </a:r>
          </a:p>
          <a:p>
            <a:endParaRPr lang="en-US" sz="1400" dirty="0"/>
          </a:p>
          <a:p>
            <a:pPr marL="114300" indent="0">
              <a:buNone/>
            </a:pPr>
            <a:r>
              <a:rPr lang="en-GB" sz="1400" dirty="0"/>
              <a:t>In a CALL clause, you specify a query that can return data from the graph or derived from the graph. A set of nodes returned in the CALL clause can be used by the enclosing query.</a:t>
            </a:r>
            <a:endParaRPr lang="en-US" sz="1400" dirty="0"/>
          </a:p>
        </p:txBody>
      </p:sp>
      <p:pic>
        <p:nvPicPr>
          <p:cNvPr id="5" name="Picture 4" descr="A computer screen shot of text&#10;&#10;AI-generated content may be incorrect.">
            <a:extLst>
              <a:ext uri="{FF2B5EF4-FFF2-40B4-BE49-F238E27FC236}">
                <a16:creationId xmlns:a16="http://schemas.microsoft.com/office/drawing/2014/main" id="{746D2EAB-226D-C11A-D846-E10D810DDB45}"/>
              </a:ext>
            </a:extLst>
          </p:cNvPr>
          <p:cNvPicPr>
            <a:picLocks noChangeAspect="1"/>
          </p:cNvPicPr>
          <p:nvPr/>
        </p:nvPicPr>
        <p:blipFill>
          <a:blip r:embed="rId2"/>
          <a:stretch>
            <a:fillRect/>
          </a:stretch>
        </p:blipFill>
        <p:spPr>
          <a:xfrm>
            <a:off x="2016124" y="2644455"/>
            <a:ext cx="5111751" cy="1934770"/>
          </a:xfrm>
          <a:prstGeom prst="rect">
            <a:avLst/>
          </a:prstGeom>
        </p:spPr>
      </p:pic>
    </p:spTree>
    <p:extLst>
      <p:ext uri="{BB962C8B-B14F-4D97-AF65-F5344CB8AC3E}">
        <p14:creationId xmlns:p14="http://schemas.microsoft.com/office/powerpoint/2010/main" val="22762680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8E5EA-3D95-9519-9AFC-259CB931F3F5}"/>
              </a:ext>
            </a:extLst>
          </p:cNvPr>
          <p:cNvSpPr>
            <a:spLocks noGrp="1"/>
          </p:cNvSpPr>
          <p:nvPr>
            <p:ph type="title"/>
          </p:nvPr>
        </p:nvSpPr>
        <p:spPr/>
        <p:txBody>
          <a:bodyPr>
            <a:normAutofit fontScale="90000"/>
          </a:bodyPr>
          <a:lstStyle/>
          <a:p>
            <a:r>
              <a:rPr lang="en-US" dirty="0"/>
              <a:t>Passing variables into a subquery</a:t>
            </a:r>
            <a:br>
              <a:rPr lang="en-US" dirty="0"/>
            </a:br>
            <a:endParaRPr lang="en-US" dirty="0"/>
          </a:p>
        </p:txBody>
      </p:sp>
      <p:sp>
        <p:nvSpPr>
          <p:cNvPr id="3" name="Text Placeholder 2">
            <a:extLst>
              <a:ext uri="{FF2B5EF4-FFF2-40B4-BE49-F238E27FC236}">
                <a16:creationId xmlns:a16="http://schemas.microsoft.com/office/drawing/2014/main" id="{96577B80-6718-EB3D-9CDB-5F1B904232AF}"/>
              </a:ext>
            </a:extLst>
          </p:cNvPr>
          <p:cNvSpPr>
            <a:spLocks noGrp="1"/>
          </p:cNvSpPr>
          <p:nvPr>
            <p:ph type="body" idx="1"/>
          </p:nvPr>
        </p:nvSpPr>
        <p:spPr/>
        <p:txBody>
          <a:bodyPr/>
          <a:lstStyle/>
          <a:p>
            <a:pPr marL="114300" indent="0">
              <a:buNone/>
            </a:pPr>
            <a:r>
              <a:rPr lang="en-GB" dirty="0"/>
              <a:t>The subquery can be executed after the initial query and the enclosing query passes a variable, m into the subquery.</a:t>
            </a:r>
            <a:endParaRPr lang="en-US" dirty="0"/>
          </a:p>
        </p:txBody>
      </p:sp>
      <p:pic>
        <p:nvPicPr>
          <p:cNvPr id="5" name="Picture 4" descr="A screen shot of a computer program&#10;&#10;AI-generated content may be incorrect.">
            <a:extLst>
              <a:ext uri="{FF2B5EF4-FFF2-40B4-BE49-F238E27FC236}">
                <a16:creationId xmlns:a16="http://schemas.microsoft.com/office/drawing/2014/main" id="{6B07B9D6-A20C-A1B7-B9C6-B11FB836A3D3}"/>
              </a:ext>
            </a:extLst>
          </p:cNvPr>
          <p:cNvPicPr>
            <a:picLocks noChangeAspect="1"/>
          </p:cNvPicPr>
          <p:nvPr/>
        </p:nvPicPr>
        <p:blipFill>
          <a:blip r:embed="rId2"/>
          <a:stretch>
            <a:fillRect/>
          </a:stretch>
        </p:blipFill>
        <p:spPr>
          <a:xfrm>
            <a:off x="2209799" y="2082046"/>
            <a:ext cx="4028017" cy="2497179"/>
          </a:xfrm>
          <a:prstGeom prst="rect">
            <a:avLst/>
          </a:prstGeom>
        </p:spPr>
      </p:pic>
    </p:spTree>
    <p:extLst>
      <p:ext uri="{BB962C8B-B14F-4D97-AF65-F5344CB8AC3E}">
        <p14:creationId xmlns:p14="http://schemas.microsoft.com/office/powerpoint/2010/main" val="28229314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69080-8645-D35A-EE32-0660120F1579}"/>
              </a:ext>
            </a:extLst>
          </p:cNvPr>
          <p:cNvSpPr>
            <a:spLocks noGrp="1"/>
          </p:cNvSpPr>
          <p:nvPr>
            <p:ph type="title"/>
          </p:nvPr>
        </p:nvSpPr>
        <p:spPr/>
        <p:txBody>
          <a:bodyPr>
            <a:normAutofit fontScale="90000"/>
          </a:bodyPr>
          <a:lstStyle/>
          <a:p>
            <a:r>
              <a:rPr lang="en-GB" b="1" dirty="0"/>
              <a:t>Ordering results</a:t>
            </a:r>
            <a:br>
              <a:rPr lang="en-GB" b="1" dirty="0"/>
            </a:br>
            <a:endParaRPr lang="en-US" dirty="0"/>
          </a:p>
        </p:txBody>
      </p:sp>
      <p:sp>
        <p:nvSpPr>
          <p:cNvPr id="3" name="Text Placeholder 2">
            <a:extLst>
              <a:ext uri="{FF2B5EF4-FFF2-40B4-BE49-F238E27FC236}">
                <a16:creationId xmlns:a16="http://schemas.microsoft.com/office/drawing/2014/main" id="{F198A39A-1582-307E-7879-C4B64312B89C}"/>
              </a:ext>
            </a:extLst>
          </p:cNvPr>
          <p:cNvSpPr>
            <a:spLocks noGrp="1"/>
          </p:cNvSpPr>
          <p:nvPr>
            <p:ph type="body" idx="1"/>
          </p:nvPr>
        </p:nvSpPr>
        <p:spPr/>
        <p:txBody>
          <a:bodyPr/>
          <a:lstStyle/>
          <a:p>
            <a:pPr marL="114300" indent="0">
              <a:buNone/>
            </a:pPr>
            <a:r>
              <a:rPr lang="en-GB" dirty="0"/>
              <a:t>Whether you return results as nodes or as properties of nodes, you can specify a property value for the ordering</a:t>
            </a:r>
          </a:p>
          <a:p>
            <a:pPr marL="114300" indent="0">
              <a:buNone/>
            </a:pPr>
            <a:endParaRPr lang="en-GB" dirty="0"/>
          </a:p>
          <a:p>
            <a:pPr marL="114300" indent="0">
              <a:buNone/>
            </a:pPr>
            <a:endParaRPr lang="en-US" dirty="0"/>
          </a:p>
        </p:txBody>
      </p:sp>
      <p:pic>
        <p:nvPicPr>
          <p:cNvPr id="5" name="Picture 4" descr="A black background with white text and numbers&#10;&#10;AI-generated content may be incorrect.">
            <a:extLst>
              <a:ext uri="{FF2B5EF4-FFF2-40B4-BE49-F238E27FC236}">
                <a16:creationId xmlns:a16="http://schemas.microsoft.com/office/drawing/2014/main" id="{949680FE-517D-3B4C-4103-98F538573777}"/>
              </a:ext>
            </a:extLst>
          </p:cNvPr>
          <p:cNvPicPr>
            <a:picLocks noChangeAspect="1"/>
          </p:cNvPicPr>
          <p:nvPr/>
        </p:nvPicPr>
        <p:blipFill>
          <a:blip r:embed="rId2"/>
          <a:stretch>
            <a:fillRect/>
          </a:stretch>
        </p:blipFill>
        <p:spPr>
          <a:xfrm>
            <a:off x="500335" y="2145701"/>
            <a:ext cx="3486921" cy="1015285"/>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3A286179-7134-1FB8-6F2D-5B8FD40D78FF}"/>
              </a:ext>
            </a:extLst>
          </p:cNvPr>
          <p:cNvPicPr>
            <a:picLocks noChangeAspect="1"/>
          </p:cNvPicPr>
          <p:nvPr/>
        </p:nvPicPr>
        <p:blipFill>
          <a:blip r:embed="rId3"/>
          <a:stretch>
            <a:fillRect/>
          </a:stretch>
        </p:blipFill>
        <p:spPr>
          <a:xfrm>
            <a:off x="4572000" y="2139395"/>
            <a:ext cx="3486921" cy="1021592"/>
          </a:xfrm>
          <a:prstGeom prst="rect">
            <a:avLst/>
          </a:prstGeom>
        </p:spPr>
      </p:pic>
      <p:pic>
        <p:nvPicPr>
          <p:cNvPr id="9" name="Picture 8" descr="A screen shot of a movie&#10;&#10;AI-generated content may be incorrect.">
            <a:extLst>
              <a:ext uri="{FF2B5EF4-FFF2-40B4-BE49-F238E27FC236}">
                <a16:creationId xmlns:a16="http://schemas.microsoft.com/office/drawing/2014/main" id="{0E8D9CB5-75E8-FF7D-0A73-C8B107F95158}"/>
              </a:ext>
            </a:extLst>
          </p:cNvPr>
          <p:cNvPicPr>
            <a:picLocks noChangeAspect="1"/>
          </p:cNvPicPr>
          <p:nvPr/>
        </p:nvPicPr>
        <p:blipFill>
          <a:blip r:embed="rId4"/>
          <a:stretch>
            <a:fillRect/>
          </a:stretch>
        </p:blipFill>
        <p:spPr>
          <a:xfrm>
            <a:off x="500335" y="3387645"/>
            <a:ext cx="3914010" cy="1191580"/>
          </a:xfrm>
          <a:prstGeom prst="rect">
            <a:avLst/>
          </a:prstGeom>
        </p:spPr>
      </p:pic>
    </p:spTree>
    <p:extLst>
      <p:ext uri="{BB962C8B-B14F-4D97-AF65-F5344CB8AC3E}">
        <p14:creationId xmlns:p14="http://schemas.microsoft.com/office/powerpoint/2010/main" val="23448160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2F982AEA-79D7-E398-EFE6-3B9526CC0ECE}"/>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D8511EEA-E017-CCC4-2F3A-6D22193B4303}"/>
              </a:ext>
            </a:extLst>
          </p:cNvPr>
          <p:cNvSpPr txBox="1">
            <a:spLocks noGrp="1"/>
          </p:cNvSpPr>
          <p:nvPr>
            <p:ph type="title"/>
          </p:nvPr>
        </p:nvSpPr>
        <p:spPr>
          <a:xfrm>
            <a:off x="228601" y="227410"/>
            <a:ext cx="7796213" cy="744140"/>
          </a:xfrm>
        </p:spPr>
        <p:txBody>
          <a:bodyPr spcFirstLastPara="1" wrap="square" lIns="91425" tIns="91425" rIns="91425" bIns="91425" anchor="ctr" anchorCtr="0">
            <a:normAutofit/>
          </a:bodyPr>
          <a:lstStyle/>
          <a:p>
            <a:pPr marL="0" lvl="0" indent="0" rtl="0">
              <a:spcBef>
                <a:spcPts val="0"/>
              </a:spcBef>
              <a:spcAft>
                <a:spcPts val="0"/>
              </a:spcAft>
              <a:buNone/>
            </a:pPr>
            <a:r>
              <a:rPr lang="en" b="1" dirty="0"/>
              <a:t>Noe4j deployments</a:t>
            </a:r>
            <a:endParaRPr lang="en-IT" dirty="0"/>
          </a:p>
        </p:txBody>
      </p:sp>
      <p:sp>
        <p:nvSpPr>
          <p:cNvPr id="222" name="Google Shape;222;p31">
            <a:extLst>
              <a:ext uri="{FF2B5EF4-FFF2-40B4-BE49-F238E27FC236}">
                <a16:creationId xmlns:a16="http://schemas.microsoft.com/office/drawing/2014/main" id="{E43BA21F-22AD-1E51-3501-B4C75A6562A5}"/>
              </a:ext>
            </a:extLst>
          </p:cNvPr>
          <p:cNvSpPr txBox="1">
            <a:spLocks noGrp="1"/>
          </p:cNvSpPr>
          <p:nvPr>
            <p:ph sz="half" idx="1"/>
          </p:nvPr>
        </p:nvSpPr>
        <p:spPr>
          <a:xfrm>
            <a:off x="239712" y="1200150"/>
            <a:ext cx="8305197" cy="3429000"/>
          </a:xfrm>
        </p:spPr>
        <p:txBody>
          <a:bodyPr spcFirstLastPara="1" wrap="square" lIns="91425" tIns="91425" rIns="91425" bIns="91425" anchor="t" anchorCtr="0">
            <a:normAutofit/>
          </a:bodyPr>
          <a:lstStyle/>
          <a:p>
            <a:pPr marL="114300" indent="0">
              <a:lnSpc>
                <a:spcPct val="90000"/>
              </a:lnSpc>
              <a:buNone/>
            </a:pPr>
            <a:r>
              <a:rPr lang="en-GB" sz="1800" dirty="0"/>
              <a:t>There are many options to use Neo4j, including a fully hosted cloud solution (</a:t>
            </a:r>
            <a:r>
              <a:rPr lang="en-GB" sz="1800" b="1" u="sng" dirty="0">
                <a:hlinkClick r:id="rId3"/>
              </a:rPr>
              <a:t>AuraDB</a:t>
            </a:r>
            <a:r>
              <a:rPr lang="en-GB" sz="1800" dirty="0"/>
              <a:t>), </a:t>
            </a:r>
            <a:r>
              <a:rPr lang="en-GB" sz="1800" b="1" dirty="0"/>
              <a:t>local installations</a:t>
            </a:r>
            <a:r>
              <a:rPr lang="en-GB" sz="1800" dirty="0"/>
              <a:t>, and </a:t>
            </a:r>
            <a:r>
              <a:rPr lang="en-GB" sz="1800" b="1" dirty="0"/>
              <a:t>Docker</a:t>
            </a:r>
            <a:r>
              <a:rPr lang="en-GB" sz="1800" dirty="0"/>
              <a:t> containers.</a:t>
            </a:r>
          </a:p>
        </p:txBody>
      </p:sp>
      <p:pic>
        <p:nvPicPr>
          <p:cNvPr id="7170" name="Picture 2" descr="The AuraDB console">
            <a:extLst>
              <a:ext uri="{FF2B5EF4-FFF2-40B4-BE49-F238E27FC236}">
                <a16:creationId xmlns:a16="http://schemas.microsoft.com/office/drawing/2014/main" id="{CD754EF7-C8CB-6D58-9027-D8D925DA40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4891" y="2986398"/>
            <a:ext cx="2658140" cy="1655907"/>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The Neo4j Desktop">
            <a:extLst>
              <a:ext uri="{FF2B5EF4-FFF2-40B4-BE49-F238E27FC236}">
                <a16:creationId xmlns:a16="http://schemas.microsoft.com/office/drawing/2014/main" id="{FEBB7873-84B1-5411-4682-E7B67FF1351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52483" y="3021737"/>
            <a:ext cx="2658140" cy="170407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CFFA7CE-76EF-1AD6-64FD-008FD460D825}"/>
              </a:ext>
            </a:extLst>
          </p:cNvPr>
          <p:cNvSpPr txBox="1"/>
          <p:nvPr/>
        </p:nvSpPr>
        <p:spPr>
          <a:xfrm>
            <a:off x="764891" y="2137919"/>
            <a:ext cx="2884562" cy="738664"/>
          </a:xfrm>
          <a:prstGeom prst="rect">
            <a:avLst/>
          </a:prstGeom>
          <a:noFill/>
        </p:spPr>
        <p:txBody>
          <a:bodyPr wrap="square">
            <a:spAutoFit/>
          </a:bodyPr>
          <a:lstStyle/>
          <a:p>
            <a:r>
              <a:rPr lang="en-GB" sz="1400" b="1" i="0" u="sng" dirty="0">
                <a:solidFill>
                  <a:srgbClr val="014063"/>
                </a:solidFill>
                <a:effectLst/>
                <a:latin typeface="Public Sans"/>
                <a:hlinkClick r:id="rId3"/>
              </a:rPr>
              <a:t>AuraDB</a:t>
            </a:r>
            <a:r>
              <a:rPr lang="en-GB" sz="1400" b="0" i="0" dirty="0">
                <a:solidFill>
                  <a:srgbClr val="09090A"/>
                </a:solidFill>
                <a:effectLst/>
                <a:latin typeface="Public Sans"/>
              </a:rPr>
              <a:t> is a fully managed cloud service that provides a Neo4j database as a service.</a:t>
            </a:r>
            <a:endParaRPr lang="en-US" sz="1400" dirty="0"/>
          </a:p>
        </p:txBody>
      </p:sp>
      <p:sp>
        <p:nvSpPr>
          <p:cNvPr id="10" name="TextBox 9">
            <a:extLst>
              <a:ext uri="{FF2B5EF4-FFF2-40B4-BE49-F238E27FC236}">
                <a16:creationId xmlns:a16="http://schemas.microsoft.com/office/drawing/2014/main" id="{6C5FBF8A-ECC3-495D-D2F6-46619097399E}"/>
              </a:ext>
            </a:extLst>
          </p:cNvPr>
          <p:cNvSpPr txBox="1"/>
          <p:nvPr/>
        </p:nvSpPr>
        <p:spPr>
          <a:xfrm>
            <a:off x="4915612" y="2121763"/>
            <a:ext cx="3558353" cy="738664"/>
          </a:xfrm>
          <a:prstGeom prst="rect">
            <a:avLst/>
          </a:prstGeom>
          <a:noFill/>
        </p:spPr>
        <p:txBody>
          <a:bodyPr wrap="square">
            <a:spAutoFit/>
          </a:bodyPr>
          <a:lstStyle/>
          <a:p>
            <a:r>
              <a:rPr lang="en-GB" sz="1400" b="0" i="0" dirty="0">
                <a:solidFill>
                  <a:srgbClr val="09090A"/>
                </a:solidFill>
                <a:effectLst/>
                <a:latin typeface="Public Sans"/>
              </a:rPr>
              <a:t>Neo4j provides a </a:t>
            </a:r>
            <a:r>
              <a:rPr lang="en-GB" sz="1400" b="1" i="0" dirty="0">
                <a:solidFill>
                  <a:srgbClr val="09090A"/>
                </a:solidFill>
                <a:effectLst/>
                <a:latin typeface="Public Sans"/>
              </a:rPr>
              <a:t>Desktop</a:t>
            </a:r>
            <a:r>
              <a:rPr lang="en-GB" sz="1400" b="0" i="0" dirty="0">
                <a:solidFill>
                  <a:srgbClr val="09090A"/>
                </a:solidFill>
                <a:effectLst/>
                <a:latin typeface="Public Sans"/>
              </a:rPr>
              <a:t> development tool that includes a local installation of Neo4j, a browser-based interface</a:t>
            </a:r>
            <a:endParaRPr lang="en-US" sz="1400" dirty="0"/>
          </a:p>
        </p:txBody>
      </p:sp>
    </p:spTree>
    <p:extLst>
      <p:ext uri="{BB962C8B-B14F-4D97-AF65-F5344CB8AC3E}">
        <p14:creationId xmlns:p14="http://schemas.microsoft.com/office/powerpoint/2010/main" val="705298422"/>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31"/>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Use MATCH to retrieve nodes</a:t>
            </a:r>
            <a:endParaRPr/>
          </a:p>
        </p:txBody>
      </p:sp>
      <p:sp>
        <p:nvSpPr>
          <p:cNvPr id="222" name="Google Shape;222;p31"/>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dirty="0">
                <a:latin typeface="Courier New"/>
                <a:ea typeface="Courier New"/>
                <a:cs typeface="Courier New"/>
                <a:sym typeface="Courier New"/>
              </a:rPr>
              <a:t>//Match all nodes</a:t>
            </a: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latin typeface="Courier New"/>
                <a:ea typeface="Courier New"/>
                <a:cs typeface="Courier New"/>
                <a:sym typeface="Courier New"/>
              </a:rPr>
              <a:t>MATCH (n) </a:t>
            </a: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latin typeface="Courier New"/>
                <a:ea typeface="Courier New"/>
                <a:cs typeface="Courier New"/>
                <a:sym typeface="Courier New"/>
              </a:rPr>
              <a:t>RETURN n;</a:t>
            </a: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latin typeface="Courier New"/>
              <a:ea typeface="Courier New"/>
              <a:cs typeface="Courier New"/>
              <a:sym typeface="Courier New"/>
            </a:endParaRPr>
          </a:p>
        </p:txBody>
      </p:sp>
      <p:pic>
        <p:nvPicPr>
          <p:cNvPr id="223" name="Google Shape;223;p31"/>
          <p:cNvPicPr preferRelativeResize="0"/>
          <p:nvPr/>
        </p:nvPicPr>
        <p:blipFill>
          <a:blip r:embed="rId3">
            <a:alphaModFix/>
          </a:blip>
          <a:stretch>
            <a:fillRect/>
          </a:stretch>
        </p:blipFill>
        <p:spPr>
          <a:xfrm>
            <a:off x="5278673" y="1237369"/>
            <a:ext cx="3343303" cy="152877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32"/>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Use MATCH to retrieve nodes</a:t>
            </a:r>
            <a:endParaRPr/>
          </a:p>
        </p:txBody>
      </p:sp>
      <p:sp>
        <p:nvSpPr>
          <p:cNvPr id="229" name="Google Shape;229;p32"/>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all nodes</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(n) </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n;</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//Match all nodes with a Person label</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MATCH (n:Person) </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RETURN n;</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p:txBody>
      </p:sp>
      <p:pic>
        <p:nvPicPr>
          <p:cNvPr id="230" name="Google Shape;230;p32"/>
          <p:cNvPicPr preferRelativeResize="0"/>
          <p:nvPr/>
        </p:nvPicPr>
        <p:blipFill>
          <a:blip r:embed="rId3">
            <a:alphaModFix/>
          </a:blip>
          <a:stretch>
            <a:fillRect/>
          </a:stretch>
        </p:blipFill>
        <p:spPr>
          <a:xfrm>
            <a:off x="5278673" y="1237369"/>
            <a:ext cx="3343303" cy="152877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33"/>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Use MATCH to retrieve nodes</a:t>
            </a:r>
            <a:endParaRPr/>
          </a:p>
        </p:txBody>
      </p:sp>
      <p:sp>
        <p:nvSpPr>
          <p:cNvPr id="236" name="Google Shape;236;p33"/>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dirty="0">
                <a:solidFill>
                  <a:srgbClr val="999999"/>
                </a:solidFill>
                <a:latin typeface="Courier New"/>
                <a:ea typeface="Courier New"/>
                <a:cs typeface="Courier New"/>
                <a:sym typeface="Courier New"/>
              </a:rPr>
              <a:t>//Match all nodes</a:t>
            </a: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999999"/>
                </a:solidFill>
                <a:latin typeface="Courier New"/>
                <a:ea typeface="Courier New"/>
                <a:cs typeface="Courier New"/>
                <a:sym typeface="Courier New"/>
              </a:rPr>
              <a:t>MATCH (n) </a:t>
            </a: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999999"/>
                </a:solidFill>
                <a:latin typeface="Courier New"/>
                <a:ea typeface="Courier New"/>
                <a:cs typeface="Courier New"/>
                <a:sym typeface="Courier New"/>
              </a:rPr>
              <a:t>RETURN n;</a:t>
            </a: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999999"/>
                </a:solidFill>
                <a:latin typeface="Courier New"/>
                <a:ea typeface="Courier New"/>
                <a:cs typeface="Courier New"/>
                <a:sym typeface="Courier New"/>
              </a:rPr>
              <a:t>//Match all nodes with a Person label</a:t>
            </a: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999999"/>
                </a:solidFill>
                <a:latin typeface="Courier New"/>
                <a:ea typeface="Courier New"/>
                <a:cs typeface="Courier New"/>
                <a:sym typeface="Courier New"/>
              </a:rPr>
              <a:t>MATCH (</a:t>
            </a:r>
            <a:r>
              <a:rPr lang="en" sz="1400" dirty="0" err="1">
                <a:solidFill>
                  <a:srgbClr val="999999"/>
                </a:solidFill>
                <a:latin typeface="Courier New"/>
                <a:ea typeface="Courier New"/>
                <a:cs typeface="Courier New"/>
                <a:sym typeface="Courier New"/>
              </a:rPr>
              <a:t>n:Person</a:t>
            </a:r>
            <a:r>
              <a:rPr lang="en" sz="1400" dirty="0">
                <a:solidFill>
                  <a:srgbClr val="999999"/>
                </a:solidFill>
                <a:latin typeface="Courier New"/>
                <a:ea typeface="Courier New"/>
                <a:cs typeface="Courier New"/>
                <a:sym typeface="Courier New"/>
              </a:rPr>
              <a:t>) </a:t>
            </a: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999999"/>
                </a:solidFill>
                <a:latin typeface="Courier New"/>
                <a:ea typeface="Courier New"/>
                <a:cs typeface="Courier New"/>
                <a:sym typeface="Courier New"/>
              </a:rPr>
              <a:t>RETURN n;</a:t>
            </a: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latin typeface="Courier New"/>
                <a:ea typeface="Courier New"/>
                <a:cs typeface="Courier New"/>
                <a:sym typeface="Courier New"/>
              </a:rPr>
              <a:t>//Match all nodes with a Person label and property name is "Tom Hanks"</a:t>
            </a: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latin typeface="Courier New"/>
                <a:ea typeface="Courier New"/>
                <a:cs typeface="Courier New"/>
                <a:sym typeface="Courier New"/>
              </a:rPr>
              <a:t>MATCH (</a:t>
            </a:r>
            <a:r>
              <a:rPr lang="en" sz="1400" dirty="0" err="1">
                <a:latin typeface="Courier New"/>
                <a:ea typeface="Courier New"/>
                <a:cs typeface="Courier New"/>
                <a:sym typeface="Courier New"/>
              </a:rPr>
              <a:t>n:Person</a:t>
            </a:r>
            <a:r>
              <a:rPr lang="en" sz="1400" dirty="0">
                <a:latin typeface="Courier New"/>
                <a:ea typeface="Courier New"/>
                <a:cs typeface="Courier New"/>
                <a:sym typeface="Courier New"/>
              </a:rPr>
              <a:t> {name: "Tom Hanks"}) </a:t>
            </a: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latin typeface="Courier New"/>
                <a:ea typeface="Courier New"/>
                <a:cs typeface="Courier New"/>
                <a:sym typeface="Courier New"/>
              </a:rPr>
              <a:t>RETURN n;</a:t>
            </a:r>
            <a:endParaRPr sz="1400" dirty="0">
              <a:latin typeface="Courier New"/>
              <a:ea typeface="Courier New"/>
              <a:cs typeface="Courier New"/>
              <a:sym typeface="Courier New"/>
            </a:endParaRPr>
          </a:p>
        </p:txBody>
      </p:sp>
      <p:pic>
        <p:nvPicPr>
          <p:cNvPr id="237" name="Google Shape;237;p33"/>
          <p:cNvPicPr preferRelativeResize="0"/>
          <p:nvPr/>
        </p:nvPicPr>
        <p:blipFill>
          <a:blip r:embed="rId3">
            <a:alphaModFix/>
          </a:blip>
          <a:stretch>
            <a:fillRect/>
          </a:stretch>
        </p:blipFill>
        <p:spPr>
          <a:xfrm>
            <a:off x="5278673" y="1237369"/>
            <a:ext cx="3343303" cy="152877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3" name="Google Shape;243;p34"/>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sz="2700"/>
              <a:t>Use MATCH and properties to retrieve nodes </a:t>
            </a:r>
            <a:endParaRPr sz="2700"/>
          </a:p>
        </p:txBody>
      </p:sp>
      <p:sp>
        <p:nvSpPr>
          <p:cNvPr id="242" name="Google Shape;242;p34"/>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a:latin typeface="Courier New"/>
                <a:ea typeface="Courier New"/>
                <a:cs typeface="Courier New"/>
                <a:sym typeface="Courier New"/>
              </a:rPr>
              <a:t>//Return nodes with label Person and name property is "Tom Hanks" - Inline</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MATCH (p:Person {name: "Tom Hanks"}) //Only works with exact matches</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RETURN p;</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6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9" name="Google Shape;249;p35"/>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sz="2700"/>
              <a:t>Use MATCH and properties to retrieve nodes </a:t>
            </a:r>
            <a:endParaRPr sz="2700"/>
          </a:p>
        </p:txBody>
      </p:sp>
      <p:sp>
        <p:nvSpPr>
          <p:cNvPr id="248" name="Google Shape;248;p35"/>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nodes with label Person and name property is "Tom Hanks" - Inline</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(p:Person {name: "Tom Hanks"}) //Only works with exact matches</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p;</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6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434343"/>
                </a:solidFill>
                <a:latin typeface="Courier New"/>
                <a:ea typeface="Courier New"/>
                <a:cs typeface="Courier New"/>
                <a:sym typeface="Courier New"/>
              </a:rPr>
              <a:t>//Return nodes with label Person and name property equals "Tom Hanks"</a:t>
            </a:r>
            <a:endParaRPr sz="1400">
              <a:solidFill>
                <a:srgbClr val="434343"/>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434343"/>
                </a:solidFill>
                <a:latin typeface="Courier New"/>
                <a:ea typeface="Courier New"/>
                <a:cs typeface="Courier New"/>
                <a:sym typeface="Courier New"/>
              </a:rPr>
              <a:t>MATCH (p:Person)</a:t>
            </a:r>
            <a:endParaRPr sz="1400">
              <a:solidFill>
                <a:srgbClr val="434343"/>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434343"/>
                </a:solidFill>
                <a:latin typeface="Courier New"/>
                <a:ea typeface="Courier New"/>
                <a:cs typeface="Courier New"/>
                <a:sym typeface="Courier New"/>
              </a:rPr>
              <a:t>WHERE p.name = "Tom Hanks"</a:t>
            </a:r>
            <a:endParaRPr sz="1400">
              <a:solidFill>
                <a:srgbClr val="434343"/>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434343"/>
                </a:solidFill>
                <a:latin typeface="Courier New"/>
                <a:ea typeface="Courier New"/>
                <a:cs typeface="Courier New"/>
                <a:sym typeface="Courier New"/>
              </a:rPr>
              <a:t>RETURN p;</a:t>
            </a:r>
            <a:endParaRPr sz="1400">
              <a:solidFill>
                <a:srgbClr val="434343"/>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6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5" name="Google Shape;255;p36"/>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sz="2700"/>
              <a:t>Use MATCH and properties to retrieve nodes </a:t>
            </a:r>
            <a:endParaRPr sz="2700"/>
          </a:p>
        </p:txBody>
      </p:sp>
      <p:sp>
        <p:nvSpPr>
          <p:cNvPr id="254" name="Google Shape;254;p36"/>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nodes with label Person and name property is "Tom Hanks" - Inline</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(p:Person {name: "Tom Hanks"}) //Only works with exact matches</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p;</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6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nodes with label Person and name property equals "Tom Hanks"</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(p:Person)</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WHERE p.name = "Tom Hanks"</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p;</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6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//Return nodes with label Movie, released property is between 1991 and 1999</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MATCH (m:Movie)</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WHERE m.released &gt; 1990 AND m.released &lt; 2000</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RETURN m;</a:t>
            </a:r>
            <a:endParaRPr sz="1400">
              <a:latin typeface="Courier New"/>
              <a:ea typeface="Courier New"/>
              <a:cs typeface="Courier New"/>
              <a:sym typeface="Courier New"/>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1" name="Google Shape;261;p37"/>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Extending the MATCH</a:t>
            </a:r>
            <a:endParaRPr/>
          </a:p>
        </p:txBody>
      </p:sp>
      <p:sp>
        <p:nvSpPr>
          <p:cNvPr id="260" name="Google Shape;260;p37"/>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sz="1400">
              <a:latin typeface="Courier New"/>
              <a:ea typeface="Courier New"/>
              <a:cs typeface="Courier New"/>
              <a:sym typeface="Courier New"/>
            </a:endParaRPr>
          </a:p>
          <a:p>
            <a:pPr marL="0" lvl="0" indent="0" algn="l" rtl="0">
              <a:spcBef>
                <a:spcPts val="1200"/>
              </a:spcBef>
              <a:spcAft>
                <a:spcPts val="0"/>
              </a:spcAft>
              <a:buNone/>
            </a:pPr>
            <a:endParaRPr sz="1400">
              <a:latin typeface="Courier New"/>
              <a:ea typeface="Courier New"/>
              <a:cs typeface="Courier New"/>
              <a:sym typeface="Courier New"/>
            </a:endParaRPr>
          </a:p>
          <a:p>
            <a:pPr marL="0" lvl="0" indent="0" algn="l" rtl="0">
              <a:spcBef>
                <a:spcPts val="1200"/>
              </a:spcBef>
              <a:spcAft>
                <a:spcPts val="1200"/>
              </a:spcAft>
              <a:buNone/>
            </a:pPr>
            <a:endParaRPr sz="1400">
              <a:latin typeface="Courier New"/>
              <a:ea typeface="Courier New"/>
              <a:cs typeface="Courier New"/>
              <a:sym typeface="Courier New"/>
            </a:endParaRPr>
          </a:p>
        </p:txBody>
      </p:sp>
      <p:pic>
        <p:nvPicPr>
          <p:cNvPr id="262" name="Google Shape;262;p37"/>
          <p:cNvPicPr preferRelativeResize="0"/>
          <p:nvPr/>
        </p:nvPicPr>
        <p:blipFill rotWithShape="1">
          <a:blip r:embed="rId3">
            <a:alphaModFix/>
          </a:blip>
          <a:srcRect t="9133" b="13335"/>
          <a:stretch/>
        </p:blipFill>
        <p:spPr>
          <a:xfrm>
            <a:off x="490550" y="1094600"/>
            <a:ext cx="8467725" cy="923050"/>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8" name="Google Shape;268;p38"/>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Extending the MATCH</a:t>
            </a:r>
            <a:endParaRPr/>
          </a:p>
        </p:txBody>
      </p:sp>
      <p:sp>
        <p:nvSpPr>
          <p:cNvPr id="267" name="Google Shape;267;p38"/>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//Find all the movies Tom Hanks acted in</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MATCH (:Person {name:"Tom Hanks"})-[:ACTED_IN]-&gt;(m:Movie)</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RETURN m.title;</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6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p:txBody>
      </p:sp>
      <p:pic>
        <p:nvPicPr>
          <p:cNvPr id="269" name="Google Shape;269;p38"/>
          <p:cNvPicPr preferRelativeResize="0"/>
          <p:nvPr/>
        </p:nvPicPr>
        <p:blipFill rotWithShape="1">
          <a:blip r:embed="rId3">
            <a:alphaModFix/>
          </a:blip>
          <a:srcRect t="9133" b="13335"/>
          <a:stretch/>
        </p:blipFill>
        <p:spPr>
          <a:xfrm>
            <a:off x="490550" y="1094600"/>
            <a:ext cx="8467725" cy="92305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5" name="Google Shape;275;p39"/>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Extending the MATCH</a:t>
            </a:r>
            <a:endParaRPr/>
          </a:p>
        </p:txBody>
      </p:sp>
      <p:sp>
        <p:nvSpPr>
          <p:cNvPr id="274" name="Google Shape;274;p39"/>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//Find all the movies Tom Hanks acted in</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(:Person {name:"Tom Hanks"})-[:ACTED_IN]-&gt;(m:Movie)</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m.title;</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6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//Find all the movies Tom Hanks directed and order by latest movie</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MATCH (:Person {name:"Tom Hanks"})-[:DIRECTED]-&gt;(m:Movie)</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RETURN m.title, m.released ORDER BY m.released DESC;</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6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p:txBody>
      </p:sp>
      <p:pic>
        <p:nvPicPr>
          <p:cNvPr id="276" name="Google Shape;276;p39"/>
          <p:cNvPicPr preferRelativeResize="0"/>
          <p:nvPr/>
        </p:nvPicPr>
        <p:blipFill rotWithShape="1">
          <a:blip r:embed="rId3">
            <a:alphaModFix/>
          </a:blip>
          <a:srcRect t="9133" b="13335"/>
          <a:stretch/>
        </p:blipFill>
        <p:spPr>
          <a:xfrm>
            <a:off x="490550" y="1094600"/>
            <a:ext cx="8467725" cy="92305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2" name="Google Shape;282;p40"/>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Extending the MATCH</a:t>
            </a:r>
            <a:endParaRPr/>
          </a:p>
        </p:txBody>
      </p:sp>
      <p:sp>
        <p:nvSpPr>
          <p:cNvPr id="281" name="Google Shape;281;p40"/>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//Find all the movies Tom Hanks acted in</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(:Person {name:"Tom Hanks"})-[:ACTED_IN]-&gt;(m:Movie)</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m.title;</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6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//Find all the movies Tom Hanks directed and order by latest movie</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(:Person {name:"Tom Hanks"})-[:DIRECTED]-&gt;(m:Movie)</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m.title, m.released ORDER BY m.released DESC;</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6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//Find all of the co-actors Tom Hanks have worked with</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MATCH (:Person {name:"Tom Hanks"})--&gt;(:Movie)&lt;-[:ACTED_IN]-(coActor:Person)</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RETURN coActor.name;</a:t>
            </a:r>
            <a:endParaRPr sz="1400">
              <a:latin typeface="Courier New"/>
              <a:ea typeface="Courier New"/>
              <a:cs typeface="Courier New"/>
              <a:sym typeface="Courier New"/>
            </a:endParaRPr>
          </a:p>
        </p:txBody>
      </p:sp>
      <p:pic>
        <p:nvPicPr>
          <p:cNvPr id="283" name="Google Shape;283;p40"/>
          <p:cNvPicPr preferRelativeResize="0"/>
          <p:nvPr/>
        </p:nvPicPr>
        <p:blipFill rotWithShape="1">
          <a:blip r:embed="rId3">
            <a:alphaModFix/>
          </a:blip>
          <a:srcRect t="9133" b="13335"/>
          <a:stretch/>
        </p:blipFill>
        <p:spPr>
          <a:xfrm>
            <a:off x="490550" y="1094600"/>
            <a:ext cx="8467725" cy="923050"/>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9" name="Google Shape;289;p41"/>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CREATE </a:t>
            </a:r>
            <a:endParaRPr/>
          </a:p>
        </p:txBody>
      </p:sp>
      <p:sp>
        <p:nvSpPr>
          <p:cNvPr id="288" name="Google Shape;288;p41"/>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a:latin typeface="Courier New"/>
                <a:ea typeface="Courier New"/>
                <a:cs typeface="Courier New"/>
                <a:sym typeface="Courier New"/>
              </a:rPr>
              <a:t>//Create a person node called "Tom Hanks"</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CREATE (p:Person {name:"Tom Hanks"});</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5" name="Google Shape;295;p42"/>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CREATE </a:t>
            </a:r>
            <a:endParaRPr/>
          </a:p>
        </p:txBody>
      </p:sp>
      <p:sp>
        <p:nvSpPr>
          <p:cNvPr id="294" name="Google Shape;294;p42"/>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dirty="0">
                <a:solidFill>
                  <a:srgbClr val="999999"/>
                </a:solidFill>
                <a:latin typeface="Courier New"/>
                <a:ea typeface="Courier New"/>
                <a:cs typeface="Courier New"/>
                <a:sym typeface="Courier New"/>
              </a:rPr>
              <a:t>//Create a person node called "Tom Hanks"</a:t>
            </a: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999999"/>
                </a:solidFill>
                <a:latin typeface="Courier New"/>
                <a:ea typeface="Courier New"/>
                <a:cs typeface="Courier New"/>
                <a:sym typeface="Courier New"/>
              </a:rPr>
              <a:t>CREATE (</a:t>
            </a:r>
            <a:r>
              <a:rPr lang="en" sz="1400" dirty="0" err="1">
                <a:solidFill>
                  <a:srgbClr val="999999"/>
                </a:solidFill>
                <a:latin typeface="Courier New"/>
                <a:ea typeface="Courier New"/>
                <a:cs typeface="Courier New"/>
                <a:sym typeface="Courier New"/>
              </a:rPr>
              <a:t>p:Person</a:t>
            </a:r>
            <a:r>
              <a:rPr lang="en" sz="1400" dirty="0">
                <a:solidFill>
                  <a:srgbClr val="999999"/>
                </a:solidFill>
                <a:latin typeface="Courier New"/>
                <a:ea typeface="Courier New"/>
                <a:cs typeface="Courier New"/>
                <a:sym typeface="Courier New"/>
              </a:rPr>
              <a:t> {</a:t>
            </a:r>
            <a:r>
              <a:rPr lang="en" sz="1400" dirty="0" err="1">
                <a:solidFill>
                  <a:srgbClr val="999999"/>
                </a:solidFill>
                <a:latin typeface="Courier New"/>
                <a:ea typeface="Courier New"/>
                <a:cs typeface="Courier New"/>
                <a:sym typeface="Courier New"/>
              </a:rPr>
              <a:t>name:"Tom</a:t>
            </a:r>
            <a:r>
              <a:rPr lang="en" sz="1400" dirty="0">
                <a:solidFill>
                  <a:srgbClr val="999999"/>
                </a:solidFill>
                <a:latin typeface="Courier New"/>
                <a:ea typeface="Courier New"/>
                <a:cs typeface="Courier New"/>
                <a:sym typeface="Courier New"/>
              </a:rPr>
              <a:t> Hanks"});</a:t>
            </a: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latin typeface="Courier New"/>
                <a:ea typeface="Courier New"/>
                <a:cs typeface="Courier New"/>
                <a:sym typeface="Courier New"/>
              </a:rPr>
              <a:t>//Create an ACTED_IN relationship between "Tom Hanks" and "Apollo 13"</a:t>
            </a: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latin typeface="Courier New"/>
                <a:ea typeface="Courier New"/>
                <a:cs typeface="Courier New"/>
                <a:sym typeface="Courier New"/>
              </a:rPr>
              <a:t>MATCH (</a:t>
            </a:r>
            <a:r>
              <a:rPr lang="en" sz="1400" dirty="0" err="1">
                <a:latin typeface="Courier New"/>
                <a:ea typeface="Courier New"/>
                <a:cs typeface="Courier New"/>
                <a:sym typeface="Courier New"/>
              </a:rPr>
              <a:t>p:Person</a:t>
            </a:r>
            <a:r>
              <a:rPr lang="en" sz="1400" dirty="0">
                <a:latin typeface="Courier New"/>
                <a:ea typeface="Courier New"/>
                <a:cs typeface="Courier New"/>
                <a:sym typeface="Courier New"/>
              </a:rPr>
              <a:t> {</a:t>
            </a:r>
            <a:r>
              <a:rPr lang="en" sz="1400" dirty="0" err="1">
                <a:latin typeface="Courier New"/>
                <a:ea typeface="Courier New"/>
                <a:cs typeface="Courier New"/>
                <a:sym typeface="Courier New"/>
              </a:rPr>
              <a:t>name:"Tom</a:t>
            </a:r>
            <a:r>
              <a:rPr lang="en" sz="1400" dirty="0">
                <a:latin typeface="Courier New"/>
                <a:ea typeface="Courier New"/>
                <a:cs typeface="Courier New"/>
                <a:sym typeface="Courier New"/>
              </a:rPr>
              <a:t> Hanks"}), (</a:t>
            </a:r>
            <a:r>
              <a:rPr lang="en" sz="1400" dirty="0" err="1">
                <a:latin typeface="Courier New"/>
                <a:ea typeface="Courier New"/>
                <a:cs typeface="Courier New"/>
                <a:sym typeface="Courier New"/>
              </a:rPr>
              <a:t>m:Movie</a:t>
            </a:r>
            <a:r>
              <a:rPr lang="en" sz="1400" dirty="0">
                <a:latin typeface="Courier New"/>
                <a:ea typeface="Courier New"/>
                <a:cs typeface="Courier New"/>
                <a:sym typeface="Courier New"/>
              </a:rPr>
              <a:t> {</a:t>
            </a:r>
            <a:r>
              <a:rPr lang="en" sz="1400" dirty="0" err="1">
                <a:latin typeface="Courier New"/>
                <a:ea typeface="Courier New"/>
                <a:cs typeface="Courier New"/>
                <a:sym typeface="Courier New"/>
              </a:rPr>
              <a:t>title:"Apollo</a:t>
            </a:r>
            <a:r>
              <a:rPr lang="en" sz="1400" dirty="0">
                <a:latin typeface="Courier New"/>
                <a:ea typeface="Courier New"/>
                <a:cs typeface="Courier New"/>
                <a:sym typeface="Courier New"/>
              </a:rPr>
              <a:t> 13"})</a:t>
            </a: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latin typeface="Courier New"/>
                <a:ea typeface="Courier New"/>
                <a:cs typeface="Courier New"/>
                <a:sym typeface="Courier New"/>
              </a:rPr>
              <a:t>CREATE (p)-[:ACTED_IN]-&gt;(m);</a:t>
            </a: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latin typeface="Courier New"/>
              <a:ea typeface="Courier New"/>
              <a:cs typeface="Courier New"/>
              <a:sym typeface="Courier New"/>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1" name="Google Shape;301;p43"/>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CREATE </a:t>
            </a:r>
            <a:endParaRPr/>
          </a:p>
        </p:txBody>
      </p:sp>
      <p:sp>
        <p:nvSpPr>
          <p:cNvPr id="300" name="Google Shape;300;p43"/>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//Create a person node called "Tom Hanks"</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CREATE (p:Person {name:"Tom Hanks"});</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//Create an ACTED_IN relationship between "Tom Hanks" and "Apollo 13"</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(p:Person {name:"Tom Hanks"}), (m:Movie {title:"Apollo 13"})</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CREATE (p)-[:ACTED_IN]-&gt;(m);</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//Create the pattern of "Tom Hanks" ACTED_IN "Apollo 13"</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434343"/>
                </a:solidFill>
                <a:latin typeface="Courier New"/>
                <a:ea typeface="Courier New"/>
                <a:cs typeface="Courier New"/>
                <a:sym typeface="Courier New"/>
              </a:rPr>
              <a:t>//This will create the entire pattern, nodes and all!</a:t>
            </a:r>
            <a:endParaRPr sz="1400">
              <a:solidFill>
                <a:srgbClr val="434343"/>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CREATE (:Person {name:"Tom Hanks")-[:ACTED_IN]-&gt;(:Movie {title:"Apollo 13});</a:t>
            </a:r>
            <a:endParaRPr sz="1400">
              <a:latin typeface="Courier New"/>
              <a:ea typeface="Courier New"/>
              <a:cs typeface="Courier New"/>
              <a:sym typeface="Courier New"/>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720F6-7BCE-840B-57E7-65041007BE5E}"/>
              </a:ext>
            </a:extLst>
          </p:cNvPr>
          <p:cNvSpPr>
            <a:spLocks noGrp="1"/>
          </p:cNvSpPr>
          <p:nvPr>
            <p:ph type="title"/>
          </p:nvPr>
        </p:nvSpPr>
        <p:spPr/>
        <p:txBody>
          <a:bodyPr/>
          <a:lstStyle/>
          <a:p>
            <a:r>
              <a:rPr lang="en-US" dirty="0"/>
              <a:t>1 Hops of distance</a:t>
            </a:r>
          </a:p>
        </p:txBody>
      </p:sp>
      <p:sp>
        <p:nvSpPr>
          <p:cNvPr id="3" name="Text Placeholder 2">
            <a:extLst>
              <a:ext uri="{FF2B5EF4-FFF2-40B4-BE49-F238E27FC236}">
                <a16:creationId xmlns:a16="http://schemas.microsoft.com/office/drawing/2014/main" id="{E8D44A2E-E73C-70F7-60DE-BA7857121425}"/>
              </a:ext>
            </a:extLst>
          </p:cNvPr>
          <p:cNvSpPr>
            <a:spLocks noGrp="1"/>
          </p:cNvSpPr>
          <p:nvPr>
            <p:ph type="body" idx="1"/>
          </p:nvPr>
        </p:nvSpPr>
        <p:spPr/>
        <p:txBody>
          <a:bodyPr/>
          <a:lstStyle/>
          <a:p>
            <a:pPr marL="114300" indent="0">
              <a:buNone/>
            </a:pPr>
            <a:r>
              <a:rPr lang="en-US" dirty="0"/>
              <a:t>“Find the shortest path between two actors”</a:t>
            </a:r>
          </a:p>
          <a:p>
            <a:pPr marL="114300" indent="0">
              <a:buNone/>
            </a:pPr>
            <a:endParaRPr lang="en-US" dirty="0"/>
          </a:p>
          <a:p>
            <a:pPr marL="114300" indent="0">
              <a:buNone/>
            </a:pPr>
            <a:endParaRPr lang="en-US" dirty="0">
              <a:latin typeface="Courier New" panose="02070309020205020404" pitchFamily="49" charset="0"/>
              <a:cs typeface="Courier New" panose="02070309020205020404" pitchFamily="49" charset="0"/>
            </a:endParaRPr>
          </a:p>
          <a:p>
            <a:pPr marL="114300" indent="0">
              <a:buNone/>
            </a:pPr>
            <a:r>
              <a:rPr lang="en-US" dirty="0">
                <a:latin typeface="Courier New" panose="02070309020205020404" pitchFamily="49" charset="0"/>
                <a:cs typeface="Courier New" panose="02070309020205020404" pitchFamily="49" charset="0"/>
              </a:rPr>
              <a:t>MATCH path = </a:t>
            </a:r>
            <a:r>
              <a:rPr lang="en-US" dirty="0" err="1">
                <a:latin typeface="Courier New" panose="02070309020205020404" pitchFamily="49" charset="0"/>
                <a:cs typeface="Courier New" panose="02070309020205020404" pitchFamily="49" charset="0"/>
              </a:rPr>
              <a:t>shortestPath</a:t>
            </a:r>
            <a:r>
              <a:rPr lang="en-US" dirty="0">
                <a:latin typeface="Courier New" panose="02070309020205020404" pitchFamily="49" charset="0"/>
                <a:cs typeface="Courier New" panose="02070309020205020404" pitchFamily="49" charset="0"/>
              </a:rPr>
              <a:t>(</a:t>
            </a:r>
          </a:p>
          <a:p>
            <a:pPr marL="11430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a:Person</a:t>
            </a:r>
            <a:r>
              <a:rPr lang="en-US" dirty="0">
                <a:latin typeface="Courier New" panose="02070309020205020404" pitchFamily="49" charset="0"/>
                <a:cs typeface="Courier New" panose="02070309020205020404" pitchFamily="49" charset="0"/>
              </a:rPr>
              <a:t> {name: 'Keanu Reeves'})-[*]-(</a:t>
            </a:r>
            <a:r>
              <a:rPr lang="en-US" dirty="0" err="1">
                <a:latin typeface="Courier New" panose="02070309020205020404" pitchFamily="49" charset="0"/>
                <a:cs typeface="Courier New" panose="02070309020205020404" pitchFamily="49" charset="0"/>
              </a:rPr>
              <a:t>b:Person</a:t>
            </a:r>
            <a:r>
              <a:rPr lang="en-US" dirty="0">
                <a:latin typeface="Courier New" panose="02070309020205020404" pitchFamily="49" charset="0"/>
                <a:cs typeface="Courier New" panose="02070309020205020404" pitchFamily="49" charset="0"/>
              </a:rPr>
              <a:t> {name: 'Tom Hanks'})</a:t>
            </a:r>
          </a:p>
          <a:p>
            <a:pPr marL="114300" indent="0">
              <a:buNone/>
            </a:pPr>
            <a:r>
              <a:rPr lang="en-US" dirty="0">
                <a:latin typeface="Courier New" panose="02070309020205020404" pitchFamily="49" charset="0"/>
                <a:cs typeface="Courier New" panose="02070309020205020404" pitchFamily="49" charset="0"/>
              </a:rPr>
              <a:t>)</a:t>
            </a:r>
          </a:p>
          <a:p>
            <a:pPr marL="114300" indent="0">
              <a:buNone/>
            </a:pPr>
            <a:r>
              <a:rPr lang="en-US" dirty="0">
                <a:latin typeface="Courier New" panose="02070309020205020404" pitchFamily="49" charset="0"/>
                <a:cs typeface="Courier New" panose="02070309020205020404" pitchFamily="49" charset="0"/>
              </a:rPr>
              <a:t>RETURN path;</a:t>
            </a:r>
          </a:p>
        </p:txBody>
      </p:sp>
    </p:spTree>
    <p:extLst>
      <p:ext uri="{BB962C8B-B14F-4D97-AF65-F5344CB8AC3E}">
        <p14:creationId xmlns:p14="http://schemas.microsoft.com/office/powerpoint/2010/main" val="298302733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3D967-1A1B-A21E-2D4E-7280595B9A1F}"/>
              </a:ext>
            </a:extLst>
          </p:cNvPr>
          <p:cNvSpPr>
            <a:spLocks noGrp="1"/>
          </p:cNvSpPr>
          <p:nvPr>
            <p:ph type="title"/>
          </p:nvPr>
        </p:nvSpPr>
        <p:spPr/>
        <p:txBody>
          <a:bodyPr/>
          <a:lstStyle/>
          <a:p>
            <a:r>
              <a:rPr lang="en-US" dirty="0"/>
              <a:t>2 Hops of distance</a:t>
            </a:r>
          </a:p>
        </p:txBody>
      </p:sp>
      <p:sp>
        <p:nvSpPr>
          <p:cNvPr id="3" name="Text Placeholder 2">
            <a:extLst>
              <a:ext uri="{FF2B5EF4-FFF2-40B4-BE49-F238E27FC236}">
                <a16:creationId xmlns:a16="http://schemas.microsoft.com/office/drawing/2014/main" id="{F26B832D-C0A1-3D59-EE72-80DD6C7263AB}"/>
              </a:ext>
            </a:extLst>
          </p:cNvPr>
          <p:cNvSpPr>
            <a:spLocks noGrp="1"/>
          </p:cNvSpPr>
          <p:nvPr>
            <p:ph type="body" idx="1"/>
          </p:nvPr>
        </p:nvSpPr>
        <p:spPr/>
        <p:txBody>
          <a:bodyPr/>
          <a:lstStyle/>
          <a:p>
            <a:pPr marL="114300" indent="0">
              <a:buNone/>
            </a:pPr>
            <a:r>
              <a:rPr lang="en-US" dirty="0"/>
              <a:t>“Find the path between Tom Hanks and co-actors in 2 hops”</a:t>
            </a:r>
          </a:p>
          <a:p>
            <a:pPr marL="114300" indent="0">
              <a:buNone/>
            </a:pPr>
            <a:endParaRPr lang="en-US" dirty="0"/>
          </a:p>
          <a:p>
            <a:pPr marL="114300" indent="0">
              <a:buNone/>
            </a:pPr>
            <a:r>
              <a:rPr lang="en-US" dirty="0">
                <a:latin typeface="Courier New" panose="02070309020205020404" pitchFamily="49" charset="0"/>
                <a:cs typeface="Courier New" panose="02070309020205020404" pitchFamily="49" charset="0"/>
              </a:rPr>
              <a:t>MATCH path =</a:t>
            </a:r>
          </a:p>
          <a:p>
            <a:pPr marL="11430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tom:Person</a:t>
            </a:r>
            <a:r>
              <a:rPr lang="en-US" dirty="0">
                <a:latin typeface="Courier New" panose="02070309020205020404" pitchFamily="49" charset="0"/>
                <a:cs typeface="Courier New" panose="02070309020205020404" pitchFamily="49" charset="0"/>
              </a:rPr>
              <a:t> {name: 'Tom Hanks'})-[:ACTED_IN]-&gt;(:Movie)&lt;-[:ACTED_IN]-</a:t>
            </a:r>
          </a:p>
          <a:p>
            <a:pPr marL="114300" indent="0">
              <a:buNone/>
            </a:pPr>
            <a:r>
              <a:rPr lang="en-US" dirty="0">
                <a:latin typeface="Courier New" panose="02070309020205020404" pitchFamily="49" charset="0"/>
                <a:cs typeface="Courier New" panose="02070309020205020404" pitchFamily="49" charset="0"/>
              </a:rPr>
              <a:t>  (:Person)-[:ACTED_IN]-&gt;(:Movie)&lt;-[:ACTED_IN]-(</a:t>
            </a:r>
            <a:r>
              <a:rPr lang="en-US" dirty="0" err="1">
                <a:latin typeface="Courier New" panose="02070309020205020404" pitchFamily="49" charset="0"/>
                <a:cs typeface="Courier New" panose="02070309020205020404" pitchFamily="49" charset="0"/>
              </a:rPr>
              <a:t>candidate:Person</a:t>
            </a:r>
            <a:r>
              <a:rPr lang="en-US" dirty="0">
                <a:latin typeface="Courier New" panose="02070309020205020404" pitchFamily="49" charset="0"/>
                <a:cs typeface="Courier New" panose="02070309020205020404" pitchFamily="49" charset="0"/>
              </a:rPr>
              <a:t>)</a:t>
            </a:r>
          </a:p>
          <a:p>
            <a:pPr marL="114300" indent="0">
              <a:buNone/>
            </a:pPr>
            <a:r>
              <a:rPr lang="en-US" dirty="0">
                <a:latin typeface="Courier New" panose="02070309020205020404" pitchFamily="49" charset="0"/>
                <a:cs typeface="Courier New" panose="02070309020205020404" pitchFamily="49" charset="0"/>
              </a:rPr>
              <a:t>WHERE candidate &lt;&gt; tom</a:t>
            </a:r>
          </a:p>
          <a:p>
            <a:pPr marL="114300" indent="0">
              <a:buNone/>
            </a:pPr>
            <a:r>
              <a:rPr lang="en-US" dirty="0">
                <a:latin typeface="Courier New" panose="02070309020205020404" pitchFamily="49" charset="0"/>
                <a:cs typeface="Courier New" panose="02070309020205020404" pitchFamily="49" charset="0"/>
              </a:rPr>
              <a:t>RETURN path</a:t>
            </a:r>
          </a:p>
          <a:p>
            <a:pPr marL="114300" indent="0">
              <a:buNone/>
            </a:pPr>
            <a:r>
              <a:rPr lang="en-US" dirty="0">
                <a:latin typeface="Courier New" panose="02070309020205020404" pitchFamily="49" charset="0"/>
                <a:cs typeface="Courier New" panose="02070309020205020404" pitchFamily="49" charset="0"/>
              </a:rPr>
              <a:t>LIMIT 20;</a:t>
            </a:r>
          </a:p>
        </p:txBody>
      </p:sp>
    </p:spTree>
    <p:extLst>
      <p:ext uri="{BB962C8B-B14F-4D97-AF65-F5344CB8AC3E}">
        <p14:creationId xmlns:p14="http://schemas.microsoft.com/office/powerpoint/2010/main" val="377888963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lend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blipFill dpi="0" rotWithShape="0">
          <a:blip xmlns:r="http://schemas.openxmlformats.org/officeDocument/2006/relationships" r:embed="rId1"/>
          <a:srcRect/>
          <a:tile tx="0" ty="0" sx="100000" sy="100000" flip="none" algn="tl"/>
        </a:blipFill>
        <a:ln w="9525" cap="flat" cmpd="sng" algn="ctr">
          <a:solidFill>
            <a:schemeClr val="tx1"/>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CA"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blipFill dpi="0" rotWithShape="0">
          <a:blip xmlns:r="http://schemas.openxmlformats.org/officeDocument/2006/relationships" r:embed="rId1"/>
          <a:srcRect/>
          <a:tile tx="0" ty="0" sx="100000" sy="100000" flip="none" algn="tl"/>
        </a:blipFill>
        <a:ln w="9525" cap="flat" cmpd="sng" algn="ctr">
          <a:solidFill>
            <a:schemeClr val="tx1"/>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CA" sz="2400" b="0" i="0" u="none" strike="noStrike" cap="none" normalizeH="0" baseline="0" smtClean="0">
            <a:ln>
              <a:noFill/>
            </a:ln>
            <a:solidFill>
              <a:schemeClr val="tx1"/>
            </a:solidFill>
            <a:effectLst/>
            <a:latin typeface="Arial" charset="0"/>
          </a:defRPr>
        </a:defPPr>
      </a:lstStyle>
    </a:lnDef>
  </a:objectDefaul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3">
        <a:dk1>
          <a:srgbClr val="000000"/>
        </a:dk1>
        <a:lt1>
          <a:srgbClr val="FFFFFF"/>
        </a:lt1>
        <a:dk2>
          <a:srgbClr val="000000"/>
        </a:dk2>
        <a:lt2>
          <a:srgbClr val="5F5F5F"/>
        </a:lt2>
        <a:accent1>
          <a:srgbClr val="EAEAEA"/>
        </a:accent1>
        <a:accent2>
          <a:srgbClr val="808080"/>
        </a:accent2>
        <a:accent3>
          <a:srgbClr val="FFFFFF"/>
        </a:accent3>
        <a:accent4>
          <a:srgbClr val="000000"/>
        </a:accent4>
        <a:accent5>
          <a:srgbClr val="F3F3F3"/>
        </a:accent5>
        <a:accent6>
          <a:srgbClr val="737373"/>
        </a:accent6>
        <a:hlink>
          <a:srgbClr val="4D4D4D"/>
        </a:hlink>
        <a:folHlink>
          <a:srgbClr val="C0C0C0"/>
        </a:folHlink>
      </a:clrScheme>
      <a:clrMap bg1="lt1" tx1="dk1" bg2="lt2" tx2="dk2" accent1="accent1" accent2="accent2" accent3="accent3" accent4="accent4" accent5="accent5" accent6="accent6" hlink="hlink" folHlink="folHlink"/>
    </a:extraClrScheme>
    <a:extraClrScheme>
      <a:clrScheme name="Blends 4">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
      <a:clrScheme name="Blends 7">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Theme1" id="{8B58F282-D680-3E40-BAA0-C834AFA52925}" vid="{641FFC18-1A8E-6446-AF59-59AFE3328ED7}"/>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Theme1</Template>
  <TotalTime>11115</TotalTime>
  <Words>2352</Words>
  <Application>Microsoft Macintosh PowerPoint</Application>
  <PresentationFormat>On-screen Show (16:9)</PresentationFormat>
  <Paragraphs>386</Paragraphs>
  <Slides>53</Slides>
  <Notes>40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53</vt:i4>
      </vt:variant>
    </vt:vector>
  </HeadingPairs>
  <TitlesOfParts>
    <vt:vector size="65" baseType="lpstr">
      <vt:lpstr>Wingdings</vt:lpstr>
      <vt:lpstr>MS PGothic</vt:lpstr>
      <vt:lpstr>Economica</vt:lpstr>
      <vt:lpstr>Merriweather Sans</vt:lpstr>
      <vt:lpstr>Open Sans ExtraBold</vt:lpstr>
      <vt:lpstr>Public Sans</vt:lpstr>
      <vt:lpstr>Courier New</vt:lpstr>
      <vt:lpstr>Arial</vt:lpstr>
      <vt:lpstr>Calibri</vt:lpstr>
      <vt:lpstr>Open Sans</vt:lpstr>
      <vt:lpstr>Tahoma</vt:lpstr>
      <vt:lpstr>Theme1</vt:lpstr>
      <vt:lpstr>PowerPoint Presentation</vt:lpstr>
      <vt:lpstr>In this session</vt:lpstr>
      <vt:lpstr>So what does a (property) graph look like?</vt:lpstr>
      <vt:lpstr>Graph components</vt:lpstr>
      <vt:lpstr>Graph components</vt:lpstr>
      <vt:lpstr>Property graph database</vt:lpstr>
      <vt:lpstr>Property graph database</vt:lpstr>
      <vt:lpstr>Property graph database</vt:lpstr>
      <vt:lpstr>Property graph database</vt:lpstr>
      <vt:lpstr>How do I query the graph?</vt:lpstr>
      <vt:lpstr>Cypher</vt:lpstr>
      <vt:lpstr>Cypher</vt:lpstr>
      <vt:lpstr>Node and Patterns</vt:lpstr>
      <vt:lpstr>Node and Patterns</vt:lpstr>
      <vt:lpstr>Node and Patterns</vt:lpstr>
      <vt:lpstr>Match - ing </vt:lpstr>
      <vt:lpstr>Match - ing </vt:lpstr>
      <vt:lpstr>Match - ing </vt:lpstr>
      <vt:lpstr>Match - ing </vt:lpstr>
      <vt:lpstr>Match - ing </vt:lpstr>
      <vt:lpstr>Properties in the graph</vt:lpstr>
      <vt:lpstr>Create Data</vt:lpstr>
      <vt:lpstr>Create Data</vt:lpstr>
      <vt:lpstr>Create Data</vt:lpstr>
      <vt:lpstr>SET Property</vt:lpstr>
      <vt:lpstr>UPDATE and DELETE Property</vt:lpstr>
      <vt:lpstr>Deleting node and relationship</vt:lpstr>
      <vt:lpstr>Deleting node and relationship</vt:lpstr>
      <vt:lpstr>Data Model</vt:lpstr>
      <vt:lpstr>Testing labels or patterns?</vt:lpstr>
      <vt:lpstr>Discover relation type</vt:lpstr>
      <vt:lpstr>Counts</vt:lpstr>
      <vt:lpstr>Counts and collect</vt:lpstr>
      <vt:lpstr>PROFILE</vt:lpstr>
      <vt:lpstr>Subquery</vt:lpstr>
      <vt:lpstr>Passing variables into a subquery </vt:lpstr>
      <vt:lpstr>Ordering results </vt:lpstr>
      <vt:lpstr>Noe4j deployments</vt:lpstr>
      <vt:lpstr>Use MATCH to retrieve nodes</vt:lpstr>
      <vt:lpstr>Use MATCH to retrieve nodes</vt:lpstr>
      <vt:lpstr>Use MATCH to retrieve nodes</vt:lpstr>
      <vt:lpstr>Use MATCH and properties to retrieve nodes </vt:lpstr>
      <vt:lpstr>Use MATCH and properties to retrieve nodes </vt:lpstr>
      <vt:lpstr>Use MATCH and properties to retrieve nodes </vt:lpstr>
      <vt:lpstr>Extending the MATCH</vt:lpstr>
      <vt:lpstr>Extending the MATCH</vt:lpstr>
      <vt:lpstr>Extending the MATCH</vt:lpstr>
      <vt:lpstr>Extending the MATCH</vt:lpstr>
      <vt:lpstr>CREATE </vt:lpstr>
      <vt:lpstr>CREATE </vt:lpstr>
      <vt:lpstr>CREATE </vt:lpstr>
      <vt:lpstr>1 Hops of distance</vt:lpstr>
      <vt:lpstr>2 Hops of distance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Esperto Alba Project</cp:lastModifiedBy>
  <cp:revision>7</cp:revision>
  <dcterms:modified xsi:type="dcterms:W3CDTF">2026-05-18T07:33:22Z</dcterms:modified>
</cp:coreProperties>
</file>