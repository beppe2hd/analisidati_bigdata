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47"/>
  </p:notesMasterIdLst>
  <p:sldIdLst>
    <p:sldId id="28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85" r:id="rId14"/>
    <p:sldId id="286" r:id="rId15"/>
    <p:sldId id="287" r:id="rId16"/>
    <p:sldId id="288" r:id="rId17"/>
    <p:sldId id="289" r:id="rId18"/>
    <p:sldId id="293" r:id="rId19"/>
    <p:sldId id="294" r:id="rId20"/>
    <p:sldId id="295" r:id="rId21"/>
    <p:sldId id="296" r:id="rId22"/>
    <p:sldId id="290" r:id="rId23"/>
    <p:sldId id="292" r:id="rId24"/>
    <p:sldId id="297" r:id="rId25"/>
    <p:sldId id="298" r:id="rId26"/>
    <p:sldId id="299" r:id="rId27"/>
    <p:sldId id="300" r:id="rId28"/>
    <p:sldId id="301" r:id="rId29"/>
    <p:sldId id="302" r:id="rId30"/>
    <p:sldId id="291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280" r:id="rId43"/>
    <p:sldId id="281" r:id="rId44"/>
    <p:sldId id="282" r:id="rId45"/>
    <p:sldId id="283" r:id="rId46"/>
  </p:sldIdLst>
  <p:sldSz cx="9144000" cy="5143500" type="screen16x9"/>
  <p:notesSz cx="6858000" cy="9144000"/>
  <p:embeddedFontLst>
    <p:embeddedFont>
      <p:font typeface="Economica" panose="02000506040000020004"/>
      <p:regular r:id="rId48"/>
      <p:bold r:id="rId49"/>
      <p:italic r:id="rId50"/>
      <p:boldItalic r:id="rId51"/>
    </p:embeddedFont>
    <p:embeddedFont>
      <p:font typeface="Merriweather Sans" pitchFamily="2" charset="77"/>
      <p:regular r:id="rId52"/>
      <p:bold r:id="rId53"/>
      <p:italic r:id="rId54"/>
      <p:boldItalic r:id="rId55"/>
    </p:embeddedFont>
    <p:embeddedFont>
      <p:font typeface="Open Sans" panose="020B0606030504020204" pitchFamily="34" charset="0"/>
      <p:regular r:id="rId56"/>
      <p:bold r:id="rId57"/>
      <p:italic r:id="rId58"/>
      <p:boldItalic r:id="rId59"/>
    </p:embeddedFont>
    <p:embeddedFont>
      <p:font typeface="Open Sans ExtraBold" panose="020B0906030804020204"/>
      <p:bold r:id="rId60"/>
      <p:italic r:id="rId61"/>
      <p:boldItalic r:id="rId62"/>
    </p:embeddedFont>
    <p:embeddedFont>
      <p:font typeface="Tahoma" panose="020B0604030504040204" pitchFamily="34" charset="0"/>
      <p:regular r:id="rId63"/>
      <p:bold r:id="rId64"/>
    </p:embeddedFont>
  </p:embeddedFontLst>
  <p:defaultTextStyle>
    <a:defPPr>
      <a:defRPr lang="en-CA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78"/>
    <p:restoredTop sz="94643"/>
  </p:normalViewPr>
  <p:slideViewPr>
    <p:cSldViewPr snapToGrid="0">
      <p:cViewPr varScale="1">
        <p:scale>
          <a:sx n="162" d="100"/>
          <a:sy n="162" d="100"/>
        </p:scale>
        <p:origin x="200" y="3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63" Type="http://schemas.openxmlformats.org/officeDocument/2006/relationships/font" Target="fonts/font16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1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2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62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3E3FF87E-ADEE-FAAC-745D-E3F703A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9736235af6_0_0:notes">
            <a:extLst>
              <a:ext uri="{FF2B5EF4-FFF2-40B4-BE49-F238E27FC236}">
                <a16:creationId xmlns:a16="http://schemas.microsoft.com/office/drawing/2014/main" id="{5719CE22-15DC-A1D9-E440-CC7BD3B916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9736235af6_0_0:notes">
            <a:extLst>
              <a:ext uri="{FF2B5EF4-FFF2-40B4-BE49-F238E27FC236}">
                <a16:creationId xmlns:a16="http://schemas.microsoft.com/office/drawing/2014/main" id="{7515739B-2EEA-EAE8-B8A3-10A35B933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8806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9736235a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9736235af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88a7f8e12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g88a7f8e123_0_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881502d0bd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881502d0bd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881502d0bd_0_8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881502d0bd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881502d0bd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g881502d0bd_0_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881502d0bd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881502d0bd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g881502d0bd_0_1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881502d0bd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881502d0bd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881502d0bd_0_1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881502d0b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881502d0b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881502d0bd_0_1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881502d0bd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881502d0bd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g881502d0bd_0_1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88a7f8e12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g88a7f8e123_0_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81502d0bd_0_16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881502d0bd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881502d0bd_0_17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881502d0bd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D7CF397-EDF6-156F-E386-D93EB6F71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1E0DA0FF-336F-2CDC-3817-FC71EE56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76BC80AE-9A2A-ACF8-2F56-EC68CAFCB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1092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BCCF5FC-6688-0B73-8FC4-0DDB44A7B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ADEA1F73-00E2-73AC-1250-EF718481B1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A85A3A30-A907-46FB-208C-596F8E10E5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87885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679774D-0D93-1263-0827-45D68DB7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9B7C8DB0-171A-8BFA-4160-2CD5BCFA17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5D984E89-7602-A902-6B9B-734B633625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98782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C29697B-8F9A-0077-D754-0C620D21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894920B8-09AA-885C-EDDB-6D12CB21F5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3D2B8765-2DD0-3363-94D9-922C6A074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6577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1D9482A-5D70-6E22-EFA2-0FC71D94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6F649751-80A4-D80B-23AD-E233C43CC9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83964321-0A97-BBEB-3FD7-3A03B272D6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8708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EF60ABB-E811-A3FA-8B34-2B007DEB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55466D2C-F83E-C0B5-13A3-395AAC6D89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BFD6C7C3-DA7F-C6A3-FA81-F79A232146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9770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7435708-E09D-5465-415C-7C9F717F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F6B2E948-5EA9-824A-22B1-638571E8B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313592F6-BC0F-C252-8415-D65ACD36AC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95164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68F1AAB-4810-0EF7-BAB6-929E97EF3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F54F45B3-0807-2A4C-64B0-6A0BD360F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47DABF0D-45F3-E1B6-DE3A-46BD025A2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89196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72C3FE9-78B4-4017-62A8-2DF3A3355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90FBF640-4BB0-C98C-022B-BAFB0D395A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3296E8BE-7CF2-7136-208C-55CB3E04D8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45698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401754A-728F-EB5C-94A1-C8B87996E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61B3082A-4392-ED02-ACD3-25F01A054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AD1F680D-6952-9A4B-51B8-938750344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19222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5E9252A-200B-F27A-F73D-4F8B29501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A1C0BFD2-2890-ADF8-DB3F-A2BD135429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146F5C96-7798-D03C-8B94-8EB1EA7E26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5694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3FBC8EA-FA2D-6839-F043-1BEDAFB43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8701E866-1734-8743-6672-92BA334C80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6C5E7CEE-DAD4-17BE-C042-C2DB1749F9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4201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D6B1733-A381-637D-C867-4E1F936A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8D7E61B1-6ADB-3F57-4723-E3F00538B9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25D347B9-8E21-8A7A-9626-C3D5FF6A3A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73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FB800AC-00DE-2F6D-82D9-18678AC11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96EFD580-A155-68FE-C2EC-E2F8614AD1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AEABFD8E-E3AA-DC93-7EB9-573CE9F1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92378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1CC73466-A776-F037-0C86-E77DD59BF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>
            <a:extLst>
              <a:ext uri="{FF2B5EF4-FFF2-40B4-BE49-F238E27FC236}">
                <a16:creationId xmlns:a16="http://schemas.microsoft.com/office/drawing/2014/main" id="{498EA1B4-989C-4318-0D7B-84A7B5D9B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>
            <a:extLst>
              <a:ext uri="{FF2B5EF4-FFF2-40B4-BE49-F238E27FC236}">
                <a16:creationId xmlns:a16="http://schemas.microsoft.com/office/drawing/2014/main" id="{E826C148-A0C5-5D91-37CD-2B78F385BB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34136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881502d0bd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881502d0bd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881502d0bd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881502d0bd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881502d0bd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881502d0bd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881502d0bd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881502d0bd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881502d0bd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881502d0bd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881502d0bd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881502d0bd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881502d0bd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881502d0bd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881502d0bd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881502d0bd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881502d0bd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881502d0bd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881502d0bd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881502d0bd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881502d0bd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881502d0bd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881502d0bd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881502d0bd_0_2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881502d0bd_0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881502d0bd_0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4">
            <a:extLst>
              <a:ext uri="{FF2B5EF4-FFF2-40B4-BE49-F238E27FC236}">
                <a16:creationId xmlns:a16="http://schemas.microsoft.com/office/drawing/2014/main" id="{28B5CB5E-4D62-6F64-1F1A-DE21CCCA2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0"/>
            <a:ext cx="609600" cy="5143500"/>
          </a:xfrm>
          <a:prstGeom prst="rect">
            <a:avLst/>
          </a:prstGeom>
          <a:gradFill rotWithShape="1">
            <a:gsLst>
              <a:gs pos="0">
                <a:srgbClr val="677228">
                  <a:alpha val="43999"/>
                </a:srgbClr>
              </a:gs>
              <a:gs pos="100000">
                <a:srgbClr val="5A6423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sz="1800">
              <a:ea typeface="+mn-ea"/>
            </a:endParaRPr>
          </a:p>
        </p:txBody>
      </p:sp>
      <p:sp>
        <p:nvSpPr>
          <p:cNvPr id="3" name="Rectangle 47">
            <a:extLst>
              <a:ext uri="{FF2B5EF4-FFF2-40B4-BE49-F238E27FC236}">
                <a16:creationId xmlns:a16="http://schemas.microsoft.com/office/drawing/2014/main" id="{E0B269DB-9067-E88D-41B8-3B07C392182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768328" y="-1882378"/>
            <a:ext cx="1607344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sz="1800">
              <a:ea typeface="+mn-ea"/>
            </a:endParaRPr>
          </a:p>
        </p:txBody>
      </p:sp>
      <p:sp>
        <p:nvSpPr>
          <p:cNvPr id="4" name="Rectangle 48">
            <a:extLst>
              <a:ext uri="{FF2B5EF4-FFF2-40B4-BE49-F238E27FC236}">
                <a16:creationId xmlns:a16="http://schemas.microsoft.com/office/drawing/2014/main" id="{8E7BA452-2D19-F66B-3CB1-6CD6E5EFC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1828801"/>
            <a:ext cx="1828800" cy="1718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sz="1800">
              <a:ea typeface="+mn-ea"/>
            </a:endParaRPr>
          </a:p>
        </p:txBody>
      </p:sp>
      <p:pic>
        <p:nvPicPr>
          <p:cNvPr id="5" name="Picture 35" descr="awtri_4c UPDATE_color">
            <a:extLst>
              <a:ext uri="{FF2B5EF4-FFF2-40B4-BE49-F238E27FC236}">
                <a16:creationId xmlns:a16="http://schemas.microsoft.com/office/drawing/2014/main" id="{5641F287-64E2-B135-A677-28C596C72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462462"/>
            <a:ext cx="684213" cy="62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6" descr="elmasri_thumb">
            <a:extLst>
              <a:ext uri="{FF2B5EF4-FFF2-40B4-BE49-F238E27FC236}">
                <a16:creationId xmlns:a16="http://schemas.microsoft.com/office/drawing/2014/main" id="{AC748A14-794D-7BB1-F76F-888ED6131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6" y="1885950"/>
            <a:ext cx="1724025" cy="1607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26" name="Rectangle 30" descr="Pink tissue paper"/>
          <p:cNvSpPr>
            <a:spLocks noGrp="1" noChangeArrowheads="1"/>
          </p:cNvSpPr>
          <p:nvPr>
            <p:ph type="ctrTitle" sz="quarter"/>
          </p:nvPr>
        </p:nvSpPr>
        <p:spPr>
          <a:xfrm>
            <a:off x="228600" y="114300"/>
            <a:ext cx="7086600" cy="1714500"/>
          </a:xfrm>
        </p:spPr>
        <p:txBody>
          <a:bodyPr wrap="none" anchor="ctr"/>
          <a:lstStyle>
            <a:lvl1pPr>
              <a:defRPr sz="4950">
                <a:solidFill>
                  <a:srgbClr val="990033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134" name="Rectangle 38" descr="Pink tissue paper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04800" y="1943100"/>
            <a:ext cx="6629400" cy="142875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7A1712BB-8E2D-093E-A791-A6BAFE9934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 bwMode="auto">
          <a:xfrm>
            <a:off x="838200" y="4798219"/>
            <a:ext cx="4495800" cy="3429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675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r>
              <a:rPr lang="en-US" altLang="en-US"/>
              <a:t>Copyright © 2007 Ramez Elmasri and Shamkant B. Navathe</a:t>
            </a:r>
          </a:p>
        </p:txBody>
      </p:sp>
    </p:spTree>
    <p:extLst>
      <p:ext uri="{BB962C8B-B14F-4D97-AF65-F5344CB8AC3E}">
        <p14:creationId xmlns:p14="http://schemas.microsoft.com/office/powerpoint/2010/main" val="1630190401"/>
      </p:ext>
    </p:extLst>
  </p:cSld>
  <p:clrMapOvr>
    <a:masterClrMapping/>
  </p:clrMapOvr>
  <p:transition spd="med"/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354"/>
              </a:spcBef>
              <a:spcAft>
                <a:spcPts val="300"/>
              </a:spcAft>
              <a:defRPr sz="1500"/>
            </a:lvl1pPr>
            <a:lvl2pPr>
              <a:lnSpc>
                <a:spcPct val="120000"/>
              </a:lnSpc>
              <a:spcBef>
                <a:spcPts val="354"/>
              </a:spcBef>
              <a:spcAft>
                <a:spcPts val="300"/>
              </a:spcAft>
              <a:defRPr sz="1500"/>
            </a:lvl2pPr>
            <a:lvl3pPr>
              <a:lnSpc>
                <a:spcPct val="120000"/>
              </a:lnSpc>
              <a:spcBef>
                <a:spcPts val="354"/>
              </a:spcBef>
              <a:spcAft>
                <a:spcPts val="300"/>
              </a:spcAft>
              <a:defRPr sz="1350"/>
            </a:lvl3pPr>
            <a:lvl4pPr>
              <a:lnSpc>
                <a:spcPct val="120000"/>
              </a:lnSpc>
              <a:spcBef>
                <a:spcPts val="354"/>
              </a:spcBef>
              <a:spcAft>
                <a:spcPts val="300"/>
              </a:spcAft>
              <a:defRPr sz="1200"/>
            </a:lvl4pPr>
            <a:lvl5pPr>
              <a:lnSpc>
                <a:spcPct val="120000"/>
              </a:lnSpc>
              <a:spcBef>
                <a:spcPts val="354"/>
              </a:spcBef>
              <a:spcAft>
                <a:spcPts val="300"/>
              </a:spcAft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03877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90882598"/>
      </p:ext>
    </p:extLst>
  </p:cSld>
  <p:clrMapOvr>
    <a:masterClrMapping/>
  </p:clrMapOvr>
  <p:transition spd="med"/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9713" y="1200150"/>
            <a:ext cx="4070350" cy="34290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2464" y="1200150"/>
            <a:ext cx="4071937" cy="34290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71801"/>
      </p:ext>
    </p:extLst>
  </p:cSld>
  <p:clrMapOvr>
    <a:masterClrMapping/>
  </p:clrMapOvr>
  <p:transition spd="med"/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421430"/>
      </p:ext>
    </p:extLst>
  </p:cSld>
  <p:clrMapOvr>
    <a:masterClrMapping/>
  </p:clrMapOvr>
  <p:transition spd="med"/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528537"/>
      </p:ext>
    </p:extLst>
  </p:cSld>
  <p:clrMapOvr>
    <a:masterClrMapping/>
  </p:clrMapOvr>
  <p:transition spd="med"/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929450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47145022"/>
      </p:ext>
    </p:extLst>
  </p:cSld>
  <p:clrMapOvr>
    <a:masterClrMapping/>
  </p:clrMapOvr>
  <p:transition spd="med"/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37376438"/>
      </p:ext>
    </p:extLst>
  </p:cSld>
  <p:clrMapOvr>
    <a:masterClrMapping/>
  </p:clrMapOvr>
  <p:transition spd="med"/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3729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2868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5">
            <a:extLst>
              <a:ext uri="{FF2B5EF4-FFF2-40B4-BE49-F238E27FC236}">
                <a16:creationId xmlns:a16="http://schemas.microsoft.com/office/drawing/2014/main" id="{B9485963-F642-C24D-6941-1B4B51FC8516}"/>
              </a:ext>
            </a:extLst>
          </p:cNvPr>
          <p:cNvGrpSpPr>
            <a:grpSpLocks/>
          </p:cNvGrpSpPr>
          <p:nvPr/>
        </p:nvGrpSpPr>
        <p:grpSpPr bwMode="auto">
          <a:xfrm>
            <a:off x="8936038" y="1087041"/>
            <a:ext cx="207962" cy="4056459"/>
            <a:chOff x="5606" y="889"/>
            <a:chExt cx="154" cy="3431"/>
          </a:xfrm>
        </p:grpSpPr>
        <p:sp>
          <p:nvSpPr>
            <p:cNvPr id="2" name="Rectangle 38">
              <a:extLst>
                <a:ext uri="{FF2B5EF4-FFF2-40B4-BE49-F238E27FC236}">
                  <a16:creationId xmlns:a16="http://schemas.microsoft.com/office/drawing/2014/main" id="{CDF3093B-6C36-D9CF-A2A4-29939AF55D79}"/>
                </a:ext>
              </a:extLst>
            </p:cNvPr>
            <p:cNvSpPr>
              <a:spLocks noChangeArrowheads="1"/>
            </p:cNvSpPr>
            <p:nvPr/>
          </p:nvSpPr>
          <p:spPr bwMode="gray">
            <a:xfrm flipH="1">
              <a:off x="5685" y="889"/>
              <a:ext cx="75" cy="3431"/>
            </a:xfrm>
            <a:prstGeom prst="rect">
              <a:avLst/>
            </a:prstGeom>
            <a:solidFill>
              <a:srgbClr val="157394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2400">
                <a:latin typeface="Tahoma" panose="020B0604030504040204" pitchFamily="34" charset="0"/>
                <a:ea typeface="+mn-ea"/>
              </a:endParaRPr>
            </a:p>
          </p:txBody>
        </p:sp>
        <p:grpSp>
          <p:nvGrpSpPr>
            <p:cNvPr id="1035" name="Group 44">
              <a:extLst>
                <a:ext uri="{FF2B5EF4-FFF2-40B4-BE49-F238E27FC236}">
                  <a16:creationId xmlns:a16="http://schemas.microsoft.com/office/drawing/2014/main" id="{402FB482-BCA6-FDF6-B8C9-3011F26F61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06" y="889"/>
              <a:ext cx="106" cy="3431"/>
              <a:chOff x="5606" y="889"/>
              <a:chExt cx="106" cy="3431"/>
            </a:xfrm>
          </p:grpSpPr>
          <p:sp>
            <p:nvSpPr>
              <p:cNvPr id="1034" name="Rectangle 43">
                <a:extLst>
                  <a:ext uri="{FF2B5EF4-FFF2-40B4-BE49-F238E27FC236}">
                    <a16:creationId xmlns:a16="http://schemas.microsoft.com/office/drawing/2014/main" id="{9C40FDAE-BAEF-C808-E0B7-2287044E317A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06" y="889"/>
                <a:ext cx="58" cy="3431"/>
              </a:xfrm>
              <a:prstGeom prst="rect">
                <a:avLst/>
              </a:prstGeom>
              <a:solidFill>
                <a:srgbClr val="DC4C4C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2400" dirty="0">
                  <a:latin typeface="Tahoma" panose="020B0604030504040204" pitchFamily="34" charset="0"/>
                  <a:ea typeface="+mn-ea"/>
                </a:endParaRPr>
              </a:p>
            </p:txBody>
          </p:sp>
          <p:sp>
            <p:nvSpPr>
              <p:cNvPr id="3" name="Rectangle 32">
                <a:extLst>
                  <a:ext uri="{FF2B5EF4-FFF2-40B4-BE49-F238E27FC236}">
                    <a16:creationId xmlns:a16="http://schemas.microsoft.com/office/drawing/2014/main" id="{27111B1F-EEC1-3444-58A6-6A149568437F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54" y="889"/>
                <a:ext cx="58" cy="3431"/>
              </a:xfrm>
              <a:prstGeom prst="rect">
                <a:avLst/>
              </a:prstGeom>
              <a:solidFill>
                <a:srgbClr val="E17070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2400">
                  <a:latin typeface="Tahoma" panose="020B0604030504040204" pitchFamily="34" charset="0"/>
                  <a:ea typeface="+mn-ea"/>
                </a:endParaRPr>
              </a:p>
            </p:txBody>
          </p:sp>
        </p:grpSp>
      </p:grpSp>
      <p:sp>
        <p:nvSpPr>
          <p:cNvPr id="1027" name="Rectangle 37">
            <a:extLst>
              <a:ext uri="{FF2B5EF4-FFF2-40B4-BE49-F238E27FC236}">
                <a16:creationId xmlns:a16="http://schemas.microsoft.com/office/drawing/2014/main" id="{6FF57294-8D84-40B7-A97D-99386C5AB675}"/>
              </a:ext>
            </a:extLst>
          </p:cNvPr>
          <p:cNvSpPr>
            <a:spLocks noChangeArrowheads="1"/>
          </p:cNvSpPr>
          <p:nvPr/>
        </p:nvSpPr>
        <p:spPr bwMode="gray">
          <a:xfrm rot="16200000">
            <a:off x="4544418" y="-3512543"/>
            <a:ext cx="58341" cy="9140825"/>
          </a:xfrm>
          <a:prstGeom prst="rect">
            <a:avLst/>
          </a:prstGeom>
          <a:solidFill>
            <a:srgbClr val="589CB4"/>
          </a:solidFill>
          <a:ln>
            <a:noFill/>
          </a:ln>
        </p:spPr>
        <p:txBody>
          <a:bodyPr vert="eaVert"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 sz="2400">
              <a:latin typeface="Tahoma" panose="020B0604030504040204" pitchFamily="34" charset="0"/>
              <a:ea typeface="+mn-ea"/>
            </a:endParaRPr>
          </a:p>
        </p:txBody>
      </p:sp>
      <p:sp>
        <p:nvSpPr>
          <p:cNvPr id="1028" name="Rectangle 9">
            <a:extLst>
              <a:ext uri="{FF2B5EF4-FFF2-40B4-BE49-F238E27FC236}">
                <a16:creationId xmlns:a16="http://schemas.microsoft.com/office/drawing/2014/main" id="{DC0F7037-92D3-7E0A-55A9-4049064830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8601" y="227410"/>
            <a:ext cx="7796213" cy="744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  <a:endParaRPr lang="en-US" altLang="en-US" dirty="0"/>
          </a:p>
        </p:txBody>
      </p:sp>
      <p:sp>
        <p:nvSpPr>
          <p:cNvPr id="1030" name="Rectangle 21">
            <a:extLst>
              <a:ext uri="{FF2B5EF4-FFF2-40B4-BE49-F238E27FC236}">
                <a16:creationId xmlns:a16="http://schemas.microsoft.com/office/drawing/2014/main" id="{76ECBC8F-AE27-B907-9DD9-44EDABE8EC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39714" y="1200150"/>
            <a:ext cx="8294687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/>
              <a:t>Click to edit Master text styles</a:t>
            </a:r>
          </a:p>
          <a:p>
            <a:pPr lvl="1"/>
            <a:r>
              <a:rPr lang="en-GB" altLang="en-US" dirty="0"/>
              <a:t>Second level</a:t>
            </a:r>
          </a:p>
          <a:p>
            <a:pPr lvl="2"/>
            <a:r>
              <a:rPr lang="en-GB" altLang="en-US" dirty="0"/>
              <a:t>Third level</a:t>
            </a:r>
          </a:p>
          <a:p>
            <a:pPr lvl="3"/>
            <a:r>
              <a:rPr lang="en-GB" altLang="en-US" dirty="0"/>
              <a:t>Fourth level</a:t>
            </a:r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  <p:sp>
        <p:nvSpPr>
          <p:cNvPr id="1031" name="Rectangle 30">
            <a:extLst>
              <a:ext uri="{FF2B5EF4-FFF2-40B4-BE49-F238E27FC236}">
                <a16:creationId xmlns:a16="http://schemas.microsoft.com/office/drawing/2014/main" id="{40B1C141-1CC7-64E8-4630-CC3D077F1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4857750"/>
            <a:ext cx="3276600" cy="227410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675" dirty="0"/>
              <a:t>Copyright © 2016 Ramez Elmasri and Shamkant B. Navathe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C8E023D0-8323-E1E5-B043-AAAAD3E8D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588" y="222647"/>
            <a:ext cx="61753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3">
            <a:extLst>
              <a:ext uri="{FF2B5EF4-FFF2-40B4-BE49-F238E27FC236}">
                <a16:creationId xmlns:a16="http://schemas.microsoft.com/office/drawing/2014/main" id="{6275177B-8634-1E6B-FE52-284EBAE8D4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1976" y="576263"/>
            <a:ext cx="404813" cy="303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0">
            <a:extLst>
              <a:ext uri="{FF2B5EF4-FFF2-40B4-BE49-F238E27FC236}">
                <a16:creationId xmlns:a16="http://schemas.microsoft.com/office/drawing/2014/main" id="{61D99BA9-F869-2243-3E31-2C6563A62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0188" y="4858941"/>
            <a:ext cx="3276600" cy="227410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eaLnBrk="1" hangingPunct="1">
              <a:defRPr/>
            </a:pPr>
            <a:r>
              <a:rPr lang="en-US" altLang="en-US" sz="788" b="1" dirty="0" err="1"/>
              <a:t>Analisi</a:t>
            </a:r>
            <a:r>
              <a:rPr lang="en-US" altLang="en-US" sz="788" b="1" dirty="0"/>
              <a:t> </a:t>
            </a:r>
            <a:r>
              <a:rPr lang="en-US" altLang="en-US" sz="788" b="1" dirty="0" err="1"/>
              <a:t>dei</a:t>
            </a:r>
            <a:r>
              <a:rPr lang="en-US" altLang="en-US" sz="788" b="1" dirty="0"/>
              <a:t> </a:t>
            </a:r>
            <a:r>
              <a:rPr lang="en-US" altLang="en-US" sz="788" b="1" dirty="0" err="1"/>
              <a:t>dati</a:t>
            </a:r>
            <a:r>
              <a:rPr lang="en-US" altLang="en-US" sz="788" b="1" dirty="0"/>
              <a:t> e big data  -  Marco Del Coco</a:t>
            </a:r>
          </a:p>
        </p:txBody>
      </p:sp>
    </p:spTree>
    <p:extLst>
      <p:ext uri="{BB962C8B-B14F-4D97-AF65-F5344CB8AC3E}">
        <p14:creationId xmlns:p14="http://schemas.microsoft.com/office/powerpoint/2010/main" val="350486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ransition spd="med"/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700">
          <a:solidFill>
            <a:schemeClr val="accent1"/>
          </a:solidFill>
          <a:latin typeface="+mj-lt"/>
          <a:ea typeface="ＭＳ Ｐゴシック" panose="020B0600070205080204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800000"/>
          </a:solidFill>
          <a:latin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800000"/>
          </a:solidFill>
          <a:latin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800000"/>
          </a:solidFill>
          <a:latin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2700">
          <a:solidFill>
            <a:srgbClr val="800000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60000"/>
        <a:buFont typeface="Wingdings" pitchFamily="2" charset="2"/>
        <a:buChar char="n"/>
        <a:defRPr sz="1800">
          <a:solidFill>
            <a:schemeClr val="tx2"/>
          </a:solidFill>
          <a:latin typeface="+mn-lt"/>
          <a:ea typeface="ＭＳ Ｐゴシック" panose="020B0600070205080204" pitchFamily="34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1600">
          <a:solidFill>
            <a:srgbClr val="DC4C4C"/>
          </a:solidFill>
          <a:latin typeface="+mn-lt"/>
          <a:ea typeface="ＭＳ Ｐゴシック" panose="020B0600070205080204" pitchFamily="34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400">
          <a:solidFill>
            <a:schemeClr val="tx2"/>
          </a:solidFill>
          <a:latin typeface="+mn-lt"/>
          <a:ea typeface="ＭＳ Ｐゴシック" panose="020B0600070205080204" pitchFamily="34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1200">
          <a:solidFill>
            <a:srgbClr val="106380"/>
          </a:solidFill>
          <a:latin typeface="+mn-lt"/>
          <a:ea typeface="ＭＳ Ｐゴシック" panose="020B0600070205080204" pitchFamily="34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200">
          <a:solidFill>
            <a:schemeClr val="tx2"/>
          </a:solidFill>
          <a:latin typeface="+mn-lt"/>
          <a:ea typeface="ＭＳ Ｐゴシック" panose="020B0600070205080204" pitchFamily="34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500">
          <a:solidFill>
            <a:schemeClr val="tx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500">
          <a:solidFill>
            <a:schemeClr val="tx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500">
          <a:solidFill>
            <a:schemeClr val="tx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1500">
          <a:solidFill>
            <a:schemeClr val="tx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eo4j.com/cloud/platform/aura-graph-database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63B800F6-7284-0A52-B6E9-D9F02CC5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3;p18">
            <a:extLst>
              <a:ext uri="{FF2B5EF4-FFF2-40B4-BE49-F238E27FC236}">
                <a16:creationId xmlns:a16="http://schemas.microsoft.com/office/drawing/2014/main" id="{6DCA7CDB-B02B-B927-3B1E-050D9D95B7D7}"/>
              </a:ext>
            </a:extLst>
          </p:cNvPr>
          <p:cNvSpPr txBox="1">
            <a:spLocks/>
          </p:cNvSpPr>
          <p:nvPr/>
        </p:nvSpPr>
        <p:spPr bwMode="auto">
          <a:xfrm>
            <a:off x="519545" y="1714500"/>
            <a:ext cx="7086600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spcFirstLastPara="1" vert="horz" wrap="square" lIns="91425" tIns="45700" rIns="91425" bIns="45700" numCol="1" anchor="t" anchorCtr="0" compatLnSpc="1">
            <a:prstTxWarp prst="textNoShape">
              <a:avLst/>
            </a:prstTxWarp>
            <a:normAutofit/>
          </a:bodyPr>
          <a:lstStyle>
            <a:lvl1pPr lvl="0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chemeClr val="accent1"/>
                </a:solidFill>
                <a:latin typeface="+mj-lt"/>
                <a:ea typeface="ＭＳ Ｐゴシック" panose="020B0600070205080204" pitchFamily="34" charset="-128"/>
                <a:cs typeface="+mj-cs"/>
              </a:defRPr>
            </a:lvl1pPr>
            <a:lvl2pPr lvl="1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E1D7CC"/>
                </a:solidFill>
                <a:latin typeface="Arial" charset="0"/>
                <a:ea typeface="ＭＳ Ｐゴシック" panose="020B0600070205080204" pitchFamily="34" charset="-128"/>
              </a:defRPr>
            </a:lvl2pPr>
            <a:lvl3pPr lvl="2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E1D7CC"/>
                </a:solidFill>
                <a:latin typeface="Arial" charset="0"/>
                <a:ea typeface="ＭＳ Ｐゴシック" panose="020B0600070205080204" pitchFamily="34" charset="-128"/>
              </a:defRPr>
            </a:lvl3pPr>
            <a:lvl4pPr lvl="3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E1D7CC"/>
                </a:solidFill>
                <a:latin typeface="Arial" charset="0"/>
                <a:ea typeface="ＭＳ Ｐゴシック" panose="020B0600070205080204" pitchFamily="34" charset="-128"/>
              </a:defRPr>
            </a:lvl4pPr>
            <a:lvl5pPr lvl="4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E1D7CC"/>
                </a:solidFill>
                <a:latin typeface="Arial" charset="0"/>
                <a:ea typeface="ＭＳ Ｐゴシック" panose="020B0600070205080204" pitchFamily="34" charset="-128"/>
              </a:defRPr>
            </a:lvl5pPr>
            <a:lvl6pPr marL="342900" lvl="5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800000"/>
                </a:solidFill>
                <a:latin typeface="Arial" charset="0"/>
              </a:defRPr>
            </a:lvl6pPr>
            <a:lvl7pPr marL="685800" lvl="6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800000"/>
                </a:solidFill>
                <a:latin typeface="Arial" charset="0"/>
              </a:defRPr>
            </a:lvl7pPr>
            <a:lvl8pPr marL="1028700" lvl="7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800000"/>
                </a:solidFill>
                <a:latin typeface="Arial" charset="0"/>
              </a:defRPr>
            </a:lvl8pPr>
            <a:lvl9pPr marL="1371600" lvl="8" algn="l" rtl="0" eaLnBrk="1" fontAlgn="base" hangingPunct="1">
              <a:spcBef>
                <a:spcPts val="0"/>
              </a:spcBef>
              <a:spcAft>
                <a:spcPts val="0"/>
              </a:spcAft>
              <a:buSzPts val="4200"/>
              <a:buNone/>
              <a:defRPr sz="2700">
                <a:solidFill>
                  <a:srgbClr val="800000"/>
                </a:solidFill>
                <a:latin typeface="Arial" charset="0"/>
              </a:defRPr>
            </a:lvl9pPr>
          </a:lstStyle>
          <a:p>
            <a:pPr>
              <a:buClr>
                <a:schemeClr val="lt1"/>
              </a:buClr>
              <a:buSzPts val="3994"/>
              <a:buFont typeface="Open Sans ExtraBold"/>
              <a:buNone/>
            </a:pPr>
            <a:r>
              <a:rPr lang="en-GB" sz="3600" kern="0" dirty="0"/>
              <a:t>Introduction to neo4J </a:t>
            </a:r>
          </a:p>
          <a:p>
            <a:pPr>
              <a:buClr>
                <a:schemeClr val="lt1"/>
              </a:buClr>
              <a:buSzPts val="3994"/>
              <a:buFont typeface="Open Sans ExtraBold"/>
              <a:buNone/>
            </a:pPr>
            <a:r>
              <a:rPr lang="en-GB" sz="3600" kern="0" dirty="0"/>
              <a:t>and Cypher</a:t>
            </a:r>
            <a:endParaRPr lang="en-GB" sz="3000" kern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DAA2F7-F7DA-1731-D4D5-484BCF16E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908" y="3236209"/>
            <a:ext cx="2441864" cy="91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2502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session</a:t>
            </a:r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will cover: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Property graph database anatomy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Introduction to Cypher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Continuing your graph journey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Open Sans ExtraBold"/>
              <a:buNone/>
            </a:pPr>
            <a:r>
              <a:rPr lang="en"/>
              <a:t>So what does a (property) graph look like?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/>
        </p:nvSpPr>
        <p:spPr>
          <a:xfrm>
            <a:off x="602625" y="1228900"/>
            <a:ext cx="8637000" cy="3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40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40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●"/>
            </a:pPr>
            <a:r>
              <a:rPr lang="en" sz="180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The main data element from which graphs are constructed </a:t>
            </a:r>
            <a:br>
              <a:rPr lang="en" sz="180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sz="1800" i="1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Graph components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13" name="Google Shape;113;p21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4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15" name="Google Shape;115;p21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Jane</a:t>
            </a:r>
            <a:endParaRPr sz="1800" b="1"/>
          </a:p>
        </p:txBody>
      </p:sp>
      <p:sp>
        <p:nvSpPr>
          <p:cNvPr id="116" name="Google Shape;116;p21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car</a:t>
            </a:r>
            <a:endParaRPr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Graph components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22" name="Google Shape;122;p22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5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24" name="Google Shape;124;p22"/>
          <p:cNvSpPr txBox="1"/>
          <p:nvPr/>
        </p:nvSpPr>
        <p:spPr>
          <a:xfrm>
            <a:off x="195300" y="1221317"/>
            <a:ext cx="8637000" cy="3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4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●"/>
            </a:pPr>
            <a:r>
              <a:rPr lang="en" sz="18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The main data element from which graphs are constructed </a:t>
            </a:r>
            <a:br>
              <a:rPr lang="en" sz="18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sz="18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Relationship </a:t>
            </a:r>
            <a:r>
              <a:rPr lang="en" sz="24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(Edge)</a:t>
            </a: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●"/>
            </a:pPr>
            <a:r>
              <a:rPr lang="en" sz="18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A link between two nodes.  Has:</a:t>
            </a:r>
            <a:endParaRPr sz="18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○"/>
            </a:pPr>
            <a:r>
              <a:rPr lang="en" sz="18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Direction</a:t>
            </a:r>
            <a:endParaRPr sz="18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○"/>
            </a:pPr>
            <a:r>
              <a:rPr lang="en" sz="18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Type</a:t>
            </a:r>
            <a:endParaRPr sz="1800" b="1" i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1800"/>
              <a:buFont typeface="Open Sans"/>
              <a:buChar char="●"/>
            </a:pPr>
            <a:r>
              <a:rPr lang="en" sz="1800" i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A node without relationships is permitted.  A relationship without nodes is not</a:t>
            </a:r>
            <a:endParaRPr sz="1800" i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25" name="Google Shape;125;p22"/>
          <p:cNvCxnSpPr>
            <a:stCxn id="126" idx="2"/>
            <a:endCxn id="127" idx="6"/>
          </p:cNvCxnSpPr>
          <p:nvPr/>
        </p:nvCxnSpPr>
        <p:spPr>
          <a:xfrm rot="10800000">
            <a:off x="6483905" y="3048249"/>
            <a:ext cx="14997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27" name="Google Shape;127;p22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Jane</a:t>
            </a:r>
            <a:endParaRPr sz="1800" b="1"/>
          </a:p>
        </p:txBody>
      </p:sp>
      <p:sp>
        <p:nvSpPr>
          <p:cNvPr id="126" name="Google Shape;126;p22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car</a:t>
            </a:r>
            <a:endParaRPr sz="1800" b="1"/>
          </a:p>
        </p:txBody>
      </p:sp>
      <p:sp>
        <p:nvSpPr>
          <p:cNvPr id="128" name="Google Shape;128;p22"/>
          <p:cNvSpPr/>
          <p:nvPr/>
        </p:nvSpPr>
        <p:spPr>
          <a:xfrm>
            <a:off x="6750027" y="2911000"/>
            <a:ext cx="815100" cy="27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/>
              <a:t>OWNS</a:t>
            </a:r>
            <a:endParaRPr sz="18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Property graph database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6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602625" y="1228900"/>
            <a:ext cx="50292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Relationship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(Edge)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37" name="Google Shape;137;p23"/>
          <p:cNvCxnSpPr>
            <a:stCxn id="138" idx="2"/>
            <a:endCxn id="139" idx="6"/>
          </p:cNvCxnSpPr>
          <p:nvPr/>
        </p:nvCxnSpPr>
        <p:spPr>
          <a:xfrm rot="10800000">
            <a:off x="6483905" y="3048249"/>
            <a:ext cx="14997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39" name="Google Shape;139;p23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38" name="Google Shape;138;p23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40" name="Google Shape;140;p23"/>
          <p:cNvSpPr/>
          <p:nvPr/>
        </p:nvSpPr>
        <p:spPr>
          <a:xfrm>
            <a:off x="6750027" y="2911000"/>
            <a:ext cx="815100" cy="27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OWNS</a:t>
            </a:r>
            <a:endParaRPr sz="1800" b="1"/>
          </a:p>
        </p:txBody>
      </p:sp>
      <p:sp>
        <p:nvSpPr>
          <p:cNvPr id="141" name="Google Shape;141;p23"/>
          <p:cNvSpPr txBox="1"/>
          <p:nvPr/>
        </p:nvSpPr>
        <p:spPr>
          <a:xfrm>
            <a:off x="5516450" y="3455800"/>
            <a:ext cx="2151600" cy="2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8144431" y="2708853"/>
            <a:ext cx="7920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Property graph database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48" name="Google Shape;148;p2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7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602625" y="1228900"/>
            <a:ext cx="50292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Relationship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(Edge)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51" name="Google Shape;151;p24"/>
          <p:cNvCxnSpPr>
            <a:stCxn id="152" idx="2"/>
            <a:endCxn id="153" idx="6"/>
          </p:cNvCxnSpPr>
          <p:nvPr/>
        </p:nvCxnSpPr>
        <p:spPr>
          <a:xfrm rot="10800000">
            <a:off x="6483905" y="3048249"/>
            <a:ext cx="14997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3" name="Google Shape;153;p24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:Person</a:t>
            </a:r>
            <a:endParaRPr sz="1200" b="1"/>
          </a:p>
        </p:txBody>
      </p:sp>
      <p:sp>
        <p:nvSpPr>
          <p:cNvPr id="152" name="Google Shape;152;p24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:Car</a:t>
            </a:r>
            <a:endParaRPr sz="1200" b="1"/>
          </a:p>
        </p:txBody>
      </p:sp>
      <p:sp>
        <p:nvSpPr>
          <p:cNvPr id="154" name="Google Shape;154;p24"/>
          <p:cNvSpPr/>
          <p:nvPr/>
        </p:nvSpPr>
        <p:spPr>
          <a:xfrm>
            <a:off x="6750027" y="2911000"/>
            <a:ext cx="815100" cy="27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OWNS</a:t>
            </a:r>
            <a:endParaRPr sz="1800" b="1"/>
          </a:p>
        </p:txBody>
      </p:sp>
      <p:sp>
        <p:nvSpPr>
          <p:cNvPr id="155" name="Google Shape;155;p24"/>
          <p:cNvSpPr txBox="1"/>
          <p:nvPr/>
        </p:nvSpPr>
        <p:spPr>
          <a:xfrm>
            <a:off x="611600" y="2063375"/>
            <a:ext cx="51237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Label</a:t>
            </a:r>
            <a:endParaRPr sz="2000" b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Define node category (optional)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Property graph database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61" name="Google Shape;161;p25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8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63" name="Google Shape;163;p25"/>
          <p:cNvSpPr txBox="1"/>
          <p:nvPr/>
        </p:nvSpPr>
        <p:spPr>
          <a:xfrm>
            <a:off x="602625" y="1228900"/>
            <a:ext cx="50292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Relationship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(Edge)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64" name="Google Shape;164;p25"/>
          <p:cNvCxnSpPr>
            <a:stCxn id="165" idx="2"/>
            <a:endCxn id="166" idx="6"/>
          </p:cNvCxnSpPr>
          <p:nvPr/>
        </p:nvCxnSpPr>
        <p:spPr>
          <a:xfrm rot="10800000">
            <a:off x="6483905" y="3048249"/>
            <a:ext cx="14997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6" name="Google Shape;166;p25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:Person</a:t>
            </a:r>
            <a:endParaRPr sz="1200" b="1"/>
          </a:p>
        </p:txBody>
      </p:sp>
      <p:sp>
        <p:nvSpPr>
          <p:cNvPr id="165" name="Google Shape;165;p25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:Car</a:t>
            </a:r>
            <a:endParaRPr sz="1200" b="1"/>
          </a:p>
        </p:txBody>
      </p:sp>
      <p:sp>
        <p:nvSpPr>
          <p:cNvPr id="167" name="Google Shape;167;p25"/>
          <p:cNvSpPr/>
          <p:nvPr/>
        </p:nvSpPr>
        <p:spPr>
          <a:xfrm>
            <a:off x="6750027" y="2911000"/>
            <a:ext cx="815100" cy="27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OWNS</a:t>
            </a:r>
            <a:endParaRPr sz="1800" b="1"/>
          </a:p>
        </p:txBody>
      </p:sp>
      <p:sp>
        <p:nvSpPr>
          <p:cNvPr id="168" name="Google Shape;168;p25"/>
          <p:cNvSpPr txBox="1"/>
          <p:nvPr/>
        </p:nvSpPr>
        <p:spPr>
          <a:xfrm>
            <a:off x="611600" y="2063375"/>
            <a:ext cx="51237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Label</a:t>
            </a:r>
            <a:endParaRPr sz="2000" b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Define node category (optional)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Can have more than one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8144431" y="2708853"/>
            <a:ext cx="7920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:Asset</a:t>
            </a:r>
            <a:endParaRPr sz="1200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Property graph database</a:t>
            </a:r>
            <a:endParaRPr dirty="0">
              <a:solidFill>
                <a:srgbClr val="666666"/>
              </a:solidFill>
            </a:endParaRPr>
          </a:p>
        </p:txBody>
      </p:sp>
      <p:sp>
        <p:nvSpPr>
          <p:cNvPr id="175" name="Google Shape;175;p26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0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9</a:t>
            </a:fld>
            <a:endParaRPr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76" name="Google Shape;176;p26"/>
          <p:cNvSpPr txBox="1"/>
          <p:nvPr/>
        </p:nvSpPr>
        <p:spPr>
          <a:xfrm>
            <a:off x="602625" y="1228900"/>
            <a:ext cx="50292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Node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(Vertex)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Relationship </a:t>
            </a: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(Edge)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77" name="Google Shape;177;p26"/>
          <p:cNvCxnSpPr>
            <a:stCxn id="178" idx="2"/>
            <a:endCxn id="179" idx="6"/>
          </p:cNvCxnSpPr>
          <p:nvPr/>
        </p:nvCxnSpPr>
        <p:spPr>
          <a:xfrm rot="10800000">
            <a:off x="6483905" y="3048249"/>
            <a:ext cx="14997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>
            <a:off x="5668850" y="2640699"/>
            <a:ext cx="815100" cy="8151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:Person</a:t>
            </a:r>
            <a:endParaRPr sz="1200" b="1"/>
          </a:p>
        </p:txBody>
      </p:sp>
      <p:sp>
        <p:nvSpPr>
          <p:cNvPr id="178" name="Google Shape;178;p26"/>
          <p:cNvSpPr/>
          <p:nvPr/>
        </p:nvSpPr>
        <p:spPr>
          <a:xfrm>
            <a:off x="7983605" y="2640699"/>
            <a:ext cx="815100" cy="8151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:Car</a:t>
            </a:r>
            <a:endParaRPr sz="1200" b="1"/>
          </a:p>
        </p:txBody>
      </p:sp>
      <p:sp>
        <p:nvSpPr>
          <p:cNvPr id="180" name="Google Shape;180;p26"/>
          <p:cNvSpPr/>
          <p:nvPr/>
        </p:nvSpPr>
        <p:spPr>
          <a:xfrm>
            <a:off x="6750027" y="2911000"/>
            <a:ext cx="815100" cy="27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OWNS</a:t>
            </a:r>
            <a:endParaRPr sz="1800" b="1"/>
          </a:p>
        </p:txBody>
      </p:sp>
      <p:sp>
        <p:nvSpPr>
          <p:cNvPr id="181" name="Google Shape;181;p26"/>
          <p:cNvSpPr txBox="1"/>
          <p:nvPr/>
        </p:nvSpPr>
        <p:spPr>
          <a:xfrm>
            <a:off x="611600" y="2063375"/>
            <a:ext cx="51333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Label</a:t>
            </a:r>
            <a:endParaRPr sz="2000" b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Define node category (optional)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Can have more than one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2" name="Google Shape;182;p26"/>
          <p:cNvSpPr txBox="1"/>
          <p:nvPr/>
        </p:nvSpPr>
        <p:spPr>
          <a:xfrm>
            <a:off x="611590" y="3282565"/>
            <a:ext cx="5029200" cy="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Properties</a:t>
            </a:r>
            <a:endParaRPr sz="2000" b="1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Enrich a node or relationship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3585F"/>
              </a:buClr>
              <a:buSzPts val="2400"/>
              <a:buFont typeface="Open Sans"/>
              <a:buChar char="●"/>
            </a:pPr>
            <a:r>
              <a:rPr lang="en" sz="2000" dirty="0">
                <a:solidFill>
                  <a:srgbClr val="53585F"/>
                </a:solidFill>
                <a:latin typeface="Open Sans"/>
                <a:ea typeface="Open Sans"/>
                <a:cs typeface="Open Sans"/>
                <a:sym typeface="Open Sans"/>
              </a:rPr>
              <a:t>No need for nulls!</a:t>
            </a:r>
            <a:endParaRPr sz="20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53585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26"/>
          <p:cNvSpPr txBox="1"/>
          <p:nvPr/>
        </p:nvSpPr>
        <p:spPr>
          <a:xfrm>
            <a:off x="5516450" y="3455800"/>
            <a:ext cx="2151600" cy="2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 dirty="0">
                <a:latin typeface="Open Sans"/>
                <a:ea typeface="Open Sans"/>
                <a:cs typeface="Open Sans"/>
                <a:sym typeface="Open Sans"/>
              </a:rPr>
              <a:t>name: Jane</a:t>
            </a:r>
            <a:endParaRPr sz="1800" i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4" name="Google Shape;184;p26"/>
          <p:cNvSpPr txBox="1"/>
          <p:nvPr/>
        </p:nvSpPr>
        <p:spPr>
          <a:xfrm>
            <a:off x="7831200" y="3455800"/>
            <a:ext cx="1160400" cy="2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 dirty="0">
                <a:latin typeface="Open Sans"/>
                <a:ea typeface="Open Sans"/>
                <a:cs typeface="Open Sans"/>
                <a:sym typeface="Open Sans"/>
              </a:rPr>
              <a:t>make: Volvo</a:t>
            </a:r>
            <a:endParaRPr sz="1800" i="1" dirty="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 dirty="0">
                <a:latin typeface="Open Sans"/>
                <a:ea typeface="Open Sans"/>
                <a:cs typeface="Open Sans"/>
                <a:sym typeface="Open Sans"/>
              </a:rPr>
              <a:t>model: V60</a:t>
            </a:r>
            <a:endParaRPr sz="1800" i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6659450" y="3151000"/>
            <a:ext cx="2151600" cy="2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 dirty="0">
                <a:latin typeface="Open Sans"/>
                <a:ea typeface="Open Sans"/>
                <a:cs typeface="Open Sans"/>
                <a:sym typeface="Open Sans"/>
              </a:rPr>
              <a:t>since: 2018</a:t>
            </a:r>
            <a:endParaRPr sz="1800" i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6" name="Google Shape;186;p26"/>
          <p:cNvSpPr txBox="1"/>
          <p:nvPr/>
        </p:nvSpPr>
        <p:spPr>
          <a:xfrm>
            <a:off x="8144431" y="2708853"/>
            <a:ext cx="7920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:Asset</a:t>
            </a:r>
            <a:endParaRPr sz="1200" b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Open Sans ExtraBold"/>
              <a:buNone/>
            </a:pPr>
            <a:r>
              <a:rPr lang="en"/>
              <a:t>How do I query the graph?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8"/>
          <p:cNvSpPr/>
          <p:nvPr/>
        </p:nvSpPr>
        <p:spPr>
          <a:xfrm>
            <a:off x="380275" y="1128450"/>
            <a:ext cx="8544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8"/>
          <p:cNvSpPr/>
          <p:nvPr/>
        </p:nvSpPr>
        <p:spPr>
          <a:xfrm>
            <a:off x="7839818" y="4789223"/>
            <a:ext cx="2121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Merriweather Sans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FFFFFF"/>
                </a:solidFill>
                <a:latin typeface="Merriweather Sans"/>
                <a:ea typeface="Merriweather Sans"/>
                <a:cs typeface="Merriweather Sans"/>
                <a:sym typeface="Merriweather Sans"/>
              </a:rPr>
              <a:t>11</a:t>
            </a:fld>
            <a:r>
              <a:rPr lang="en" sz="1200" b="0" i="0" u="none" strike="noStrike" cap="none">
                <a:solidFill>
                  <a:srgbClr val="FFFFFF"/>
                </a:solidFill>
                <a:latin typeface="Merriweather Sans"/>
                <a:ea typeface="Merriweather Sans"/>
                <a:cs typeface="Merriweather Sans"/>
                <a:sym typeface="Merriweather Sans"/>
              </a:rPr>
              <a:t>￼</a:t>
            </a:r>
            <a:endParaRPr sz="900"/>
          </a:p>
        </p:txBody>
      </p:sp>
      <p:sp>
        <p:nvSpPr>
          <p:cNvPr id="199" name="Google Shape;199;p28"/>
          <p:cNvSpPr txBox="1">
            <a:spLocks noGrp="1"/>
          </p:cNvSpPr>
          <p:nvPr>
            <p:ph type="title"/>
          </p:nvPr>
        </p:nvSpPr>
        <p:spPr>
          <a:xfrm>
            <a:off x="311700" y="18392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Cypher</a:t>
            </a:r>
            <a:endParaRPr dirty="0"/>
          </a:p>
        </p:txBody>
      </p:sp>
      <p:sp>
        <p:nvSpPr>
          <p:cNvPr id="200" name="Google Shape;200;p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Graph databases </a:t>
            </a:r>
            <a:r>
              <a:rPr lang="en-GB" sz="2200" dirty="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have their own query language, </a:t>
            </a:r>
            <a:r>
              <a:rPr lang="en-GB" sz="22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GQL</a:t>
            </a:r>
            <a:r>
              <a:rPr lang="en-GB" sz="2200" dirty="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, an ISO standard for graph databases.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GB" sz="2200" dirty="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200" dirty="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</a:rPr>
              <a:t>Cypher</a:t>
            </a:r>
            <a:r>
              <a:rPr lang="en-GB" sz="2200" dirty="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 is </a:t>
            </a:r>
            <a:r>
              <a:rPr lang="en-GB" sz="22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Neo4j</a:t>
            </a:r>
            <a:r>
              <a:rPr lang="en-GB" sz="2200" dirty="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’s implementation of </a:t>
            </a:r>
            <a:r>
              <a:rPr lang="en-GB" sz="22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GQL</a:t>
            </a:r>
            <a:r>
              <a:rPr lang="en-GB" sz="2200" dirty="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. Cypher is a declarative language, meaning the database is responsible for finding the most optimal way of executing that query.</a:t>
            </a:r>
            <a:endParaRPr sz="22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0"/>
          <p:cNvSpPr/>
          <p:nvPr/>
        </p:nvSpPr>
        <p:spPr>
          <a:xfrm>
            <a:off x="380275" y="1128450"/>
            <a:ext cx="8544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0"/>
          <p:cNvSpPr/>
          <p:nvPr/>
        </p:nvSpPr>
        <p:spPr>
          <a:xfrm>
            <a:off x="7839818" y="4789223"/>
            <a:ext cx="2121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Merriweather Sans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FFFFFF"/>
                </a:solidFill>
                <a:latin typeface="Merriweather Sans"/>
                <a:ea typeface="Merriweather Sans"/>
                <a:cs typeface="Merriweather Sans"/>
                <a:sym typeface="Merriweather Sans"/>
              </a:rPr>
              <a:t>12</a:t>
            </a:fld>
            <a:r>
              <a:rPr lang="en" sz="1200" b="0" i="0" u="none" strike="noStrike" cap="none">
                <a:solidFill>
                  <a:srgbClr val="FFFFFF"/>
                </a:solidFill>
                <a:latin typeface="Merriweather Sans"/>
                <a:ea typeface="Merriweather Sans"/>
                <a:cs typeface="Merriweather Sans"/>
                <a:sym typeface="Merriweather Sans"/>
              </a:rPr>
              <a:t>￼</a:t>
            </a:r>
            <a:endParaRPr sz="900"/>
          </a:p>
        </p:txBody>
      </p:sp>
      <p:sp>
        <p:nvSpPr>
          <p:cNvPr id="215" name="Google Shape;215;p30"/>
          <p:cNvSpPr txBox="1">
            <a:spLocks noGrp="1"/>
          </p:cNvSpPr>
          <p:nvPr>
            <p:ph type="title"/>
          </p:nvPr>
        </p:nvSpPr>
        <p:spPr>
          <a:xfrm>
            <a:off x="311700" y="18392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Cypher</a:t>
            </a:r>
            <a:endParaRPr dirty="0"/>
          </a:p>
        </p:txBody>
      </p:sp>
      <p:sp>
        <p:nvSpPr>
          <p:cNvPr id="216" name="Google Shape;216;p3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Cypher is a </a:t>
            </a:r>
            <a:r>
              <a:rPr lang="en-GB" sz="2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declarative</a:t>
            </a:r>
            <a:r>
              <a:rPr lang="en-GB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query language that allows you to </a:t>
            </a:r>
            <a:r>
              <a:rPr lang="en-GB" sz="2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identify patterns </a:t>
            </a:r>
            <a:r>
              <a:rPr lang="en-GB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in your data using an ASCII-art style syntax consisting of </a:t>
            </a:r>
            <a:r>
              <a:rPr lang="en-GB" sz="2200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brackets</a:t>
            </a:r>
            <a:r>
              <a:rPr lang="en-GB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2200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dashes</a:t>
            </a:r>
            <a:r>
              <a:rPr lang="en-GB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2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arrows</a:t>
            </a:r>
            <a:br>
              <a:rPr lang="en" sz="2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200" dirty="0">
              <a:solidFill>
                <a:schemeClr val="tx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431800">
              <a:lnSpc>
                <a:spcPct val="150000"/>
              </a:lnSpc>
              <a:buClr>
                <a:srgbClr val="D9D9D9"/>
              </a:buClr>
              <a:buSzPts val="2200"/>
            </a:pPr>
            <a:r>
              <a:rPr lang="en" sz="2200" dirty="0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Declarative</a:t>
            </a:r>
            <a:endParaRPr sz="2200" dirty="0">
              <a:solidFill>
                <a:schemeClr val="tx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431800">
              <a:lnSpc>
                <a:spcPct val="150000"/>
              </a:lnSpc>
              <a:buClr>
                <a:srgbClr val="D9D9D9"/>
              </a:buClr>
              <a:buSzPts val="2200"/>
            </a:pPr>
            <a:r>
              <a:rPr lang="en" sz="2200" dirty="0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Expressive</a:t>
            </a:r>
            <a:endParaRPr sz="2200" dirty="0">
              <a:solidFill>
                <a:schemeClr val="tx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431800">
              <a:lnSpc>
                <a:spcPct val="150000"/>
              </a:lnSpc>
              <a:buClr>
                <a:srgbClr val="D9D9D9"/>
              </a:buClr>
              <a:buSzPts val="2200"/>
            </a:pPr>
            <a:r>
              <a:rPr lang="en" sz="2200" dirty="0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Pattern Matching</a:t>
            </a:r>
          </a:p>
          <a:p>
            <a:pPr marL="431800">
              <a:lnSpc>
                <a:spcPct val="150000"/>
              </a:lnSpc>
              <a:buClr>
                <a:srgbClr val="D9D9D9"/>
              </a:buClr>
              <a:buSzPts val="2200"/>
            </a:pPr>
            <a:r>
              <a:rPr lang="en" sz="2200" dirty="0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ASCII ART ¯\_(</a:t>
            </a:r>
            <a:r>
              <a:rPr lang="en" sz="2200" dirty="0" err="1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ツ</a:t>
            </a:r>
            <a:r>
              <a:rPr lang="en" sz="2200" dirty="0">
                <a:solidFill>
                  <a:schemeClr val="tx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)_/¯</a:t>
            </a:r>
            <a:endParaRPr sz="2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6740EEF-D0B0-F35A-C6CD-0E1669048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7362661E-D530-3860-A5B2-E26D2F1691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Node and Patterns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45CE69B0-E06B-F267-AB08-52D76BBC2C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GB" dirty="0"/>
              <a:t>Nodes in the pattern are expressed with parentheses - ( )</a:t>
            </a: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Inside the parentheses you can define information about the node, for example the label(s) or properties the node should contain.</a:t>
            </a: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026" name="Picture 2" descr="(p:Person)-[r:ACTED_IN]→(m:Movie)">
            <a:extLst>
              <a:ext uri="{FF2B5EF4-FFF2-40B4-BE49-F238E27FC236}">
                <a16:creationId xmlns:a16="http://schemas.microsoft.com/office/drawing/2014/main" id="{070B8E27-3322-25D2-867B-3DD094B3D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221" y="1799487"/>
            <a:ext cx="5880538" cy="45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:Person and :Movie highlighted">
            <a:extLst>
              <a:ext uri="{FF2B5EF4-FFF2-40B4-BE49-F238E27FC236}">
                <a16:creationId xmlns:a16="http://schemas.microsoft.com/office/drawing/2014/main" id="{67AD1B18-CCF8-C3C2-CB61-ABC0BFAF0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047" y="3625453"/>
            <a:ext cx="5880531" cy="45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3595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881756-D915-51D2-AA48-2E1E03272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1BFE1F52-6EFE-3988-1121-EB3B5E2ECE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Node and Patterns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D48E70BE-1FC0-63E7-982B-786EAD3BD5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GB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Relationship</a:t>
            </a:r>
            <a:r>
              <a:rPr lang="en-GB" dirty="0"/>
              <a:t> information is contained within </a:t>
            </a:r>
            <a:r>
              <a:rPr lang="en-GB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square brackets </a:t>
            </a:r>
            <a:r>
              <a:rPr lang="en-GB" dirty="0"/>
              <a:t>-[ ]</a:t>
            </a: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The </a:t>
            </a:r>
            <a:r>
              <a:rPr lang="en-GB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relationship type </a:t>
            </a:r>
            <a:r>
              <a:rPr lang="en-GB" dirty="0"/>
              <a:t>is prefixed with a colon - [:TYPE]</a:t>
            </a: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r>
              <a:rPr lang="en-GB" dirty="0"/>
              <a:t>The pattern contains one relationship -[:ACTED_IN]→ between (:Person) and (:Movie) nodes.</a:t>
            </a: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026" name="Picture 2" descr="(p:Person)-[r:ACTED_IN]→(m:Movie)">
            <a:extLst>
              <a:ext uri="{FF2B5EF4-FFF2-40B4-BE49-F238E27FC236}">
                <a16:creationId xmlns:a16="http://schemas.microsoft.com/office/drawing/2014/main" id="{0FB5A91D-FCAA-92BF-67EC-B565FEB3A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8" y="1949259"/>
            <a:ext cx="5880538" cy="45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4642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806527B-1348-26A8-2891-445E470D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2E8D4859-CD1D-F1F1-7D75-16D628D3FA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Node and Patterns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0F522DF3-D7E9-3AE3-3E8F-426BDC4B5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GB" dirty="0"/>
              <a:t>The nodes and relationships in the pattern are assigned to </a:t>
            </a:r>
            <a:r>
              <a:rPr lang="en-GB" dirty="0">
                <a:solidFill>
                  <a:srgbClr val="FF0000"/>
                </a:solidFill>
              </a:rPr>
              <a:t>variables</a:t>
            </a:r>
            <a:r>
              <a:rPr lang="en-GB" dirty="0"/>
              <a:t>.</a:t>
            </a: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These variables are positioned before the information about the node or relationship.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p - the :Person node</a:t>
            </a:r>
          </a:p>
          <a:p>
            <a:pPr marL="114300" indent="0">
              <a:buNone/>
            </a:pPr>
            <a:r>
              <a:rPr lang="en-GB" dirty="0"/>
              <a:t>r - the :ACTED_IN relationship</a:t>
            </a:r>
          </a:p>
          <a:p>
            <a:pPr marL="114300" indent="0">
              <a:buNone/>
            </a:pPr>
            <a:r>
              <a:rPr lang="en-GB" dirty="0"/>
              <a:t>m - the :Movie node</a:t>
            </a:r>
          </a:p>
        </p:txBody>
      </p:sp>
      <p:pic>
        <p:nvPicPr>
          <p:cNvPr id="3074" name="Picture 2" descr="p">
            <a:extLst>
              <a:ext uri="{FF2B5EF4-FFF2-40B4-BE49-F238E27FC236}">
                <a16:creationId xmlns:a16="http://schemas.microsoft.com/office/drawing/2014/main" id="{75A3D208-3D3A-5AF7-66BF-D81E66D7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157" y="1874135"/>
            <a:ext cx="6424448" cy="501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6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A871AF7-E552-449D-584E-F425F0959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40A86E4D-5782-EC73-4293-62411795E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Match</a:t>
            </a:r>
            <a:r>
              <a:rPr lang="en" dirty="0"/>
              <a:t> - </a:t>
            </a:r>
            <a:r>
              <a:rPr lang="en" dirty="0" err="1"/>
              <a:t>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4C333EE7-33FB-7143-7B39-D6C425755D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114300" indent="0">
              <a:buNone/>
            </a:pPr>
            <a:r>
              <a:rPr lang="en-GB" dirty="0"/>
              <a:t>The MATCH clause is used to find patterns in the data.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The pattern being used.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 WHERE clause which filters the results.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The variables used in the RETURN clause.</a:t>
            </a: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20E3EF4-E439-5AA7-3038-645580BA8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990" y="1885440"/>
            <a:ext cx="4774019" cy="1178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41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427A4D8-01FF-E1C2-A8CE-F4966E4DB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FF0AB986-0DBE-DAC6-31D2-E0C3066E40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Match</a:t>
            </a:r>
            <a:r>
              <a:rPr lang="en" dirty="0"/>
              <a:t> - </a:t>
            </a:r>
            <a:r>
              <a:rPr lang="en" dirty="0" err="1"/>
              <a:t>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1916D1C4-177F-62E8-076E-17D3D48B38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Patterns can be as simple as a single node, or contain multiple relationships.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 descr="A screen shot of a movie&#10;&#10;AI-generated content may be incorrect.">
            <a:extLst>
              <a:ext uri="{FF2B5EF4-FFF2-40B4-BE49-F238E27FC236}">
                <a16:creationId xmlns:a16="http://schemas.microsoft.com/office/drawing/2014/main" id="{C0D8D0FD-314C-EC17-DE1C-97C66B6EA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93" y="1853475"/>
            <a:ext cx="7772400" cy="122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649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7D2EBDA4-9B85-4CF3-6A50-4A4CEB3DE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3AD1075D-67C6-4BDB-E3B2-9F3593351B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Match</a:t>
            </a:r>
            <a:r>
              <a:rPr lang="en" dirty="0"/>
              <a:t> - </a:t>
            </a:r>
            <a:r>
              <a:rPr lang="en" dirty="0" err="1"/>
              <a:t>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4DB59BCB-001A-2744-8440-6CE3EF0FBA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sz="1600" dirty="0"/>
              <a:t>You can specify a </a:t>
            </a:r>
            <a:r>
              <a:rPr lang="en-GB" sz="1600" b="1" dirty="0">
                <a:solidFill>
                  <a:srgbClr val="92D050"/>
                </a:solidFill>
              </a:rPr>
              <a:t>range</a:t>
            </a:r>
            <a:r>
              <a:rPr lang="en-GB" sz="1600" dirty="0"/>
              <a:t> for filtering a query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There is no requirement that a node or relationship has a given property. This aspect can be used for filtering.</a:t>
            </a:r>
          </a:p>
        </p:txBody>
      </p:sp>
      <p:pic>
        <p:nvPicPr>
          <p:cNvPr id="3" name="Picture 2" descr="A screen shot of a movie&#10;&#10;AI-generated content may be incorrect.">
            <a:extLst>
              <a:ext uri="{FF2B5EF4-FFF2-40B4-BE49-F238E27FC236}">
                <a16:creationId xmlns:a16="http://schemas.microsoft.com/office/drawing/2014/main" id="{5174F7D6-9843-4963-3B9E-C944FE805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9744" y="1846590"/>
            <a:ext cx="4845160" cy="885461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04166A1-0517-4B8C-3A75-7B07F3CD2F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-5550"/>
          <a:stretch>
            <a:fillRect/>
          </a:stretch>
        </p:blipFill>
        <p:spPr>
          <a:xfrm>
            <a:off x="1839417" y="3622161"/>
            <a:ext cx="5305463" cy="95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411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2CCE6D3-9DD2-41C1-6E16-2A084026B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B67DD381-F66E-4A5B-6DD8-8E25E07BF9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Match</a:t>
            </a:r>
            <a:r>
              <a:rPr lang="en" dirty="0"/>
              <a:t> - </a:t>
            </a:r>
            <a:r>
              <a:rPr lang="en" dirty="0" err="1"/>
              <a:t>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FE3F2192-B099-2694-7948-F132CBDE4A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sz="1600" dirty="0"/>
              <a:t>Cypher has a set of string-related keywords that you can use in your </a:t>
            </a:r>
            <a:r>
              <a:rPr lang="en-GB" sz="1600" dirty="0">
                <a:solidFill>
                  <a:schemeClr val="accent2">
                    <a:lumMod val="75000"/>
                  </a:schemeClr>
                </a:solidFill>
              </a:rPr>
              <a:t>WHERE</a:t>
            </a:r>
            <a:r>
              <a:rPr lang="en-GB" sz="1600" dirty="0"/>
              <a:t> clauses to test string property values. You can specify </a:t>
            </a:r>
            <a:r>
              <a:rPr lang="en-GB" sz="1600" dirty="0">
                <a:solidFill>
                  <a:srgbClr val="FF0000"/>
                </a:solidFill>
              </a:rPr>
              <a:t>STARTS WITH</a:t>
            </a:r>
            <a:r>
              <a:rPr lang="en-GB" sz="1600" dirty="0"/>
              <a:t>, </a:t>
            </a:r>
            <a:r>
              <a:rPr lang="en-GB" sz="1600" dirty="0">
                <a:solidFill>
                  <a:srgbClr val="FF0000"/>
                </a:solidFill>
              </a:rPr>
              <a:t>ENDS</a:t>
            </a:r>
            <a:r>
              <a:rPr lang="en-GB" sz="1600" dirty="0"/>
              <a:t> </a:t>
            </a:r>
            <a:r>
              <a:rPr lang="en-GB" sz="1600" dirty="0">
                <a:solidFill>
                  <a:srgbClr val="FF0000"/>
                </a:solidFill>
              </a:rPr>
              <a:t>WITH</a:t>
            </a:r>
            <a:r>
              <a:rPr lang="en-GB" sz="1600" dirty="0"/>
              <a:t>, and </a:t>
            </a:r>
            <a:r>
              <a:rPr lang="en-GB" sz="1600" dirty="0">
                <a:solidFill>
                  <a:srgbClr val="FF0000"/>
                </a:solidFill>
              </a:rPr>
              <a:t>CONTAINS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07B7FA2F-8290-743D-BE97-B4D09F125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720" y="3360025"/>
            <a:ext cx="4651512" cy="1219200"/>
          </a:xfrm>
          <a:prstGeom prst="rect">
            <a:avLst/>
          </a:prstGeom>
        </p:spPr>
      </p:pic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A1C3ADD-51A8-478A-3865-CED3953F9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69" y="2018175"/>
            <a:ext cx="40386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0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3851610-CAC2-3C46-ADAF-2679AC2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35478D17-2943-5DF6-463A-EBB6706011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Match</a:t>
            </a:r>
            <a:r>
              <a:rPr lang="en" dirty="0"/>
              <a:t> - </a:t>
            </a:r>
            <a:r>
              <a:rPr lang="en" dirty="0" err="1"/>
              <a:t>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3034DD49-34A2-21CB-8756-2D76533B0D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You can place them in a list or you can test with an existing list in the graph. A Cypher list is a comma-separated set of values within square brackets.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3" name="Picture 2" descr="A black background with white text and orange and white letters&#10;&#10;AI-generated content may be incorrect.">
            <a:extLst>
              <a:ext uri="{FF2B5EF4-FFF2-40B4-BE49-F238E27FC236}">
                <a16:creationId xmlns:a16="http://schemas.microsoft.com/office/drawing/2014/main" id="{0B5CED27-BD1B-9F2F-E781-B7E7ED58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247" y="2102507"/>
            <a:ext cx="3413891" cy="1070362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63831D8-DCB1-9F5D-EBFA-EC238E76F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330" y="3456972"/>
            <a:ext cx="4251435" cy="97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54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5B235937-2E7C-4E73-426E-F90407314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133FEBA8-64C9-84E7-1A36-D976661EDD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n" b="1" dirty="0"/>
              <a:t>P</a:t>
            </a:r>
            <a:r>
              <a:rPr lang="en-GB" b="1" dirty="0" err="1"/>
              <a:t>roperties</a:t>
            </a:r>
            <a:r>
              <a:rPr lang="en-GB" b="1" dirty="0"/>
              <a:t> in the graph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436D8710-17A1-B1B2-9F3D-13BFFB308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The properties for a node with a given label need not be the same. One way you can discover the properties for a node is to use the keys() function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More generally, you can run this code to return all the property keys defined in the graph.</a:t>
            </a:r>
          </a:p>
          <a:p>
            <a:pPr marL="11430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FFDB484-45C1-01C7-7550-CDF225E8B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57" y="2027121"/>
            <a:ext cx="3289300" cy="812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D2191A-EA1A-3245-E9C8-D9D9B1F3E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657" y="3918275"/>
            <a:ext cx="3239492" cy="54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442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2DFE4E7-3565-B1F2-15C3-42EF61851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59441567-8BBE-2591-97A9-D675EC714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Create Data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F1FAA63A-0A63-7A20-43B2-C4CE6F3C8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To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create nodes </a:t>
            </a:r>
            <a:r>
              <a:rPr lang="en-GB" dirty="0"/>
              <a:t>and </a:t>
            </a:r>
            <a:r>
              <a:rPr lang="en-GB" dirty="0">
                <a:solidFill>
                  <a:srgbClr val="FFC000"/>
                </a:solidFill>
              </a:rPr>
              <a:t>relationships</a:t>
            </a:r>
            <a:r>
              <a:rPr lang="en-GB" dirty="0"/>
              <a:t> in the database, use the </a:t>
            </a:r>
            <a:r>
              <a:rPr lang="en-GB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MERGE</a:t>
            </a:r>
            <a:r>
              <a:rPr lang="en-GB" dirty="0"/>
              <a:t> clause.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The </a:t>
            </a:r>
            <a:r>
              <a:rPr lang="en-GB" dirty="0">
                <a:solidFill>
                  <a:srgbClr val="FF0000"/>
                </a:solidFill>
              </a:rPr>
              <a:t>MERGE</a:t>
            </a:r>
            <a:r>
              <a:rPr lang="en-GB" dirty="0"/>
              <a:t> clause </a:t>
            </a:r>
            <a:r>
              <a:rPr lang="en-GB" dirty="0">
                <a:solidFill>
                  <a:srgbClr val="FF0000"/>
                </a:solidFill>
              </a:rPr>
              <a:t>creates a pattern </a:t>
            </a:r>
            <a:r>
              <a:rPr lang="en-GB" dirty="0"/>
              <a:t>in the database. 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MERGE will only </a:t>
            </a:r>
            <a:r>
              <a:rPr lang="en-GB" dirty="0">
                <a:solidFill>
                  <a:srgbClr val="FF0000"/>
                </a:solidFill>
              </a:rPr>
              <a:t>create</a:t>
            </a:r>
            <a:r>
              <a:rPr lang="en-GB" dirty="0"/>
              <a:t> the pattern </a:t>
            </a:r>
            <a:r>
              <a:rPr lang="en-GB" dirty="0">
                <a:solidFill>
                  <a:srgbClr val="FF0000"/>
                </a:solidFill>
              </a:rPr>
              <a:t>if it doesn’t already exist</a:t>
            </a:r>
            <a:r>
              <a:rPr lang="en-GB" dirty="0"/>
              <a:t>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C27353F6-1948-F9B0-34BF-66250105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45" y="3031578"/>
            <a:ext cx="52832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282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3B6583-7760-2B99-527C-E73900CC7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E4B10D37-D022-E201-8280-9A4A7C5395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Create Data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E420D577-E59C-1D7B-B8BB-A31F52906A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To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create nodes </a:t>
            </a:r>
            <a:r>
              <a:rPr lang="en-GB" dirty="0"/>
              <a:t>and </a:t>
            </a:r>
            <a:r>
              <a:rPr lang="en-GB" dirty="0">
                <a:solidFill>
                  <a:srgbClr val="FFC000"/>
                </a:solidFill>
              </a:rPr>
              <a:t>relationships</a:t>
            </a:r>
            <a:r>
              <a:rPr lang="en-GB" dirty="0"/>
              <a:t> in the database, use the </a:t>
            </a:r>
            <a:r>
              <a:rPr lang="en-GB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MERGE</a:t>
            </a:r>
            <a:r>
              <a:rPr lang="en-GB" dirty="0"/>
              <a:t> clause.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The </a:t>
            </a:r>
            <a:r>
              <a:rPr lang="en-GB" dirty="0">
                <a:solidFill>
                  <a:srgbClr val="FF0000"/>
                </a:solidFill>
              </a:rPr>
              <a:t>MERGE</a:t>
            </a:r>
            <a:r>
              <a:rPr lang="en-GB" dirty="0"/>
              <a:t> clause </a:t>
            </a:r>
            <a:r>
              <a:rPr lang="en-GB" dirty="0">
                <a:solidFill>
                  <a:srgbClr val="FF0000"/>
                </a:solidFill>
              </a:rPr>
              <a:t>creates a pattern </a:t>
            </a:r>
            <a:r>
              <a:rPr lang="en-GB" dirty="0"/>
              <a:t>in the database. 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MERGE will only </a:t>
            </a:r>
            <a:r>
              <a:rPr lang="en-GB" dirty="0">
                <a:solidFill>
                  <a:srgbClr val="FF0000"/>
                </a:solidFill>
              </a:rPr>
              <a:t>create</a:t>
            </a:r>
            <a:r>
              <a:rPr lang="en-GB" dirty="0"/>
              <a:t> the pattern </a:t>
            </a:r>
            <a:r>
              <a:rPr lang="en-GB" dirty="0">
                <a:solidFill>
                  <a:srgbClr val="FF0000"/>
                </a:solidFill>
              </a:rPr>
              <a:t>if it doesn’t already exist</a:t>
            </a:r>
            <a:r>
              <a:rPr lang="en-GB" dirty="0"/>
              <a:t>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A2973A85-8826-0185-967B-A05142FC8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19" y="2902224"/>
            <a:ext cx="6236424" cy="15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708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BD67DBF-3B9F-BFD7-5FF1-96461C73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930B1964-E116-5BFF-0893-3194A3EA1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Create Data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AE690B43-D93C-6C03-A47E-3B56FA2091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GB" dirty="0"/>
              <a:t>To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create nodes </a:t>
            </a:r>
            <a:r>
              <a:rPr lang="en-GB" dirty="0"/>
              <a:t>and </a:t>
            </a:r>
            <a:r>
              <a:rPr lang="en-GB" dirty="0">
                <a:solidFill>
                  <a:srgbClr val="FFC000"/>
                </a:solidFill>
              </a:rPr>
              <a:t>relationships</a:t>
            </a:r>
            <a:r>
              <a:rPr lang="en-GB" dirty="0"/>
              <a:t> in the database, use the </a:t>
            </a:r>
            <a:r>
              <a:rPr lang="en-GB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MERGE</a:t>
            </a:r>
            <a:r>
              <a:rPr lang="en-GB" dirty="0"/>
              <a:t> clause.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The </a:t>
            </a:r>
            <a:r>
              <a:rPr lang="en-GB" dirty="0">
                <a:solidFill>
                  <a:srgbClr val="FF0000"/>
                </a:solidFill>
              </a:rPr>
              <a:t>MERGE</a:t>
            </a:r>
            <a:r>
              <a:rPr lang="en-GB" dirty="0"/>
              <a:t> clause </a:t>
            </a:r>
            <a:r>
              <a:rPr lang="en-GB" dirty="0">
                <a:solidFill>
                  <a:srgbClr val="FF0000"/>
                </a:solidFill>
              </a:rPr>
              <a:t>creates a pattern </a:t>
            </a:r>
            <a:r>
              <a:rPr lang="en-GB" dirty="0"/>
              <a:t>in the database. 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MERGE will only </a:t>
            </a:r>
            <a:r>
              <a:rPr lang="en-GB" dirty="0">
                <a:solidFill>
                  <a:srgbClr val="FF0000"/>
                </a:solidFill>
              </a:rPr>
              <a:t>create</a:t>
            </a:r>
            <a:r>
              <a:rPr lang="en-GB" dirty="0"/>
              <a:t> the pattern </a:t>
            </a:r>
            <a:r>
              <a:rPr lang="en-GB" dirty="0">
                <a:solidFill>
                  <a:srgbClr val="FF0000"/>
                </a:solidFill>
              </a:rPr>
              <a:t>if it doesn’t already exist</a:t>
            </a:r>
            <a:r>
              <a:rPr lang="en-GB" dirty="0"/>
              <a:t>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3" name="Picture 2" descr="A black background with yellow text&#10;&#10;AI-generated content may be incorrect.">
            <a:extLst>
              <a:ext uri="{FF2B5EF4-FFF2-40B4-BE49-F238E27FC236}">
                <a16:creationId xmlns:a16="http://schemas.microsoft.com/office/drawing/2014/main" id="{BE65D1CB-42FD-5810-B033-F387A4BB4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676" y="2902225"/>
            <a:ext cx="5719987" cy="145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030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E5A3E9-ECD4-5B4C-96A0-DB59E7DE3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8C99FC45-99BF-12C0-3FEA-3D228C85A6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b="1" dirty="0"/>
              <a:t>SET Property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798C211F-FD54-BF84-E58D-11DFEDA5D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A60F73A4-2DD6-3F8F-2D78-26F2A78D82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04" y="1388861"/>
            <a:ext cx="5164322" cy="1182889"/>
          </a:xfrm>
          <a:prstGeom prst="rect">
            <a:avLst/>
          </a:prstGeom>
        </p:spPr>
      </p:pic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73314CB-5812-D8F8-667E-6E8EBCF1F4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6169" y="2989380"/>
            <a:ext cx="5622556" cy="136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881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2C955D9-3182-554D-B26C-91E14A476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600C0C56-0B10-F27F-C4D4-D853417921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UPDATE and DELETE Property</a:t>
            </a:r>
            <a:endParaRPr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2A351662-14C2-B547-83BF-54A980A7AD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GB" dirty="0"/>
              <a:t>We also have the option to use the 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SET</a:t>
            </a:r>
            <a:r>
              <a:rPr lang="en-GB" dirty="0"/>
              <a:t> keyword for 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setting</a:t>
            </a:r>
            <a:r>
              <a:rPr lang="en-GB" dirty="0"/>
              <a:t> a </a:t>
            </a:r>
            <a:r>
              <a:rPr lang="en-GB" dirty="0">
                <a:solidFill>
                  <a:schemeClr val="accent2"/>
                </a:solidFill>
              </a:rPr>
              <a:t>property value</a:t>
            </a:r>
            <a:r>
              <a:rPr lang="en-GB" dirty="0"/>
              <a:t>. In the context of particular MERGE or MATCH clause where you have defined a variable to reference the node or relationship, you can set property values.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21D1F16-55DD-0FB0-7584-FD8365182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2902225"/>
            <a:ext cx="6286500" cy="154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739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8F048-3D7E-9569-F18A-82444728E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32587"/>
            <a:ext cx="8520600" cy="831300"/>
          </a:xfrm>
        </p:spPr>
        <p:txBody>
          <a:bodyPr>
            <a:normAutofit/>
          </a:bodyPr>
          <a:lstStyle/>
          <a:p>
            <a:r>
              <a:rPr lang="en-GB" b="1" dirty="0"/>
              <a:t>Deleting node and relationship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74134C-E605-A539-F9CA-A28AA0FA8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25225"/>
            <a:ext cx="8215612" cy="3354000"/>
          </a:xfrm>
        </p:spPr>
        <p:txBody>
          <a:bodyPr>
            <a:norm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GB" sz="1600" dirty="0"/>
              <a:t>You can also specify </a:t>
            </a:r>
            <a:r>
              <a:rPr lang="en-GB" sz="1600" dirty="0" err="1"/>
              <a:t>behavior</a:t>
            </a:r>
            <a:r>
              <a:rPr lang="en-GB" sz="1600" dirty="0"/>
              <a:t> at runtime that enables you to set properties when the node is created or when the node is found. We can use the ON CREATE SET or 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GB" sz="1600" dirty="0"/>
              <a:t>ON MATCH SET conditions, or the SET keywords to set any additional properties.</a:t>
            </a:r>
            <a:endParaRPr lang="en-US" sz="1600" dirty="0"/>
          </a:p>
        </p:txBody>
      </p:sp>
      <p:pic>
        <p:nvPicPr>
          <p:cNvPr id="7" name="Picture 6" descr="A black background with yellow text&#10;&#10;AI-generated content may be incorrect.">
            <a:extLst>
              <a:ext uri="{FF2B5EF4-FFF2-40B4-BE49-F238E27FC236}">
                <a16:creationId xmlns:a16="http://schemas.microsoft.com/office/drawing/2014/main" id="{9DF3DE66-B228-CEBE-10C9-40669A797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2724587"/>
            <a:ext cx="4127500" cy="762000"/>
          </a:xfrm>
          <a:prstGeom prst="rect">
            <a:avLst/>
          </a:prstGeom>
        </p:spPr>
      </p:pic>
      <p:pic>
        <p:nvPicPr>
          <p:cNvPr id="9" name="Picture 8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3FB49CB-64C7-7C4F-A8EE-BF30801B5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718" y="3639065"/>
            <a:ext cx="6372594" cy="98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2658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96368-D441-FC65-C310-474307899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48625"/>
            <a:ext cx="8520600" cy="831300"/>
          </a:xfrm>
        </p:spPr>
        <p:txBody>
          <a:bodyPr/>
          <a:lstStyle/>
          <a:p>
            <a:r>
              <a:rPr lang="en-GB" b="1" dirty="0"/>
              <a:t>Deleting node and relationship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67E004-8E2C-8113-05D1-BAD943F6A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GB" dirty="0"/>
              <a:t>Neo4j provides a feature where you cannot delete a node if it has incoming or outgoing relationships. This prevents the graph from having orphaned relationships.</a:t>
            </a:r>
            <a:endParaRPr lang="en-US"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10A6A96-0D50-9974-532E-E1190222E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93" y="2426734"/>
            <a:ext cx="4222266" cy="805564"/>
          </a:xfrm>
          <a:prstGeom prst="rect">
            <a:avLst/>
          </a:prstGeom>
        </p:spPr>
      </p:pic>
      <p:pic>
        <p:nvPicPr>
          <p:cNvPr id="7" name="Picture 6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423B77D-5B4F-B4DC-43ED-882F1E27C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019" y="3593805"/>
            <a:ext cx="3096088" cy="89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168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69080-8645-D35A-EE32-0660120F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Ordering results</a:t>
            </a:r>
            <a:br>
              <a:rPr lang="en-GB" b="1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98A39A-1582-307E-7879-C4B64312B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GB" dirty="0"/>
              <a:t>Whether you return results as nodes or as properties of nodes, you can specify a property value for the ordering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Picture 4" descr="A black background with white text and numbers&#10;&#10;AI-generated content may be incorrect.">
            <a:extLst>
              <a:ext uri="{FF2B5EF4-FFF2-40B4-BE49-F238E27FC236}">
                <a16:creationId xmlns:a16="http://schemas.microsoft.com/office/drawing/2014/main" id="{949680FE-517D-3B4C-4103-98F53857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35" y="2145701"/>
            <a:ext cx="3486921" cy="1015285"/>
          </a:xfrm>
          <a:prstGeom prst="rect">
            <a:avLst/>
          </a:prstGeom>
        </p:spPr>
      </p:pic>
      <p:pic>
        <p:nvPicPr>
          <p:cNvPr id="7" name="Picture 6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A286179-7134-1FB8-6F2D-5B8FD40D7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39395"/>
            <a:ext cx="3486921" cy="1021592"/>
          </a:xfrm>
          <a:prstGeom prst="rect">
            <a:avLst/>
          </a:prstGeom>
        </p:spPr>
      </p:pic>
      <p:pic>
        <p:nvPicPr>
          <p:cNvPr id="9" name="Picture 8" descr="A screen shot of a movie&#10;&#10;AI-generated content may be incorrect.">
            <a:extLst>
              <a:ext uri="{FF2B5EF4-FFF2-40B4-BE49-F238E27FC236}">
                <a16:creationId xmlns:a16="http://schemas.microsoft.com/office/drawing/2014/main" id="{0E8D9CB5-75E8-FF7D-0A73-C8B107F951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35" y="3387645"/>
            <a:ext cx="3914010" cy="119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816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F982AEA-79D7-E398-EFE6-3B9526CC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>
            <a:extLst>
              <a:ext uri="{FF2B5EF4-FFF2-40B4-BE49-F238E27FC236}">
                <a16:creationId xmlns:a16="http://schemas.microsoft.com/office/drawing/2014/main" id="{D8511EEA-E017-CCC4-2F3A-6D22193B43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1" y="227410"/>
            <a:ext cx="7796213" cy="74414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Noe4j deployments</a:t>
            </a:r>
            <a:endParaRPr lang="en-IT" dirty="0"/>
          </a:p>
        </p:txBody>
      </p:sp>
      <p:sp>
        <p:nvSpPr>
          <p:cNvPr id="222" name="Google Shape;222;p31">
            <a:extLst>
              <a:ext uri="{FF2B5EF4-FFF2-40B4-BE49-F238E27FC236}">
                <a16:creationId xmlns:a16="http://schemas.microsoft.com/office/drawing/2014/main" id="{E43BA21F-22AD-1E51-3501-B4C75A6562A5}"/>
              </a:ext>
            </a:extLst>
          </p:cNvPr>
          <p:cNvSpPr txBox="1">
            <a:spLocks noGrp="1"/>
          </p:cNvSpPr>
          <p:nvPr>
            <p:ph sz="half" idx="1"/>
          </p:nvPr>
        </p:nvSpPr>
        <p:spPr>
          <a:xfrm>
            <a:off x="239712" y="1200150"/>
            <a:ext cx="8305197" cy="3429000"/>
          </a:xfr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lnSpc>
                <a:spcPct val="90000"/>
              </a:lnSpc>
              <a:buNone/>
            </a:pPr>
            <a:r>
              <a:rPr lang="en-GB" sz="1800" dirty="0"/>
              <a:t>There are many options to use Neo4j, including a fully hosted cloud solution (</a:t>
            </a:r>
            <a:r>
              <a:rPr lang="en-GB" sz="1800" b="1" u="sng" dirty="0">
                <a:hlinkClick r:id="rId3"/>
              </a:rPr>
              <a:t>AuraDB</a:t>
            </a:r>
            <a:r>
              <a:rPr lang="en-GB" sz="1800" dirty="0"/>
              <a:t>), </a:t>
            </a:r>
            <a:r>
              <a:rPr lang="en-GB" sz="1800" b="1" dirty="0"/>
              <a:t>local installations</a:t>
            </a:r>
            <a:r>
              <a:rPr lang="en-GB" sz="1800" dirty="0"/>
              <a:t>, and </a:t>
            </a:r>
            <a:r>
              <a:rPr lang="en-GB" sz="1800" b="1" dirty="0"/>
              <a:t>Docker</a:t>
            </a:r>
            <a:r>
              <a:rPr lang="en-GB" sz="1800" dirty="0"/>
              <a:t> containers.</a:t>
            </a:r>
          </a:p>
        </p:txBody>
      </p:sp>
      <p:pic>
        <p:nvPicPr>
          <p:cNvPr id="7170" name="Picture 2" descr="The AuraDB console">
            <a:extLst>
              <a:ext uri="{FF2B5EF4-FFF2-40B4-BE49-F238E27FC236}">
                <a16:creationId xmlns:a16="http://schemas.microsoft.com/office/drawing/2014/main" id="{CD754EF7-C8CB-6D58-9027-D8D925DA40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891" y="2986398"/>
            <a:ext cx="2658140" cy="1655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The Neo4j Desktop">
            <a:extLst>
              <a:ext uri="{FF2B5EF4-FFF2-40B4-BE49-F238E27FC236}">
                <a16:creationId xmlns:a16="http://schemas.microsoft.com/office/drawing/2014/main" id="{FEBB7873-84B1-5411-4682-E7B67FF13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483" y="3021737"/>
            <a:ext cx="2658140" cy="1704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A7CE-76EF-1AD6-64FD-008FD460D825}"/>
              </a:ext>
            </a:extLst>
          </p:cNvPr>
          <p:cNvSpPr txBox="1"/>
          <p:nvPr/>
        </p:nvSpPr>
        <p:spPr>
          <a:xfrm>
            <a:off x="764891" y="2137919"/>
            <a:ext cx="28845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i="0" u="sng" dirty="0">
                <a:solidFill>
                  <a:srgbClr val="014063"/>
                </a:solidFill>
                <a:effectLst/>
                <a:latin typeface="Public Sans"/>
                <a:hlinkClick r:id="rId3"/>
              </a:rPr>
              <a:t>AuraDB</a:t>
            </a:r>
            <a:r>
              <a:rPr lang="en-GB" sz="1400" b="0" i="0" dirty="0">
                <a:solidFill>
                  <a:srgbClr val="09090A"/>
                </a:solidFill>
                <a:effectLst/>
                <a:latin typeface="Public Sans"/>
              </a:rPr>
              <a:t> is a fully managed cloud service that provides a Neo4j database as a service.</a:t>
            </a: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FBF8A-ECC3-495D-D2F6-46619097399E}"/>
              </a:ext>
            </a:extLst>
          </p:cNvPr>
          <p:cNvSpPr txBox="1"/>
          <p:nvPr/>
        </p:nvSpPr>
        <p:spPr>
          <a:xfrm>
            <a:off x="4915612" y="2121763"/>
            <a:ext cx="355835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i="0" dirty="0">
                <a:solidFill>
                  <a:srgbClr val="09090A"/>
                </a:solidFill>
                <a:effectLst/>
                <a:latin typeface="Public Sans"/>
              </a:rPr>
              <a:t>Neo4j provides a </a:t>
            </a:r>
            <a:r>
              <a:rPr lang="en-GB" sz="1400" b="1" i="0" dirty="0">
                <a:solidFill>
                  <a:srgbClr val="09090A"/>
                </a:solidFill>
                <a:effectLst/>
                <a:latin typeface="Public Sans"/>
              </a:rPr>
              <a:t>Desktop</a:t>
            </a:r>
            <a:r>
              <a:rPr lang="en-GB" sz="1400" b="0" i="0" dirty="0">
                <a:solidFill>
                  <a:srgbClr val="09090A"/>
                </a:solidFill>
                <a:effectLst/>
                <a:latin typeface="Public Sans"/>
              </a:rPr>
              <a:t> development tool that includes a local installation of Neo4j, a browser-based interface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05298422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MATCH to retrieve nodes</a:t>
            </a:r>
            <a:endParaRPr/>
          </a:p>
        </p:txBody>
      </p:sp>
      <p:sp>
        <p:nvSpPr>
          <p:cNvPr id="222" name="Google Shape;222;p3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//Match all nodes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MATCH (n) 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23" name="Google Shape;22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78673" y="1237369"/>
            <a:ext cx="3343303" cy="152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MATCH to retrieve nodes</a:t>
            </a:r>
            <a:endParaRPr/>
          </a:p>
        </p:txBody>
      </p:sp>
      <p:sp>
        <p:nvSpPr>
          <p:cNvPr id="229" name="Google Shape;229;p3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//Match all nodes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(n) 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//Match all nodes with a Person label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(n:Person) 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30" name="Google Shape;23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78673" y="1237369"/>
            <a:ext cx="3343303" cy="152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MATCH to retrieve nodes</a:t>
            </a:r>
            <a:endParaRPr/>
          </a:p>
        </p:txBody>
      </p:sp>
      <p:sp>
        <p:nvSpPr>
          <p:cNvPr id="236" name="Google Shape;236;p3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//Match all nodes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(n) 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//Match all nodes with a Person label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</a:t>
            </a:r>
            <a:r>
              <a:rPr lang="en" sz="1400" dirty="0" err="1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n:Person</a:t>
            </a: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) 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//Match all nodes with a Person label and property name is "Tom Hanks"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MATCH (</a:t>
            </a:r>
            <a:r>
              <a:rPr lang="en" sz="1400" dirty="0" err="1">
                <a:latin typeface="Courier New"/>
                <a:ea typeface="Courier New"/>
                <a:cs typeface="Courier New"/>
                <a:sym typeface="Courier New"/>
              </a:rPr>
              <a:t>n:Person</a:t>
            </a: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 {name: "Tom Hanks"}) 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RETURN n;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37" name="Google Shape;23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78673" y="1237369"/>
            <a:ext cx="3343303" cy="152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Use MATCH and properties to retrieve nodes </a:t>
            </a:r>
            <a:endParaRPr sz="2700"/>
          </a:p>
        </p:txBody>
      </p:sp>
      <p:sp>
        <p:nvSpPr>
          <p:cNvPr id="242" name="Google Shape;242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//Return nodes with label Person and name property is "Tom Hanks" - Inline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(p:Person {name: "Tom Hanks"}) //Only works with exact matches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p;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Use MATCH and properties to retrieve nodes </a:t>
            </a:r>
            <a:endParaRPr sz="2700"/>
          </a:p>
        </p:txBody>
      </p:sp>
      <p:sp>
        <p:nvSpPr>
          <p:cNvPr id="248" name="Google Shape;248;p3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//Return nodes with label Person and name property is "Tom Hanks" - Inline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(p:Person {name: "Tom Hanks"}) //Only works with exact matches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p;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434343"/>
                </a:solidFill>
                <a:latin typeface="Courier New"/>
                <a:ea typeface="Courier New"/>
                <a:cs typeface="Courier New"/>
                <a:sym typeface="Courier New"/>
              </a:rPr>
              <a:t>//Return nodes with label Person and name property equals "Tom Hanks"</a:t>
            </a:r>
            <a:endParaRPr sz="1400">
              <a:solidFill>
                <a:srgbClr val="43434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434343"/>
                </a:solidFill>
                <a:latin typeface="Courier New"/>
                <a:ea typeface="Courier New"/>
                <a:cs typeface="Courier New"/>
                <a:sym typeface="Courier New"/>
              </a:rPr>
              <a:t>MATCH (p:Person)</a:t>
            </a:r>
            <a:endParaRPr sz="1400">
              <a:solidFill>
                <a:srgbClr val="43434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434343"/>
                </a:solidFill>
                <a:latin typeface="Courier New"/>
                <a:ea typeface="Courier New"/>
                <a:cs typeface="Courier New"/>
                <a:sym typeface="Courier New"/>
              </a:rPr>
              <a:t>WHERE p.name = "Tom Hanks"</a:t>
            </a:r>
            <a:endParaRPr sz="1400">
              <a:solidFill>
                <a:srgbClr val="43434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434343"/>
                </a:solidFill>
                <a:latin typeface="Courier New"/>
                <a:ea typeface="Courier New"/>
                <a:cs typeface="Courier New"/>
                <a:sym typeface="Courier New"/>
              </a:rPr>
              <a:t>RETURN p;</a:t>
            </a:r>
            <a:endParaRPr sz="1400">
              <a:solidFill>
                <a:srgbClr val="43434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Use MATCH and properties to retrieve nodes </a:t>
            </a:r>
            <a:endParaRPr sz="2700"/>
          </a:p>
        </p:txBody>
      </p:sp>
      <p:sp>
        <p:nvSpPr>
          <p:cNvPr id="254" name="Google Shape;254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//Return nodes with label Person and name property is "Tom Hanks" - Inline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(p:Person {name: "Tom Hanks"}) //Only works with exact matches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p;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//Return nodes with label Person and name property equals "Tom Hanks"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(p:Person)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WHERE p.name = "Tom Hanks"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p;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//Return nodes with label Movie, released property is between 1991 and 1999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(m:Movie)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WHERE m.released &gt; 1990 AND m.released &lt; 2000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m;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Extending the MATCH</a:t>
            </a:r>
            <a:endParaRPr/>
          </a:p>
        </p:txBody>
      </p:sp>
      <p:sp>
        <p:nvSpPr>
          <p:cNvPr id="260" name="Google Shape;260;p3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62" name="Google Shape;262;p37"/>
          <p:cNvPicPr preferRelativeResize="0"/>
          <p:nvPr/>
        </p:nvPicPr>
        <p:blipFill rotWithShape="1">
          <a:blip r:embed="rId3">
            <a:alphaModFix/>
          </a:blip>
          <a:srcRect t="9133" b="13335"/>
          <a:stretch/>
        </p:blipFill>
        <p:spPr>
          <a:xfrm>
            <a:off x="490550" y="1094600"/>
            <a:ext cx="8467725" cy="92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Extending the MATCH</a:t>
            </a:r>
            <a:endParaRPr/>
          </a:p>
        </p:txBody>
      </p:sp>
      <p:sp>
        <p:nvSpPr>
          <p:cNvPr id="267" name="Google Shape;267;p3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//Find all the movies Tom Hanks acted in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(:Person {name:"Tom Hanks"})-[:ACTED_IN]-&gt;(m:Movie)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m.title;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69" name="Google Shape;269;p38"/>
          <p:cNvPicPr preferRelativeResize="0"/>
          <p:nvPr/>
        </p:nvPicPr>
        <p:blipFill rotWithShape="1">
          <a:blip r:embed="rId3">
            <a:alphaModFix/>
          </a:blip>
          <a:srcRect t="9133" b="13335"/>
          <a:stretch/>
        </p:blipFill>
        <p:spPr>
          <a:xfrm>
            <a:off x="490550" y="1094600"/>
            <a:ext cx="8467725" cy="92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Extending the MATCH</a:t>
            </a:r>
            <a:endParaRPr/>
          </a:p>
        </p:txBody>
      </p:sp>
      <p:sp>
        <p:nvSpPr>
          <p:cNvPr id="274" name="Google Shape;274;p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//Find all the movies Tom Hanks acted in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(:Person {name:"Tom Hanks"})-[:ACTED_IN]-&gt;(m:Movie)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m.title;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//Find all the movies Tom Hanks directed and order by latest movie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(:Person {name:"Tom Hanks"})-[:DIRECTED]-&gt;(m:Movie)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m.title, m.released ORDER BY m.released DESC;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76" name="Google Shape;276;p39"/>
          <p:cNvPicPr preferRelativeResize="0"/>
          <p:nvPr/>
        </p:nvPicPr>
        <p:blipFill rotWithShape="1">
          <a:blip r:embed="rId3">
            <a:alphaModFix/>
          </a:blip>
          <a:srcRect t="9133" b="13335"/>
          <a:stretch/>
        </p:blipFill>
        <p:spPr>
          <a:xfrm>
            <a:off x="490550" y="1094600"/>
            <a:ext cx="8467725" cy="92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Extending the MATCH</a:t>
            </a:r>
            <a:endParaRPr/>
          </a:p>
        </p:txBody>
      </p:sp>
      <p:sp>
        <p:nvSpPr>
          <p:cNvPr id="281" name="Google Shape;281;p4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//Find all the movies Tom Hanks acted in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(:Person {name:"Tom Hanks"})-[:ACTED_IN]-&gt;(m:Movie)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m.title;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//Find all the movies Tom Hanks directed and order by latest movie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(:Person {name:"Tom Hanks"})-[:DIRECTED]-&gt;(m:Movie)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RETURN m.title, m.released ORDER BY m.released DESC;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//Find all of the co-actors Tom Hanks have worked with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MATCH (:Person {name:"Tom Hanks"})--&gt;(:Movie)&lt;-[:ACTED_IN]-(coActor:Person)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RETURN coActor.name;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83" name="Google Shape;283;p40"/>
          <p:cNvPicPr preferRelativeResize="0"/>
          <p:nvPr/>
        </p:nvPicPr>
        <p:blipFill rotWithShape="1">
          <a:blip r:embed="rId3">
            <a:alphaModFix/>
          </a:blip>
          <a:srcRect t="9133" b="13335"/>
          <a:stretch/>
        </p:blipFill>
        <p:spPr>
          <a:xfrm>
            <a:off x="490550" y="1094600"/>
            <a:ext cx="8467725" cy="92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</a:t>
            </a:r>
            <a:endParaRPr/>
          </a:p>
        </p:txBody>
      </p:sp>
      <p:sp>
        <p:nvSpPr>
          <p:cNvPr id="288" name="Google Shape;288;p4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//Create a person node called "Tom Hanks"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CREATE (p:Person {name:"Tom Hanks"});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</a:t>
            </a:r>
            <a:endParaRPr/>
          </a:p>
        </p:txBody>
      </p:sp>
      <p:sp>
        <p:nvSpPr>
          <p:cNvPr id="294" name="Google Shape;294;p4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//Create a person node called "Tom Hanks"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CREATE (</a:t>
            </a:r>
            <a:r>
              <a:rPr lang="en" sz="1400" dirty="0" err="1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p:Person</a:t>
            </a: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400" dirty="0" err="1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name:"Tom</a:t>
            </a:r>
            <a:r>
              <a:rPr lang="en" sz="1400" dirty="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 Hanks"});</a:t>
            </a: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//Create an ACTED_IN relationship between "Tom Hanks" and "Apollo 13"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MATCH (</a:t>
            </a:r>
            <a:r>
              <a:rPr lang="en" sz="1400" dirty="0" err="1">
                <a:latin typeface="Courier New"/>
                <a:ea typeface="Courier New"/>
                <a:cs typeface="Courier New"/>
                <a:sym typeface="Courier New"/>
              </a:rPr>
              <a:t>p:Person</a:t>
            </a: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400" dirty="0" err="1">
                <a:latin typeface="Courier New"/>
                <a:ea typeface="Courier New"/>
                <a:cs typeface="Courier New"/>
                <a:sym typeface="Courier New"/>
              </a:rPr>
              <a:t>name:"Tom</a:t>
            </a: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 Hanks"}), (</a:t>
            </a:r>
            <a:r>
              <a:rPr lang="en" sz="1400" dirty="0" err="1">
                <a:latin typeface="Courier New"/>
                <a:ea typeface="Courier New"/>
                <a:cs typeface="Courier New"/>
                <a:sym typeface="Courier New"/>
              </a:rPr>
              <a:t>m:Movie</a:t>
            </a: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400" dirty="0" err="1">
                <a:latin typeface="Courier New"/>
                <a:ea typeface="Courier New"/>
                <a:cs typeface="Courier New"/>
                <a:sym typeface="Courier New"/>
              </a:rPr>
              <a:t>title:"Apollo</a:t>
            </a: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 13"})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Courier New"/>
                <a:ea typeface="Courier New"/>
                <a:cs typeface="Courier New"/>
                <a:sym typeface="Courier New"/>
              </a:rPr>
              <a:t>CREATE (p)-[:ACTED_IN]-&gt;(m);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</a:t>
            </a:r>
            <a:endParaRPr/>
          </a:p>
        </p:txBody>
      </p:sp>
      <p:sp>
        <p:nvSpPr>
          <p:cNvPr id="300" name="Google Shape;300;p4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//Create a person node called "Tom Hanks"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CREATE (p:Person {name:"Tom Hanks"});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//Create an ACTED_IN relationship between "Tom Hanks" and "Apollo 13"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MATCH (p:Person {name:"Tom Hanks"}), (m:Movie {title:"Apollo 13"})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CREATE (p)-[:ACTED_IN]-&gt;(m);</a:t>
            </a: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//Create the pattern of "Tom Hanks" ACTED_IN "Apollo 13"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434343"/>
                </a:solidFill>
                <a:latin typeface="Courier New"/>
                <a:ea typeface="Courier New"/>
                <a:cs typeface="Courier New"/>
                <a:sym typeface="Courier New"/>
              </a:rPr>
              <a:t>//This will create the entire pattern, nodes and all!</a:t>
            </a:r>
            <a:endParaRPr sz="1400">
              <a:solidFill>
                <a:srgbClr val="43434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CREATE (:Person {name:"Tom Hanks")-[:ACTED_IN]-&gt;(:Movie {title:"Apollo 13});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720F6-7BCE-840B-57E7-65041007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Hops of distance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D44A2E-E73C-70F7-60DE-BA78571214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“Find the shortest path between two actors”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MATCH path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shortestPath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a:Person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{name: 'Keanu Reeves'})-[*]-(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b:Person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{name: 'Tom Hanks'})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RETURN path;</a:t>
            </a:r>
          </a:p>
        </p:txBody>
      </p:sp>
    </p:spTree>
    <p:extLst>
      <p:ext uri="{BB962C8B-B14F-4D97-AF65-F5344CB8AC3E}">
        <p14:creationId xmlns:p14="http://schemas.microsoft.com/office/powerpoint/2010/main" val="29830273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D967-1A1B-A21E-2D4E-7280595B9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Hops of distance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B832D-C0A1-3D59-EE72-80DD6C726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“Find the path between Tom Hanks and co-actors in 2 hops”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MATCH path =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tom:Person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{name: 'Tom Hanks'})-[:ACTED_IN]-&gt;(:Movie)&lt;-[:ACTED_IN]-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(:Person)-[:ACTED_IN]-&gt;(:Movie)&lt;-[:ACTED_IN]-(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candidate:Person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WHERE candidate &lt;&gt; tom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RETURN path</a:t>
            </a:r>
          </a:p>
          <a:p>
            <a:pPr marL="11430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LIMIT 20;</a:t>
            </a:r>
          </a:p>
        </p:txBody>
      </p:sp>
    </p:spTree>
    <p:extLst>
      <p:ext uri="{BB962C8B-B14F-4D97-AF65-F5344CB8AC3E}">
        <p14:creationId xmlns:p14="http://schemas.microsoft.com/office/powerpoint/2010/main" val="37788896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lend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1" id="{8B58F282-D680-3E40-BAA0-C834AFA52925}" vid="{641FFC18-1A8E-6446-AF59-59AFE3328ED7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5368</TotalTime>
  <Words>1890</Words>
  <Application>Microsoft Macintosh PowerPoint</Application>
  <PresentationFormat>On-screen Show (16:9)</PresentationFormat>
  <Paragraphs>354</Paragraphs>
  <Slides>45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7" baseType="lpstr">
      <vt:lpstr>Wingdings</vt:lpstr>
      <vt:lpstr>MS PGothic</vt:lpstr>
      <vt:lpstr>Economica</vt:lpstr>
      <vt:lpstr>Merriweather Sans</vt:lpstr>
      <vt:lpstr>Open Sans ExtraBold</vt:lpstr>
      <vt:lpstr>Public Sans</vt:lpstr>
      <vt:lpstr>Courier New</vt:lpstr>
      <vt:lpstr>Arial</vt:lpstr>
      <vt:lpstr>Calibri</vt:lpstr>
      <vt:lpstr>Open Sans</vt:lpstr>
      <vt:lpstr>Tahoma</vt:lpstr>
      <vt:lpstr>Theme1</vt:lpstr>
      <vt:lpstr>PowerPoint Presentation</vt:lpstr>
      <vt:lpstr>In this session</vt:lpstr>
      <vt:lpstr>So what does a (property) graph look like?</vt:lpstr>
      <vt:lpstr>Graph components</vt:lpstr>
      <vt:lpstr>Graph components</vt:lpstr>
      <vt:lpstr>Property graph database</vt:lpstr>
      <vt:lpstr>Property graph database</vt:lpstr>
      <vt:lpstr>Property graph database</vt:lpstr>
      <vt:lpstr>Property graph database</vt:lpstr>
      <vt:lpstr>How do I query the graph?</vt:lpstr>
      <vt:lpstr>Cypher</vt:lpstr>
      <vt:lpstr>Cypher</vt:lpstr>
      <vt:lpstr>Node and Patterns</vt:lpstr>
      <vt:lpstr>Node and Patterns</vt:lpstr>
      <vt:lpstr>Node and Patterns</vt:lpstr>
      <vt:lpstr>Match - ing </vt:lpstr>
      <vt:lpstr>Match - ing </vt:lpstr>
      <vt:lpstr>Match - ing </vt:lpstr>
      <vt:lpstr>Match - ing </vt:lpstr>
      <vt:lpstr>Match - ing </vt:lpstr>
      <vt:lpstr>Properties in the graph</vt:lpstr>
      <vt:lpstr>Create Data</vt:lpstr>
      <vt:lpstr>Create Data</vt:lpstr>
      <vt:lpstr>Create Data</vt:lpstr>
      <vt:lpstr>SET Property</vt:lpstr>
      <vt:lpstr>UPDATE and DELETE Property</vt:lpstr>
      <vt:lpstr>Deleting node and relationship</vt:lpstr>
      <vt:lpstr>Deleting node and relationship</vt:lpstr>
      <vt:lpstr>Ordering results </vt:lpstr>
      <vt:lpstr>Noe4j deployments</vt:lpstr>
      <vt:lpstr>Use MATCH to retrieve nodes</vt:lpstr>
      <vt:lpstr>Use MATCH to retrieve nodes</vt:lpstr>
      <vt:lpstr>Use MATCH to retrieve nodes</vt:lpstr>
      <vt:lpstr>Use MATCH and properties to retrieve nodes </vt:lpstr>
      <vt:lpstr>Use MATCH and properties to retrieve nodes </vt:lpstr>
      <vt:lpstr>Use MATCH and properties to retrieve nodes </vt:lpstr>
      <vt:lpstr>Extending the MATCH</vt:lpstr>
      <vt:lpstr>Extending the MATCH</vt:lpstr>
      <vt:lpstr>Extending the MATCH</vt:lpstr>
      <vt:lpstr>Extending the MATCH</vt:lpstr>
      <vt:lpstr>CREATE </vt:lpstr>
      <vt:lpstr>CREATE </vt:lpstr>
      <vt:lpstr>CREATE </vt:lpstr>
      <vt:lpstr>1 Hops of distance</vt:lpstr>
      <vt:lpstr>2 Hops of distance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Esperto Alba Project</cp:lastModifiedBy>
  <cp:revision>6</cp:revision>
  <dcterms:modified xsi:type="dcterms:W3CDTF">2026-05-14T07:46:11Z</dcterms:modified>
</cp:coreProperties>
</file>