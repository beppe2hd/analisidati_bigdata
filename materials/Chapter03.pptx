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9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notesMasterIdLst>
    <p:notesMasterId r:id="rId58"/>
  </p:notesMasterIdLst>
  <p:handoutMasterIdLst>
    <p:handoutMasterId r:id="rId59"/>
  </p:handoutMasterIdLst>
  <p:sldIdLst>
    <p:sldId id="395" r:id="rId2"/>
    <p:sldId id="363" r:id="rId3"/>
    <p:sldId id="373" r:id="rId4"/>
    <p:sldId id="388" r:id="rId5"/>
    <p:sldId id="399" r:id="rId6"/>
    <p:sldId id="400" r:id="rId7"/>
    <p:sldId id="326" r:id="rId8"/>
    <p:sldId id="327" r:id="rId9"/>
    <p:sldId id="398" r:id="rId10"/>
    <p:sldId id="328" r:id="rId11"/>
    <p:sldId id="397" r:id="rId12"/>
    <p:sldId id="329" r:id="rId13"/>
    <p:sldId id="330" r:id="rId14"/>
    <p:sldId id="364" r:id="rId15"/>
    <p:sldId id="331" r:id="rId16"/>
    <p:sldId id="362" r:id="rId17"/>
    <p:sldId id="375" r:id="rId18"/>
    <p:sldId id="389" r:id="rId19"/>
    <p:sldId id="376" r:id="rId20"/>
    <p:sldId id="390" r:id="rId21"/>
    <p:sldId id="378" r:id="rId22"/>
    <p:sldId id="404" r:id="rId23"/>
    <p:sldId id="405" r:id="rId24"/>
    <p:sldId id="380" r:id="rId25"/>
    <p:sldId id="335" r:id="rId26"/>
    <p:sldId id="336" r:id="rId27"/>
    <p:sldId id="337" r:id="rId28"/>
    <p:sldId id="381" r:id="rId29"/>
    <p:sldId id="382" r:id="rId30"/>
    <p:sldId id="384" r:id="rId31"/>
    <p:sldId id="383" r:id="rId32"/>
    <p:sldId id="401" r:id="rId33"/>
    <p:sldId id="338" r:id="rId34"/>
    <p:sldId id="342" r:id="rId35"/>
    <p:sldId id="343" r:id="rId36"/>
    <p:sldId id="344" r:id="rId37"/>
    <p:sldId id="340" r:id="rId38"/>
    <p:sldId id="346" r:id="rId39"/>
    <p:sldId id="402" r:id="rId40"/>
    <p:sldId id="403" r:id="rId41"/>
    <p:sldId id="385" r:id="rId42"/>
    <p:sldId id="348" r:id="rId43"/>
    <p:sldId id="349" r:id="rId44"/>
    <p:sldId id="351" r:id="rId45"/>
    <p:sldId id="352" r:id="rId46"/>
    <p:sldId id="353" r:id="rId47"/>
    <p:sldId id="365" r:id="rId48"/>
    <p:sldId id="366" r:id="rId49"/>
    <p:sldId id="387" r:id="rId50"/>
    <p:sldId id="354" r:id="rId51"/>
    <p:sldId id="371" r:id="rId52"/>
    <p:sldId id="368" r:id="rId53"/>
    <p:sldId id="369" r:id="rId54"/>
    <p:sldId id="392" r:id="rId55"/>
    <p:sldId id="396" r:id="rId56"/>
    <p:sldId id="360" r:id="rId57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1"/>
    <p:restoredTop sz="94830"/>
  </p:normalViewPr>
  <p:slideViewPr>
    <p:cSldViewPr snapToObjects="1">
      <p:cViewPr varScale="1">
        <p:scale>
          <a:sx n="121" d="100"/>
          <a:sy n="121" d="100"/>
        </p:scale>
        <p:origin x="1544" y="17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1DEEDDB-8173-6E75-592E-597CE0370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D1A82DB-7359-F20A-C116-108BDCC428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35B4CA5-6766-365E-2AC3-0EAC90E51B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0E994A8F-32E2-EB4B-DED6-B243FC58BC6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9E4B38C-0C31-1545-BC72-3917E3E6982D}" type="slidenum">
              <a:rPr lang="en-CA" altLang="en-IT"/>
              <a:pPr>
                <a:defRPr/>
              </a:pPr>
              <a:t>‹#›</a:t>
            </a:fld>
            <a:endParaRPr lang="en-CA" altLang="en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5:45:45.24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166 76 16383,'92'2'0,"-7"-2"0,-23 0 0,-6-1 0,12-1 0,-11 1 0,8 0 0,-13 1 0,5-1 0,-7 1 0,7 1 0,12 0 0,-11 0 0,10-1 0,-20-1 0,-6-1 0,0 1 0,5 0 0,-1 0 0,9 0 0,-7 0 0,-4 0 0,-12 1 0,-13 0 0,-11-1 0,0 0 0,12 0 0,5-1 0,10 1 0,-8 0 0,-11 1 0,-8 0 0,-7 0 0,0 0 0,-9-2 0,-22 1 0,-34-2 0,-15 5 0,25 2 0,-3 1 0,-10 4 0,-1 1 0,-2 1 0,-1-1 0,-5-1 0,0-2 0,4-1 0,3-3 0,16-2 0,3-2 0,-5 0 0,3-1 0,-23-2 0,-8-2 0,24 3 0,0 0 0,-21 0 0,24 1 0,3 0 0,6 2 0,12 0 0,20 0 0,42 0 0,41-3 0,-13-1 0,7-1 0,11-2 0,4-3 0,7-2 0,-1 0 0,-13 2 0,-2-1 0,2 2 0,-5 1 0,26 1 0,-3 4 0,-39 2 0,48 8 0,-52-1 0,50 7 0,-44-5 0,-13-3 0,-15-3 0,-18-1 0,-21-1 0,-28-2 0,-51-1 0,34 1 0,-5 0 0,-11 1 0,-4 0 0,2 0 0,0 1 0,-8 1 0,2 1 0,15 0 0,2 0 0,7 0 0,5-1 0,-17 2 0,38-3 0,6 0 0,8 0 0,4 0 0,3-1 0,6 1 0,5 0 0,17 0 0,24 1 0,10 1 0,11 0 0,20 1 0,10 0 0,-3 0 0,7 1 0,4 0 0,-15 0 0,4-1 0,1 1 0,-3-1 0,17 0 0,-2 1 0,-2-1 0,-4 0 0,-2 0 0,-12 0 0,-16-2 0,-11 0 0,11-1 0,-49 0 0,-17 0 0,-10 0 0,4 1 0,-5-1 0,10 0 0,2 0 0,-3 0 0,-4-2 0,4 2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5:45:48.62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152 126 16383,'15'-7'0,"6"1"0,12 2 0,20 2 0,20-1 0,-10 1 0,5 1 0,2 0 0,18-2 0,-14 2 0,4-1 0,-13-1 0,-3 0 0,-4-2 0,1 0 0,5-2 0,0-1 0,-13-1 0,-3 0 0,33-6 0,-24 2 0,-19 6 0,-15 3 0,-5 1 0,-10 1 0,-9 1 0,-19 2 0,-34 1 0,5-1 0,-4 0 0,-7 1 0,-1-1 0,5 0 0,-5 0 0,-10-1 0,-8 1 0,6-1 0,-1-1 0,1 0 0,-2 1 0,-5 0 0,6 0 0,-2-2 0,6 1 0,13 0 0,3 0 0,-29 0 0,20 0 0,35 1 0,11 0 0,13 0 0,24 1 0,15 1 0,35 1 0,-17-1 0,5 0 0,11 0 0,2 0 0,6 0 0,1-1 0,-5 1 0,-3-1 0,-10-1 0,-3 0 0,28 1 0,-17-1 0,-14 0 0,-14 0 0,-1 0 0,-14 0 0,-3 0 0,-6 0 0,-2 0 0,-4 0 0,-4 0 0,-29 0 0,-29 0 0,-13-1 0,-10 0 0,-4 1 0,-4 0 0,14 2 0,-3 1 0,0 0 0,2 0 0,2 1 0,2 0 0,-15 2 0,5 1 0,6-2 0,8 0 0,-2-3 0,32-1 0,24-1 0,18 2 0,17 2 0,33 6 0,26 0 0,-26-4 0,5 0 0,10-1 0,1 0 0,-7-2 0,-1 0 0,-1 1 0,-1-2 0,-8 0 0,-3-2 0,35 1 0,1-1 0,-20-1 0,-21 1 0,-13 0 0,-21 0 0,-11 0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6:46.12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1004 421 16383,'-48'-10'0,"3"1"0,19 6 0,-10 1 0,-1-1 0,-4 2 0,0 0 0,3 1 0,-7 1 0,-2-1 0,2 2 0,1 0 0,9 0 0,4 1 0,4 0 0,1 2 0,2 0 0,3 1 0,0 0 0,3 2 0,0 2 0,-1 3 0,2 1 0,1 1 0,1 0 0,2 0 0,-2 3 0,0 1 0,2-2 0,-1 2 0,4-5 0,0 2 0,-2 2 0,2-1 0,-2 2 0,1 0 0,2-1 0,-1 0 0,-2 2 0,3-3 0,0 0 0,3 0 0,-1 1 0,1 4 0,-1 1 0,2-2 0,2-2 0,0-1 0,2 2 0,0 0 0,1 2 0,0-3 0,0-2 0,0 1 0,0 1 0,1 0 0,-1 2 0,1-3 0,0 0 0,1 3 0,1-1 0,1 0 0,1 1 0,1-4 0,2 4 0,-1-2 0,2 1 0,1-1 0,1 0 0,1 2 0,1 2 0,0-3 0,-1-1 0,0-3 0,1-1 0,5 3 0,1 0 0,4 1 0,0-1 0,0-3 0,5 1 0,1-1 0,0 0 0,-2-2 0,-1-1 0,-1-1 0,10 3 0,0-1 0,1 0 0,1 0 0,-4-3 0,3 1 0,-1-1 0,3 1 0,-1-1 0,2 0 0,0 0 0,-1-1 0,4-1 0,2 0 0,2-2 0,-2-1 0,-2-1 0,3-2 0,0-1 0,1 0 0,-8-1 0,-5-1 0,-4-2 0,6-5 0,2-1 0,1-4 0,0-1 0,-7-1 0,8-8 0,-1-3 0,0-3 0,-2 1 0,-7 2 0,-3 0 0,0-5 0,-2 1 0,-4-1 0,-5 9 0,10-27 0,-9 15 0,9-22 0,-12 19 0,-4 4 0,-1-3 0,-2-4 0,-2 2 0,-2 5 0,-2 6 0,1 4 0,-2-4 0,-1-2 0,0 0 0,-2 0 0,-1 1 0,-2-1 0,-3-3 0,-1 0 0,0 1 0,-2 3 0,0 0 0,-7-4 0,0 1 0,-3 0 0,-1 2 0,2 5 0,-6-3 0,0 1 0,-2 0 0,-5-4 0,2 5 0,-1 0 0,0 2 0,-6-2 0,-5 0 0,-4-1 0,-3 1 0,6 4 0,-8-1 0,-7 3 0,0 0 0,1 3 0,6 3 0,7 3 0,-3 2 0,-1 3 0,6 1 0,1 2 0,5 2 0,2 1 0,-3 2 0,3 0 0,3 1 0,2 0 0,4 0 0,13-2 0,-24 10 0,22-5 0,-22 10 0,15-1 0,-3 6 0,0 4 0,-1 3 0,0 2 0,4 1 0,-1 3 0,-1 12 0,3 0 0,1 5 0,4-3 0,4-3 0,-1 6 0,0 6 0,2-1 0,1-1 0,5-8 0,2-1 0,3 4 0,0-2 0,2-4 0,2-2 0,1-3 0,2 3 0,1-1 0,1-6 0,1-2 0,0-7 0,1 4 0,3 3 0,0-1 0,2-1 0,3-3 0,2 0 0,11 6 0,2-1 0,7 0 0,1-3 0,1-6 0,13 1 0,5-2 0,2-6 0,1-1 0,-1-2 0,7-1 0,15 3 0,1-1 0,2-1 0,-9-3 0,-6 0 0,-4-3 0,-1 0 0,6-5 0,-4-2 0,-6-4 0,-9-1 0,-12-3 0,2-8 0,-1-4 0,-8-5 0,-2-3 0,-11-3 0,0-7 0,0-10 0,-4 10 0,8-38 0,-10 32 0,7-35 0,-8 24 0,-4 1 0,-2 0 0,-3 3 0,-2-6 0,-2-6 0,-1 3 0,-1 4 0,-3 10 0,-2 2 0,-5-8 0,-2-3 0,-3-5 0,-2 1 0,-3 2 0,-5-6 0,-4-3 0,-2 8 0,0 3 0,-2 8 0,-2-1 0,-6-1 0,3 5 0,1 6 0,-5 4 0,-2 2 0,-18-2 0,-10-3 0,4 8 0,-4 0 0,12 11 0,-8 1 0,-6 2 0,-16 4 0,39 4 0,4 2 0,-13 0 0,12 2 0,48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6:48.47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27 16383,'28'-2'0,"1"1"0,2 0 0,3 0 0,11 1 0,15 0 0,12 0 0,14 0 0,6-2 0,4-2 0,-41 2 0,1-1 0,1 0 0,-1 1 0,1 0 0,-1 0 0,-3 1 0,-1 0 0,36 2 0,6 4 0,4 4 0,-3 1 0,2 3 0,-13-2 0,-4 0 0,-5-1 0,-9-2 0,-16-2 0,-12-3 0,-14-1 0,-8-1 0,-6 0 0,-5-1 0,-2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8:09.32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1 864 16383,'8'-17'0,"0"1"0,-2 5 0,0 0 0,5-10 0,-2 3 0,4-6 0,-4 8 0,-1-1 0,1 2 0,0-3 0,2-2 0,0 0 0,0 1 0,1-1 0,-2 3 0,2-1 0,0 1 0,2-1 0,0-1 0,1 0 0,-1 1 0,-1 0 0,2-2 0,1-1 0,-1 5 0,-1 0 0,-2 3 0,0 0 0,4-3 0,1-2 0,-2 2 0,-1 2 0,-1 2 0,1 0 0,1 0 0,0 0 0,0 1 0,-2 1 0,2 1 0,1-1 0,-1 1 0,0 0 0,-1 2 0,-1 0 0,-1 1 0,3-1 0,12-7 0,-4 3 0,7-4 0,-12 8 0,-4 1 0,-1 1 0,-3 2 0,2-2 0,1 0 0,1 0 0,0 0 0,-1 1 0,-2 0 0,3 1 0,-2-1 0,1 1 0,0 0 0,-2 1 0,4 0 0,2-1 0,2 1 0,0-1 0,-3 1 0,-1 0 0,-1 0 0,-1 0 0,-1 0 0,-2 1 0,-1-1 0,1 0 0,3 1 0,-1-1 0,1 0 0,-3 0 0,0 1 0,0-1 0,1 1 0,-2 0 0,-1 1 0,-2-1 0,0 0 0,1 0 0,2 0 0,0-1 0,1 1 0,-2 0 0,0 0 0,1-1 0,1 0 0,-1 1 0,2-1 0,-3 1 0,1 1 0,-2-1 0,-1 1 0,-1-1 0,-1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8:11.386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38 1 16383,'-9'12'0,"1"0"0,6-5 0,-1 1 0,1 3 0,0 1 0,0 2 0,0 7 0,1-4 0,0 7 0,1-3 0,-1-1 0,1-1 0,-1-1 0,0 1 0,0 3 0,1-2 0,-1-1 0,1-1 0,0-3 0,0 3 0,0-3 0,0-3 0,0-1 0,0-2 0,0-2 0,0-1 0,0-1 0,0-1 0,12-5 0,0-3 0,16-8 0,-1 0 0,2-1 0,0 0 0,-4 2 0,-3 1 0,-4 1 0,-2 1 0,2-1 0,2 0 0,-2-1 0,-1 2 0,-5 1 0,0 2 0,-1 0 0,-2 1 0,-2 2 0,-3 0 0,1 1 0,1 0 0,-1 0 0,0-1 0,0 1 0,3 0 0,-3 0 0,3-1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4.06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1 892 16383,'5'16'0,"-1"-2"0,0-8 0,3 7 0,-2-4 0,4 5 0,-3-6 0,1 1 0,1-1 0,0-1 0,1 0 0,0-1 0,3 1 0,1 0 0,0 0 0,-1-1 0,-1-1 0,-1-1 0,3 1 0,1-1 0,1 1 0,-1-1 0,1 1 0,3-1 0,2 0 0,2 0 0,-1 0 0,-1-1 0,1 0 0,4 0 0,0 0 0,0-1 0,-2 0 0,-3-1 0,4-1 0,3 0 0,-1 0 0,1-1 0,-1 1 0,0-1 0,2 0 0,-2 0 0,-5-1 0,-1 1 0,-3-1 0,5 0 0,0 0 0,-1 0 0,0-1 0,-3 0 0,3-1 0,3-1 0,-1 0 0,-1 0 0,-3 1 0,1-2 0,2 0 0,2-2 0,-1 0 0,-1 0 0,-4 0 0,3-2 0,-1-1 0,-1-2 0,-2 1 0,-2-1 0,0 0 0,2-4 0,-1 2 0,-1-1 0,-2 2 0,0 0 0,2-3 0,-1 0 0,1-1 0,-1-1 0,-1 2 0,2-3 0,0-1 0,0 1 0,-1 2 0,0 0 0,0 1 0,1-2 0,1 1 0,-1 0 0,-4 5 0,12-14 0,-9 10 0,10-10 0,-10 11 0,-2 3 0,0 1 0,3-3 0,-2 2 0,2-2 0,0 1 0,-1 1 0,4-4 0,-1 2 0,2-3 0,0 3 0,-2 1 0,2-1 0,4-1 0,-1 1 0,1-1 0,-3 2 0,-1 1 0,-2 0 0,1-1 0,-1 1 0,-1 1 0,0 0 0,-5 5 0,18-13 0,-14 12 0,16-10 0,-12 9 0,2-1 0,3 1 0,-1 0 0,0 1 0,-2 1 0,-1 1 0,3 0 0,1 0 0,0 0 0,0 0 0,-1 2 0,4-1 0,4 0 0,1 2 0,1-1 0,-3 2 0,1 0 0,3 0 0,-2 1 0,-3 0 0,-5-1 0,-5 0 0,0 1 0,4-2 0,-1 2 0,2 0 0,-4 0 0,1 0 0,1 0 0,0 0 0,-5 0 0,-3 1 0,-6-1 0,-4 1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6.061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0 0 16383,'15'14'0,"0"-1"0,-5-6 0,2 2 0,7 4 0,-1 0 0,3 3 0,-1-2 0,-2-1 0,1 0 0,0-1 0,0 0 0,-1-1 0,1 1 0,0-1 0,5 4 0,-1-2 0,1-1 0,-2 0 0,-4-4 0,-1-1 0,-1 0 0,-1-2 0,-2 0 0,-2-1 0,-1 0 0,0-1 0,-1 1 0,-1-1 0,-1 0 0,-1-1 0,0 0 0,0 1 0,-2-1 0,1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7.66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1 322 16383,'4'-14'0,"0"0"0,-1 7 0,1-4 0,2-4 0,-1 2 0,1-1 0,-1 4 0,-1 2 0,2-1 0,0-1 0,1 1 0,1-4 0,2 0 0,1 0 0,0 0 0,0 1 0,2-1 0,-1 2 0,-1 2 0,-1 1 0,0 2 0,-2 1 0,1 0 0,0 1 0,1 0 0,-1 0 0,0 1 0,1-1 0,7-3 0,-4 2 0,5-2 0,-7 3 0,1-2 0,0 1 0,-3 1 0,-1 0 0,-4 2 0,0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9.777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0 16383,'0'18'0,"-1"-1"0,2-8 0,-1 1 0,1 1 0,0 1 0,1-1 0,0 2 0,0-4 0,1 3 0,0 1 0,0-1 0,1 1 0,-1-1 0,0-1 0,1 2 0,-1-1 0,-1 0 0,0-3 0,-1-1 0,0 0 0,-1 1 0,1 0 0,0 0 0,0 0 0,1 2 0,-1 4 0,1 1 0,0 0 0,0-3 0,-2-2 0,2 1 0,-1 0 0,0 0 0,0-1 0,-1-3 0,0-1 0,1 1 0,0 0 0,-1-1 0,1-1 0,-1 0 0,0 0 0,0 1 0,1-2 0,-1 0 0,0 0 0,0 0 0,0 1 0,1-1 0,-1 1 0,0-1 0,0 1 0,0 0 0,1 1 0,-1-2 0,0 0 0,0 0 0,0 0 0,0 2 0,1-2 0,-1 1 0,0-1 0,0-1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53.236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56 43 16383,'2'19'0,"0"-1"0,0-7 0,1 0 0,0 0 0,-1-2 0,0 0 0,0 3 0,0-2 0,-1 2 0,0-5 0,-1 10 0,0-7 0,0 8 0,1-8 0,-1-3 0,0-1 0,0-3 0,6-17 0,2-2 0,4-13 0,-1 3 0,-4 8 0,-1 2 0,-2 4 0,-2 3 0,-1 2 0,0 2 0,-1 0 0,1 20 0,0-10 0,0 17 0,1-18 0,-1 1 0,3 3 0,0-2 0,2 4 0,-1-5 0,-1 0 0,-2-2 0,-6-17 0,0 5 0,-7-16 0,3 9 0,-1 1 0,-1 0 0,2 5 0,-1 0 0,2 2 0,0 1 0,2 2 0,2 2 0,0 0 0,1-1 0,0-2 0,0 0 0,2 2 0,0-1 0,6 26 0,-1-7 0,4 18 0,-3-13 0,-2-4 0,-1 0 0,0 2 0,-2-2 0,0 1 0,-2-3 0,1-2 0,-6 12 0,3-11 0,-4 9 0,4-10 0,0-2 0,0-1 0,1-2 0,0 0 0,1-3 0,-2 2 0,1 0 0,-1 0 0,-1 0 0,1-2 0,0 3 0,0-2 0,1 2 0,0-1 0,0-1 0,9-16 0,-1-1 0,4-8 0,-1 5 0,-2 5 0,0 0 0,-1 2 0,0 0 0,0 0 0,0 0 0,1-2 0,-1 3 0,-1-1 0,-1 4 0,-1 1 0,1 0 0,0 0 0,1 0 0,0 1 0,0 1 0,1 0 0,-1 0 0,1 1 0,1-1 0,-1 1 0,2 0 0,0 1 0,2 0 0,1 1 0,0 0 0,0 0 0,-3 0 0,-1-1 0,-3 1 0,-16-15 0,4 6 0,-14-11 0,8 10 0,1 1 0,-7-2 0,-2-1 0,-1 0 0,0 0 0,3 3 0,1-1 0,3 2 0,4 1 0,4 1 0,3 2 0,2 1 0,-3-2 0,4 2 0,-3-3 0,0 1 0,0 1 0,0-1 0,1 2 0,1 15 0,1 0 0,0 8 0,2-6 0,0 4 0,0-8 0,0 11 0,0-7 0,1 5 0,0-1 0,0 0 0,1-3 0,-1-3 0,-1-1 0,1-1 0,-1-2 0,0 0 0,0-1 0,0 1 0,0 0 0,0 1 0,0-2 0,0-1 0,0-1 0,0 0 0,0 0 0,0-1 0,0 1 0,0-2 0,0 3 0,0 0 0,-1 1 0,1-2 0,0 1 0,0-3 0,0 2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50B8C40-7483-A71A-5B3D-A150E3B98C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B682F05-0A9C-F102-FD6E-A529C71B78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A868B8E-D767-93FB-66FF-5AFBDE44BD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1C4862E1-C7E3-184E-6C54-A61A3EDFB9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0122E49F-CE0B-B2DA-4002-43D50E7DFC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5DCA24B8-CCE5-E56B-78C9-DC6290F043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863194D-65F5-6847-B99D-9E304E3E38D6}" type="slidenum">
              <a:rPr lang="en-CA" altLang="en-IT"/>
              <a:pPr>
                <a:defRPr/>
              </a:pPr>
              <a:t>‹#›</a:t>
            </a:fld>
            <a:endParaRPr lang="en-CA" altLang="en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17D1A36-0DB4-71FC-10C8-CABF091FE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7EF3B8D9-6530-3CB1-1CD1-77DE02B0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C15DDE9E-3D72-3FD8-82A6-5E4CB3835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013D13-7E2D-644C-9C23-51A015DF712A}" type="slidenum">
              <a:rPr lang="en-CA" altLang="en-IT" sz="1200" smtClean="0">
                <a:latin typeface="Tahoma" panose="020B0604030504040204" pitchFamily="34" charset="0"/>
              </a:rPr>
              <a:pPr/>
              <a:t>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E2A4-8BE2-BFBB-1453-021F7F2F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7A2E590B-A50A-4735-C225-8238A00F1F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909FB2-A228-394B-BB3B-4C1AEC624B5C}" type="slidenum">
              <a:rPr lang="en-CA" altLang="en-IT" sz="1200" smtClean="0">
                <a:latin typeface="Tahoma" panose="020B0604030504040204" pitchFamily="34" charset="0"/>
              </a:rPr>
              <a:pPr/>
              <a:t>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379F858-0C03-47F8-C255-C7F135A7A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8386481-50D8-BA18-03F1-78EEFA13A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6017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B24A-CEA2-2D2B-DECD-BE064A6E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5E1CAF6-26D9-FF66-D518-DB3EBF6700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2F244-C4BA-854B-A26C-2622145B21FC}" type="slidenum">
              <a:rPr lang="en-CA" altLang="en-IT" sz="1200" smtClean="0">
                <a:latin typeface="Tahoma" panose="020B0604030504040204" pitchFamily="34" charset="0"/>
              </a:rPr>
              <a:pPr/>
              <a:t>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77BA9862-70D6-00C7-9C95-022DF1B99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3ABE36-974A-6967-B227-AD080DD86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8528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DA9E2A31-DF9A-0EA2-1967-3F6629FDD5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909FB2-A228-394B-BB3B-4C1AEC624B5C}" type="slidenum">
              <a:rPr lang="en-CA" altLang="en-IT" sz="1200" smtClean="0">
                <a:latin typeface="Tahoma" panose="020B0604030504040204" pitchFamily="34" charset="0"/>
              </a:rPr>
              <a:pPr/>
              <a:t>7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BCA838C-0EA1-2A71-5918-B20558F6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3FC4342-D566-A54A-C8B8-7DCE15EC3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44698985-E7C1-348B-E610-F64CCD075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2F244-C4BA-854B-A26C-2622145B21FC}" type="slidenum">
              <a:rPr lang="en-CA" altLang="en-IT" sz="1200" smtClean="0">
                <a:latin typeface="Tahoma" panose="020B0604030504040204" pitchFamily="34" charset="0"/>
              </a:rPr>
              <a:pPr/>
              <a:t>8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EC99A7B-5647-96B7-A2FE-A53216AD4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53B3496-6790-4D31-B217-A58B5D4E7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BBE9252B-4051-608E-1785-D504BEA98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2C09C5-622B-AE49-B5A4-2DCAD3B29D15}" type="slidenum">
              <a:rPr lang="en-CA" altLang="en-IT" sz="1200" smtClean="0">
                <a:latin typeface="Tahoma" panose="020B0604030504040204" pitchFamily="34" charset="0"/>
              </a:rPr>
              <a:pPr/>
              <a:t>10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03DAA55-5E16-8401-81BC-D0F015FE1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42FA219-206A-8087-2CE0-F856A3850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8B458A8-7AD4-C087-1951-082FB8756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19D4EE-314B-6A49-BD53-E8FE38F204F2}" type="slidenum">
              <a:rPr lang="en-CA" altLang="en-IT" sz="1200" smtClean="0">
                <a:latin typeface="Tahoma" panose="020B0604030504040204" pitchFamily="34" charset="0"/>
              </a:rPr>
              <a:pPr/>
              <a:t>11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FB28111-DA4B-C218-F92A-E75A52409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19727E6-33C1-EC61-4E5D-2856B2BA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2BC48FEF-D628-F335-26E3-4DE6B34FF3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8E9F38-7BD0-F042-91EF-DD4007EE5841}" type="slidenum">
              <a:rPr lang="en-CA" altLang="en-IT" sz="1200" smtClean="0">
                <a:latin typeface="Tahoma" panose="020B0604030504040204" pitchFamily="34" charset="0"/>
              </a:rPr>
              <a:pPr/>
              <a:t>12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7643B23-DE2E-B7F6-8297-3E72AE81A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D153FC5-2346-8AF0-B0BD-F79AE3D69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2A333D6B-8286-FCFA-56AC-2840F785F6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1C12DE-5E8B-AF45-B4D6-295E731AE2A5}" type="slidenum">
              <a:rPr lang="en-CA" altLang="en-IT" sz="1200" smtClean="0">
                <a:latin typeface="Tahoma" panose="020B0604030504040204" pitchFamily="34" charset="0"/>
              </a:rPr>
              <a:pPr/>
              <a:t>13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485D62B-FD7B-D7D7-C367-E198C3BD2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C8851D8-3980-F7AF-7740-B569FD3E3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60D94217-749E-8864-05C4-FFD2D1579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DE308C-F167-2549-8690-06605CF2D6BF}" type="slidenum">
              <a:rPr lang="en-CA" altLang="en-IT" sz="1200" smtClean="0">
                <a:latin typeface="Tahoma" panose="020B0604030504040204" pitchFamily="34" charset="0"/>
              </a:rPr>
              <a:pPr/>
              <a:t>15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B578F00-719B-869E-1C3C-D4A84774B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5C6C936-23E3-99E3-3EE0-19DC4ECB9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FAD7F73C-BDE9-0445-EB4E-8AEB9D6C0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AABFB7-1FF9-6D47-9A9E-EE1F5940D956}" type="slidenum">
              <a:rPr lang="en-CA" altLang="en-IT" sz="1200" smtClean="0">
                <a:latin typeface="Tahoma" panose="020B0604030504040204" pitchFamily="34" charset="0"/>
              </a:rPr>
              <a:pPr/>
              <a:t>16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8914" name="Rectangle 1026">
            <a:extLst>
              <a:ext uri="{FF2B5EF4-FFF2-40B4-BE49-F238E27FC236}">
                <a16:creationId xmlns:a16="http://schemas.microsoft.com/office/drawing/2014/main" id="{AC1DA9F6-45BC-107C-35D6-494510802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1027">
            <a:extLst>
              <a:ext uri="{FF2B5EF4-FFF2-40B4-BE49-F238E27FC236}">
                <a16:creationId xmlns:a16="http://schemas.microsoft.com/office/drawing/2014/main" id="{90FD8255-2A26-D1F5-3582-0B8775617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EB9B6524-A7AB-F4D7-EC33-B78A4C474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4E6777-11C8-DD42-8F82-A27E0C297EBB}" type="slidenum">
              <a:rPr lang="en-CA" altLang="en-IT" sz="1200" smtClean="0">
                <a:latin typeface="Tahoma" panose="020B0604030504040204" pitchFamily="34" charset="0"/>
              </a:rPr>
              <a:pPr/>
              <a:t>25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3F937573-508A-4B61-83E1-B1151AD09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091723F-156F-88A0-5EEF-0C8EF2852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04B57166-543D-0BA6-288A-2D2164892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FB2D42-F145-C54C-AFEB-18F023758E5C}" type="slidenum">
              <a:rPr lang="en-CA" altLang="en-IT" sz="1200" smtClean="0">
                <a:latin typeface="Tahoma" panose="020B0604030504040204" pitchFamily="34" charset="0"/>
              </a:rPr>
              <a:pPr/>
              <a:t>26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15A159C-93DC-D6D5-F66D-90F70EC5A6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DE4511A-0CDF-EF98-84CC-8B28AF577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A5BBCEC1-E4CA-34AF-45B8-79E100D0E6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2832FA-2081-4648-8FDF-CED9C4AD0202}" type="slidenum">
              <a:rPr lang="en-CA" altLang="en-IT" sz="1200" smtClean="0">
                <a:latin typeface="Tahoma" panose="020B0604030504040204" pitchFamily="34" charset="0"/>
              </a:rPr>
              <a:pPr/>
              <a:t>27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9197E027-1E4A-B49C-2D10-330D31F61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DB24DA2-0A9F-B5AE-6D0B-D7CB2E4AB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6212C4BE-A2C2-9CAF-E1B5-33C04B51E7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F562D7-3378-7840-97D3-2B040FE8E20F}" type="slidenum">
              <a:rPr lang="en-CA" altLang="en-IT" sz="1200" smtClean="0">
                <a:latin typeface="Tahoma" panose="020B0604030504040204" pitchFamily="34" charset="0"/>
              </a:rPr>
              <a:pPr/>
              <a:t>31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9394" name="Rectangle 2050">
            <a:extLst>
              <a:ext uri="{FF2B5EF4-FFF2-40B4-BE49-F238E27FC236}">
                <a16:creationId xmlns:a16="http://schemas.microsoft.com/office/drawing/2014/main" id="{39770B4B-41C1-C111-1620-AFDE68F59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2051">
            <a:extLst>
              <a:ext uri="{FF2B5EF4-FFF2-40B4-BE49-F238E27FC236}">
                <a16:creationId xmlns:a16="http://schemas.microsoft.com/office/drawing/2014/main" id="{80D57095-F20A-A002-153F-842ED5266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76DE61FA-7D46-F895-ED26-9AA33C6990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920829-4AA2-3745-86E0-771D84509584}" type="slidenum">
              <a:rPr lang="en-CA" altLang="en-IT" sz="1200" smtClean="0">
                <a:latin typeface="Tahoma" panose="020B0604030504040204" pitchFamily="34" charset="0"/>
              </a:rPr>
              <a:pPr/>
              <a:t>33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9A1F749A-6064-C307-3778-39232E146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CEAAA1B-2271-EBF4-8DBD-643850ABD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43D271A1-74C7-CE18-6223-7765B6463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39A096-9884-B241-950A-A80882FC3B97}" type="slidenum">
              <a:rPr lang="en-CA" altLang="en-IT" sz="1200" smtClean="0">
                <a:latin typeface="Tahoma" panose="020B0604030504040204" pitchFamily="34" charset="0"/>
              </a:rPr>
              <a:pPr/>
              <a:t>34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6505B418-DF58-58B3-BB89-2883F635C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720D63C-C2D7-3B2E-A62C-E638D73F3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AF34BC7D-BEF4-849C-5500-72932383A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C05C3D-2E94-5643-BBE5-BFA513C5F961}" type="slidenum">
              <a:rPr lang="en-CA" altLang="en-IT" sz="1200" smtClean="0">
                <a:latin typeface="Tahoma" panose="020B0604030504040204" pitchFamily="34" charset="0"/>
              </a:rPr>
              <a:pPr/>
              <a:t>35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B6F748F8-5080-0132-A9A1-00E873003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1092466-6CE3-473F-201C-94137DC92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3B1520A3-F548-F524-1BB4-B4A304C00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A41369-AAC8-0545-987F-50FBC5CAFAF6}" type="slidenum">
              <a:rPr lang="en-CA" altLang="en-IT" sz="1200" smtClean="0">
                <a:latin typeface="Tahoma" panose="020B0604030504040204" pitchFamily="34" charset="0"/>
              </a:rPr>
              <a:pPr/>
              <a:t>36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73F7A3A2-CFF7-146C-8B23-1A27831E0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06262B6-D6B0-26E5-7136-A13FD7027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E562B1CC-9EC0-374F-8F4A-4F8910BD4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D5FBAC-DD10-6546-9180-07F11C1C7543}" type="slidenum">
              <a:rPr lang="en-CA" altLang="en-IT" sz="1200" smtClean="0">
                <a:latin typeface="Tahoma" panose="020B0604030504040204" pitchFamily="34" charset="0"/>
              </a:rPr>
              <a:pPr/>
              <a:t>37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7E5F355B-8A76-EE22-09A8-FEC97788A5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34B2407-98ED-3F45-2275-3D5D4C93E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D5AC20B5-47A8-8FE0-093F-8677E9FB3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C570C3C-409C-AC43-8060-0181FA652BC4}" type="slidenum">
              <a:rPr lang="en-CA" altLang="en-IT" sz="1200" smtClean="0">
                <a:latin typeface="Tahoma" panose="020B0604030504040204" pitchFamily="34" charset="0"/>
              </a:rPr>
              <a:pPr/>
              <a:t>38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8142B6BC-9B3D-C730-8EE2-F37F81080C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A0283D5-B078-53C6-EE94-0A168BE35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A88F-63E9-76DE-2198-ECBFCCB7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20B36F0B-2A47-AB49-1A5A-B2873E898C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F562D7-3378-7840-97D3-2B040FE8E20F}" type="slidenum">
              <a:rPr lang="en-CA" altLang="en-IT" sz="1200" smtClean="0">
                <a:latin typeface="Tahoma" panose="020B0604030504040204" pitchFamily="34" charset="0"/>
              </a:rPr>
              <a:pPr/>
              <a:t>39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9394" name="Rectangle 2050">
            <a:extLst>
              <a:ext uri="{FF2B5EF4-FFF2-40B4-BE49-F238E27FC236}">
                <a16:creationId xmlns:a16="http://schemas.microsoft.com/office/drawing/2014/main" id="{CE22AAF5-51B5-7E3F-EFE8-028FB95B0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2051">
            <a:extLst>
              <a:ext uri="{FF2B5EF4-FFF2-40B4-BE49-F238E27FC236}">
                <a16:creationId xmlns:a16="http://schemas.microsoft.com/office/drawing/2014/main" id="{253432AB-A170-638F-26BF-BC7082AAD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563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E2EEAE56-EE06-DB7B-F4B1-A44630639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1BC15D-F76C-2040-B619-87560B7563B4}" type="slidenum">
              <a:rPr lang="en-CA" altLang="en-IT" sz="1200" smtClean="0">
                <a:latin typeface="Tahoma" panose="020B0604030504040204" pitchFamily="34" charset="0"/>
              </a:rPr>
              <a:pPr/>
              <a:t>41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5191E405-24D1-7752-C338-2A917388A5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7BEC1B4-B968-6DD5-A64D-2B04245F4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867F4932-E232-6C3D-BE51-E90692395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B25065-CAAB-5643-A2F2-313CBD6E3A69}" type="slidenum">
              <a:rPr lang="en-CA" altLang="en-IT" sz="1200" smtClean="0">
                <a:latin typeface="Tahoma" panose="020B0604030504040204" pitchFamily="34" charset="0"/>
              </a:rPr>
              <a:pPr/>
              <a:t>42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9874" name="Rectangle 1026">
            <a:extLst>
              <a:ext uri="{FF2B5EF4-FFF2-40B4-BE49-F238E27FC236}">
                <a16:creationId xmlns:a16="http://schemas.microsoft.com/office/drawing/2014/main" id="{E456FF38-BAF6-D4FF-D3FF-DE6807508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1027">
            <a:extLst>
              <a:ext uri="{FF2B5EF4-FFF2-40B4-BE49-F238E27FC236}">
                <a16:creationId xmlns:a16="http://schemas.microsoft.com/office/drawing/2014/main" id="{D4D7E3BD-042F-3955-55B0-05EF3025F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5ACB58A-8DD9-C12B-C48D-200224F4E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64D889-3304-B840-95EB-8BB5802F7D87}" type="slidenum">
              <a:rPr lang="en-CA" altLang="en-IT" sz="1200" smtClean="0">
                <a:latin typeface="Tahoma" panose="020B0604030504040204" pitchFamily="34" charset="0"/>
              </a:rPr>
              <a:pPr/>
              <a:t>43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9462AB9E-B555-2D69-6E5B-9DB7674B2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EE61B34-3B05-C4B4-FE00-D99CEBE0E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0576498A-CF67-87CA-E26E-5172A11B7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56CCC3-19F4-D64A-A628-BCA6156CCAEE}" type="slidenum">
              <a:rPr lang="en-CA" altLang="en-IT" sz="1200" smtClean="0">
                <a:latin typeface="Tahoma" panose="020B0604030504040204" pitchFamily="34" charset="0"/>
              </a:rPr>
              <a:pPr/>
              <a:t>44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76A080DC-30BE-5E4D-7C6B-A67B3BF38C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6C11A5B-A723-DCFD-222E-1F8FDE9A9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F9E23A36-C7A2-26C4-1ED4-58106B150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EEA3BB-5E55-0740-86F0-3DB700A63C2B}" type="slidenum">
              <a:rPr lang="en-CA" altLang="en-IT" sz="1200" smtClean="0">
                <a:latin typeface="Tahoma" panose="020B0604030504040204" pitchFamily="34" charset="0"/>
              </a:rPr>
              <a:pPr/>
              <a:t>45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7A72CA16-4D07-3939-CFF2-C6AD2680F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E83D020-AD70-4A90-C6D0-283F1EDE2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7735A2F9-0E51-1CF9-30B6-2FCE9D4A9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36919FF-3054-CD45-9EB1-DAB7FAB2E6BF}" type="slidenum">
              <a:rPr lang="en-CA" altLang="en-IT" sz="1200" smtClean="0">
                <a:latin typeface="Tahoma" panose="020B0604030504040204" pitchFamily="34" charset="0"/>
              </a:rPr>
              <a:pPr/>
              <a:t>46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2F8A6706-DD61-24D1-5BA6-113D1C4C8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1E4A72F-4DFC-026F-A484-ACA3BC9CE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E8183287-8698-CFF4-8FFA-E0D35029F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F60FEE-2D36-0844-8F2F-57F107EF3793}" type="slidenum">
              <a:rPr lang="en-CA" altLang="en-IT" sz="1200" smtClean="0">
                <a:latin typeface="Tahoma" panose="020B0604030504040204" pitchFamily="34" charset="0"/>
              </a:rPr>
              <a:pPr/>
              <a:t>50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3C769496-59AD-319B-D229-2D2B0FF7DA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135C2BE4-8BBA-1B18-6C53-524432741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8EB44E1E-7F81-B546-1A4E-651FC4B9E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0DC774-83DB-F64F-B049-B95D2F662FF5}" type="slidenum">
              <a:rPr lang="en-CA" altLang="en-IT" sz="1200" smtClean="0">
                <a:latin typeface="Tahoma" panose="020B0604030504040204" pitchFamily="34" charset="0"/>
              </a:rPr>
              <a:pPr/>
              <a:t>56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112642" name="Rectangle 1026">
            <a:extLst>
              <a:ext uri="{FF2B5EF4-FFF2-40B4-BE49-F238E27FC236}">
                <a16:creationId xmlns:a16="http://schemas.microsoft.com/office/drawing/2014/main" id="{AB7ABF8E-FE11-357C-33C4-846C69213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1027">
            <a:extLst>
              <a:ext uri="{FF2B5EF4-FFF2-40B4-BE49-F238E27FC236}">
                <a16:creationId xmlns:a16="http://schemas.microsoft.com/office/drawing/2014/main" id="{E4F456C0-37EA-D0EB-D695-51162936B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28B5CB5E-4D62-6F64-1F1A-DE21CCCA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E0B269DB-9067-E88D-41B8-3B07C392182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8E7BA452-2D19-F66B-3CB1-6CD6E5EF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5641F287-64E2-B135-A677-28C596C7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AC748A14-794D-7BB1-F76F-888ED6131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A1712BB-8E2D-093E-A791-A6BAFE993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en-IT"/>
              <a:t>Copyright © 2016 Ramez Elmasri and Shamkant B. Navathe</a:t>
            </a:r>
          </a:p>
        </p:txBody>
      </p:sp>
      <p:sp>
        <p:nvSpPr>
          <p:cNvPr id="8" name="Rectangle 47">
            <a:extLst>
              <a:ext uri="{FF2B5EF4-FFF2-40B4-BE49-F238E27FC236}">
                <a16:creationId xmlns:a16="http://schemas.microsoft.com/office/drawing/2014/main" id="{08777DB3-87DE-327E-8F89-5803640760D2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4FBF41EF-9D7A-96B7-2DB0-47A55AB09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10" name="Picture 46" descr="elmasri_thumb">
            <a:extLst>
              <a:ext uri="{FF2B5EF4-FFF2-40B4-BE49-F238E27FC236}">
                <a16:creationId xmlns:a16="http://schemas.microsoft.com/office/drawing/2014/main" id="{201D65B8-2BCA-1DCD-6DFA-282E228684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9369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2000"/>
            </a:lvl1pPr>
            <a:lvl2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2000"/>
            </a:lvl2pPr>
            <a:lvl3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800"/>
            </a:lvl3pPr>
            <a:lvl4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600"/>
            </a:lvl4pPr>
            <a:lvl5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6118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255150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6843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3412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366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29963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9384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2188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9485963-F642-C24D-6941-1B4B51FC8516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2" name="Rectangle 38">
              <a:extLst>
                <a:ext uri="{FF2B5EF4-FFF2-40B4-BE49-F238E27FC236}">
                  <a16:creationId xmlns:a16="http://schemas.microsoft.com/office/drawing/2014/main" id="{CDF3093B-6C36-D9CF-A2A4-29939AF55D7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157394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5" name="Group 44">
              <a:extLst>
                <a:ext uri="{FF2B5EF4-FFF2-40B4-BE49-F238E27FC236}">
                  <a16:creationId xmlns:a16="http://schemas.microsoft.com/office/drawing/2014/main" id="{402FB482-BCA6-FDF6-B8C9-3011F26F6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9C40FDAE-BAEF-C808-E0B7-2287044E317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rgbClr val="DC4C4C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3" name="Rectangle 32">
                <a:extLst>
                  <a:ext uri="{FF2B5EF4-FFF2-40B4-BE49-F238E27FC236}">
                    <a16:creationId xmlns:a16="http://schemas.microsoft.com/office/drawing/2014/main" id="{27111B1F-EEC1-3444-58A6-6A14956843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E17070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6FF57294-8D84-40B7-A97D-99386C5AB675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4534694" y="-3159920"/>
            <a:ext cx="77788" cy="9140825"/>
          </a:xfrm>
          <a:prstGeom prst="rect">
            <a:avLst/>
          </a:prstGeom>
          <a:solidFill>
            <a:srgbClr val="589CB4"/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DC0F7037-92D3-7E0A-55A9-404906483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 dirty="0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76ECBC8F-AE27-B907-9DD9-44EDABE8E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40B1C141-1CC7-64E8-4630-CC3D077F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477000"/>
            <a:ext cx="3276600" cy="3032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C8E023D0-8323-E1E5-B043-AAAAD3E8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296863"/>
            <a:ext cx="6175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">
            <a:extLst>
              <a:ext uri="{FF2B5EF4-FFF2-40B4-BE49-F238E27FC236}">
                <a16:creationId xmlns:a16="http://schemas.microsoft.com/office/drawing/2014/main" id="{6275177B-8634-1E6B-FE52-284EBAE8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75" y="768350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0">
            <a:extLst>
              <a:ext uri="{FF2B5EF4-FFF2-40B4-BE49-F238E27FC236}">
                <a16:creationId xmlns:a16="http://schemas.microsoft.com/office/drawing/2014/main" id="{61D99BA9-F869-2243-3E31-2C6563A6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6478587"/>
            <a:ext cx="3276600" cy="3032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altLang="en-US" sz="1050" b="1" dirty="0" err="1"/>
              <a:t>Analisi</a:t>
            </a:r>
            <a:r>
              <a:rPr lang="en-US" altLang="en-US" sz="1050" b="1" dirty="0"/>
              <a:t> </a:t>
            </a:r>
            <a:r>
              <a:rPr lang="en-US" altLang="en-US" sz="1050" b="1" dirty="0" err="1"/>
              <a:t>dei</a:t>
            </a:r>
            <a:r>
              <a:rPr lang="en-US" altLang="en-US" sz="1050" b="1" dirty="0"/>
              <a:t> </a:t>
            </a:r>
            <a:r>
              <a:rPr lang="en-US" altLang="en-US" sz="1050" b="1" dirty="0" err="1"/>
              <a:t>dati</a:t>
            </a:r>
            <a:r>
              <a:rPr lang="en-US" altLang="en-US" sz="1050" b="1" dirty="0"/>
              <a:t> e big data  -  Marco Del Coco</a:t>
            </a:r>
          </a:p>
        </p:txBody>
      </p:sp>
    </p:spTree>
    <p:extLst>
      <p:ext uri="{BB962C8B-B14F-4D97-AF65-F5344CB8AC3E}">
        <p14:creationId xmlns:p14="http://schemas.microsoft.com/office/powerpoint/2010/main" val="37831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</p:sldLayoutIdLst>
  <p:transition spd="med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itchFamily="2" charset="2"/>
        <a:buChar char="n"/>
        <a:defRPr sz="2800">
          <a:solidFill>
            <a:schemeClr val="tx2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600">
          <a:solidFill>
            <a:srgbClr val="DC4C4C"/>
          </a:solidFill>
          <a:latin typeface="+mn-lt"/>
          <a:ea typeface="ＭＳ Ｐゴシック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400">
          <a:solidFill>
            <a:schemeClr val="tx2"/>
          </a:solidFill>
          <a:latin typeface="+mn-lt"/>
          <a:ea typeface="ＭＳ Ｐゴシック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000">
          <a:solidFill>
            <a:srgbClr val="106380"/>
          </a:solidFill>
          <a:latin typeface="+mn-lt"/>
          <a:ea typeface="ＭＳ Ｐゴシック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ＭＳ Ｐゴシック" panose="020B0600070205080204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4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7343F49-9F2D-D15C-1126-87E1FE5EB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D646-D160-C5F2-C809-7753FD695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905000"/>
            <a:ext cx="5124450" cy="2133600"/>
          </a:xfrm>
        </p:spPr>
        <p:txBody>
          <a:bodyPr/>
          <a:lstStyle/>
          <a:p>
            <a:pPr algn="ctr" eaLnBrk="1" hangingPunct="1">
              <a:buFont typeface="Wingdings" charset="0"/>
              <a:buNone/>
              <a:defRPr/>
            </a:pPr>
            <a:r>
              <a:rPr lang="en-US" sz="3600" dirty="0">
                <a:solidFill>
                  <a:schemeClr val="tx1"/>
                </a:solidFill>
              </a:rPr>
              <a:t>Data Modeling Using 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the Entity-Relationship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(ER) Model</a:t>
            </a:r>
          </a:p>
        </p:txBody>
      </p:sp>
      <p:pic>
        <p:nvPicPr>
          <p:cNvPr id="4" name="Picture 3" descr="A diagram of different colored buttons&#10;&#10;AI-generated content may be incorrect.">
            <a:extLst>
              <a:ext uri="{FF2B5EF4-FFF2-40B4-BE49-F238E27FC236}">
                <a16:creationId xmlns:a16="http://schemas.microsoft.com/office/drawing/2014/main" id="{BD26063C-ABAB-AC0E-DB82-4382FEB55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69" y="3200400"/>
            <a:ext cx="4757861" cy="3171907"/>
          </a:xfrm>
          <a:prstGeom prst="rect">
            <a:avLst/>
          </a:prstGeom>
          <a:effectLst>
            <a:softEdge rad="203398"/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883F415-450C-1892-E61E-7018D5B40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Overview of Database Design Process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2244C83-9C02-13E7-3AC8-907C88E79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100" y="1905000"/>
            <a:ext cx="7796213" cy="41148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Two main activities: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Database design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Applications design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Focus here on </a:t>
            </a:r>
            <a:r>
              <a:rPr lang="en-US" altLang="en-IT" u="sng" dirty="0">
                <a:ea typeface="ＭＳ Ｐゴシック" panose="020B0600070205080204" pitchFamily="34" charset="-128"/>
              </a:rPr>
              <a:t>conceptual database design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To design the conceptual schema for a database application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Applications design focuses on the programs and interfaces that access the database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Generally considered part of software engineering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CAE4A29-F914-1512-6F1C-56D6C431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Overview of Database Design Process</a:t>
            </a:r>
          </a:p>
        </p:txBody>
      </p:sp>
      <p:pic>
        <p:nvPicPr>
          <p:cNvPr id="20483" name="Picture 4" descr="fig03_01">
            <a:extLst>
              <a:ext uri="{FF2B5EF4-FFF2-40B4-BE49-F238E27FC236}">
                <a16:creationId xmlns:a16="http://schemas.microsoft.com/office/drawing/2014/main" id="{C004EC0E-D535-54BB-60C6-99B750AB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4356326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7D0B024F-5C29-106E-D4B9-43560110C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Methodologies for Conceptual Design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DCC5396D-773F-1CEC-2A4B-C6234518D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2208213"/>
            <a:ext cx="8294687" cy="3200400"/>
          </a:xfrm>
        </p:spPr>
        <p:txBody>
          <a:bodyPr/>
          <a:lstStyle/>
          <a:p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Entity Relationship (ER) Diagrams </a:t>
            </a:r>
          </a:p>
          <a:p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Enhanced Entity Relationship (EER) Diagrams </a:t>
            </a:r>
          </a:p>
          <a:p>
            <a:r>
              <a:rPr lang="en-US" altLang="en-IT" sz="2400" dirty="0">
                <a:ea typeface="ＭＳ Ｐゴシック" panose="020B0600070205080204" pitchFamily="34" charset="-128"/>
              </a:rPr>
              <a:t>Use of Design Tools in industry for designing and documenting large scale designs</a:t>
            </a:r>
          </a:p>
          <a:p>
            <a:r>
              <a:rPr lang="en-US" altLang="en-IT" sz="2400" dirty="0">
                <a:ea typeface="ＭＳ Ｐゴシック" panose="020B0600070205080204" pitchFamily="34" charset="-128"/>
              </a:rPr>
              <a:t>The UML (Unified Modeling Language) Class Diagrams are popular in industry to document conceptual database designs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3E7A-0143-6DCD-74EF-33C024CA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D0DB989F-96B2-E969-E52B-E7864DB68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6169D0D4-AC1A-6FCA-1EA7-81EE25AAC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938" y="1752600"/>
            <a:ext cx="8294687" cy="4038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need to create a database schema design based on the following (simplified) </a:t>
            </a:r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requirements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the COMPANY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company is organized into DEPARTMENTs. Each department has a name, number and an employee who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department. We keep track of the start date of the department manager. A department may have several locations.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department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controls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PROJECTs. Each project has a unique name, unique number and is located at a single location.</a:t>
            </a:r>
          </a:p>
        </p:txBody>
      </p:sp>
    </p:spTree>
    <p:extLst>
      <p:ext uri="{BB962C8B-B14F-4D97-AF65-F5344CB8AC3E}">
        <p14:creationId xmlns:p14="http://schemas.microsoft.com/office/powerpoint/2010/main" val="407726164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191A-9A2E-2BE5-CCE3-64F32443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AC2E64BE-6BF7-3488-2F9F-507EEF4F6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893B5F6C-23FB-5A50-6AF9-AFF1822D3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562100"/>
            <a:ext cx="8512175" cy="48387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database will store each EMPLOYEE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social security number, address, salary, sex, and birthdate. 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 for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one department but may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 on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several projects.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DB will keep track of the number of hours per week that an employee currently works on each project.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It is required to keep track of the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direct supervisor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each employee.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en-IT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may </a:t>
            </a:r>
            <a:r>
              <a:rPr lang="en-US" altLang="en-IT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have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DEPENDENTs.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each dependent, the DB keeps a record of name, sex, birthdate, and relationship to the employee.</a:t>
            </a:r>
          </a:p>
        </p:txBody>
      </p:sp>
    </p:spTree>
    <p:extLst>
      <p:ext uri="{BB962C8B-B14F-4D97-AF65-F5344CB8AC3E}">
        <p14:creationId xmlns:p14="http://schemas.microsoft.com/office/powerpoint/2010/main" val="963749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270F14A1-D27A-4EB0-1A4C-46C2CF131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0AC70F67-77B1-E845-98C7-8AD803467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938" y="1752600"/>
            <a:ext cx="8294687" cy="4038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We need to create a database schema design based on the following (simplified) </a:t>
            </a:r>
            <a:r>
              <a:rPr lang="en-US" altLang="en-IT" b="1" dirty="0">
                <a:ea typeface="ＭＳ Ｐゴシック" panose="020B0600070205080204" pitchFamily="34" charset="-128"/>
              </a:rPr>
              <a:t>requirements</a:t>
            </a:r>
            <a:r>
              <a:rPr lang="en-US" altLang="en-IT" dirty="0">
                <a:ea typeface="ＭＳ Ｐゴシック" panose="020B0600070205080204" pitchFamily="34" charset="-128"/>
              </a:rPr>
              <a:t> of the COMPANY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The company is organized into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Each department has a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and an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who </a:t>
            </a:r>
            <a:r>
              <a:rPr lang="en-US" altLang="en-IT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We keep track of the start date of the department manager. A department may have several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locations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Each department </a:t>
            </a:r>
            <a:r>
              <a:rPr lang="en-US" altLang="en-IT" i="1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controls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 number of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Each project has a unique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, unique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and is located at a single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location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B774B44F-AD3B-2A12-A155-38D6A31EF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6D1B6DB2-74B7-8D67-8AE4-32907961B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562100"/>
            <a:ext cx="8512175" cy="48387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database will store each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social security number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address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salary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sex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and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birthdate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</a:t>
            </a:r>
            <a:r>
              <a:rPr lang="en-US" altLang="en-IT" i="1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works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but may </a:t>
            </a:r>
            <a:r>
              <a:rPr lang="en-US" altLang="en-IT" i="1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work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several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DB will keep track of the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 of hours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per week that an employee currently </a:t>
            </a:r>
            <a:r>
              <a:rPr lang="en-US" altLang="en-IT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works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 each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It is required to keep track of the </a:t>
            </a:r>
            <a:r>
              <a:rPr lang="en-US" altLang="en-IT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direct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supervisor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each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en-IT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may </a:t>
            </a:r>
            <a:r>
              <a:rPr lang="en-US" altLang="en-IT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have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DEPENDENTs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each dependent, the DB keeps a record of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sex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birthdate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and relationship to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12CC-76A9-0E29-2150-3B38FEF6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Company 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AC5A-DAF6-3919-D403-83B3D35F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our goal </a:t>
            </a:r>
          </a:p>
        </p:txBody>
      </p:sp>
      <p:pic>
        <p:nvPicPr>
          <p:cNvPr id="4" name="Picture 4" descr="fig03_02">
            <a:extLst>
              <a:ext uri="{FF2B5EF4-FFF2-40B4-BE49-F238E27FC236}">
                <a16:creationId xmlns:a16="http://schemas.microsoft.com/office/drawing/2014/main" id="{3F119601-13CD-687E-3D1C-F9819B85F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7"/>
          <a:stretch>
            <a:fillRect/>
          </a:stretch>
        </p:blipFill>
        <p:spPr bwMode="auto">
          <a:xfrm>
            <a:off x="3200400" y="1745468"/>
            <a:ext cx="5250181" cy="4655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979219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A1530770-4382-DFE2-3D68-335DE192D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Model Concepts</a:t>
            </a:r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BFCDCAD3-411D-F4FB-8219-C51AB53962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362200"/>
            <a:ext cx="8229600" cy="2133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b="1">
                <a:ea typeface="ＭＳ Ｐゴシック" panose="020B0600070205080204" pitchFamily="34" charset="-128"/>
              </a:rPr>
              <a:t>Entities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Entity is a basic concept for the ER model.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Entities are specific things or objects in the mini-world with an indipendent existence.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>
                <a:ea typeface="ＭＳ Ｐゴシック" panose="020B0600070205080204" pitchFamily="34" charset="-128"/>
              </a:rPr>
              <a:t>For example the EMPLOYEE John Smith, the Research DEPARTMENT, the ProductX PROJECT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E4F4E2DC-0828-E94C-3ED3-57ED8155A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Model Concepts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E3B890B3-422F-5342-F330-4FA2E64FC6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b="1" dirty="0">
                <a:ea typeface="ＭＳ Ｐゴシック" panose="020B0600070205080204" pitchFamily="34" charset="-128"/>
              </a:rPr>
              <a:t>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 dirty="0">
                <a:ea typeface="ＭＳ Ｐゴシック" panose="020B0600070205080204" pitchFamily="34" charset="-128"/>
              </a:rPr>
              <a:t>Attributes are properties used to describe an entity.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ea typeface="ＭＳ Ｐゴシック" panose="020B0600070205080204" pitchFamily="34" charset="-128"/>
              </a:rPr>
              <a:t>For example an EMPLOYEE entity may have the attributes Name, SSN, Address, Sex, </a:t>
            </a:r>
            <a:r>
              <a:rPr lang="en-US" altLang="en-IT" sz="2000" dirty="0" err="1">
                <a:ea typeface="ＭＳ Ｐゴシック" panose="020B0600070205080204" pitchFamily="34" charset="-128"/>
              </a:rPr>
              <a:t>BirthDate</a:t>
            </a:r>
            <a:endParaRPr lang="en-US" altLang="en-IT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 dirty="0">
                <a:ea typeface="ＭＳ Ｐゴシック" panose="020B0600070205080204" pitchFamily="34" charset="-128"/>
              </a:rPr>
              <a:t>A specific entity will have a value for each of its attributes.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ea typeface="ＭＳ Ｐゴシック" panose="020B0600070205080204" pitchFamily="34" charset="-128"/>
              </a:rPr>
              <a:t>For example a specific employee entity may have Name='John Smith', SSN='123456789', Address ='731, Fondren, Houston, TX', Sex='M', </a:t>
            </a:r>
            <a:r>
              <a:rPr lang="en-US" altLang="en-IT" sz="2000" dirty="0" err="1">
                <a:ea typeface="ＭＳ Ｐゴシック" panose="020B0600070205080204" pitchFamily="34" charset="-128"/>
              </a:rPr>
              <a:t>BirthDate</a:t>
            </a:r>
            <a:r>
              <a:rPr lang="en-US" altLang="en-IT" sz="2000" dirty="0">
                <a:ea typeface="ＭＳ Ｐゴシック" panose="020B0600070205080204" pitchFamily="34" charset="-128"/>
              </a:rPr>
              <a:t>='09-JAN-55</a:t>
            </a:r>
            <a:r>
              <a:rPr lang="en-US" altLang="en-US" sz="2000" dirty="0">
                <a:ea typeface="ＭＳ Ｐゴシック" panose="020B0600070205080204" pitchFamily="34" charset="-128"/>
              </a:rPr>
              <a:t>‘</a:t>
            </a:r>
            <a:endParaRPr lang="en-US" altLang="en-IT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attribute has a </a:t>
            </a:r>
            <a:r>
              <a:rPr lang="en-US" altLang="en-IT" sz="22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value set</a:t>
            </a:r>
            <a:r>
              <a:rPr lang="en-US" altLang="en-IT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22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(or </a:t>
            </a:r>
            <a:r>
              <a:rPr lang="en-US" altLang="en-IT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data type</a:t>
            </a:r>
            <a:r>
              <a:rPr lang="en-US" altLang="en-IT" sz="22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 associated with it – e.g. integer, string, date, enumerated type, …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F90AD419-59E3-3098-4AE8-7D5FD05F9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Types of Attributes (1)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9C54849A-23AB-893D-DFE6-4E91A916F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1963" y="1752600"/>
            <a:ext cx="8218487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b="1" dirty="0">
                <a:ea typeface="ＭＳ Ｐゴシック" panose="020B0600070205080204" pitchFamily="34" charset="-128"/>
              </a:rPr>
              <a:t>Simple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entity has a </a:t>
            </a:r>
            <a:r>
              <a:rPr lang="en-US" altLang="en-IT" sz="2100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single atomic value 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the attribute. For example, </a:t>
            </a:r>
            <a:r>
              <a:rPr lang="en-US" altLang="en-IT" sz="21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SSN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or </a:t>
            </a:r>
            <a:r>
              <a:rPr lang="en-US" altLang="en-IT" sz="21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Sex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Composite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attribute may be </a:t>
            </a:r>
            <a:r>
              <a:rPr lang="en-US" altLang="en-IT" sz="21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composed of several components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For example: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9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Address(Apt#, House#, Street, City, State, </a:t>
            </a:r>
            <a:r>
              <a:rPr lang="en-US" altLang="en-IT" sz="19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ZipCode</a:t>
            </a:r>
            <a:r>
              <a:rPr lang="en-US" altLang="en-IT" sz="19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Country), or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9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Name(FirstName, </a:t>
            </a:r>
            <a:r>
              <a:rPr lang="en-US" altLang="en-IT" sz="19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MiddleName</a:t>
            </a:r>
            <a:r>
              <a:rPr lang="en-US" altLang="en-IT" sz="19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LastName).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Composition may form a hierarchy where some components are themselves composite.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Multi-valued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entity may have </a:t>
            </a:r>
            <a:r>
              <a:rPr lang="en-US" altLang="en-IT" sz="21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multiple values for that attribute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For example, Color of a CAR or </a:t>
            </a:r>
            <a:r>
              <a:rPr lang="en-US" altLang="en-IT" sz="21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PreviousDegrees</a:t>
            </a:r>
            <a:r>
              <a:rPr lang="en-US" altLang="en-IT" sz="21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a STUDENT.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Denoted as {Color} or {</a:t>
            </a:r>
            <a:r>
              <a:rPr lang="en-US" altLang="en-IT" sz="20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PreviousDegrees</a:t>
            </a:r>
            <a:r>
              <a:rPr lang="en-US" altLang="en-IT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}.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DD614BEB-1448-0693-CC79-CD2AA1A35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Types of Attributes (2)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1385C0E8-3A3F-7444-6526-A54D8DFD6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05000"/>
            <a:ext cx="8294687" cy="3886200"/>
          </a:xfrm>
        </p:spPr>
        <p:txBody>
          <a:bodyPr/>
          <a:lstStyle/>
          <a:p>
            <a:pPr eaLnBrk="1" hangingPunct="1"/>
            <a:r>
              <a:rPr lang="en-US" altLang="en-IT" sz="2400">
                <a:ea typeface="ＭＳ Ｐゴシック" panose="020B0600070205080204" pitchFamily="34" charset="-128"/>
              </a:rPr>
              <a:t>In general, composite and multi-valued attributes may be nested arbitrarily to any number of levels, although this is rare.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For example, PreviousDegrees of a STUDENT is a composite multi-valued attribute denoted by {PreviousDegrees (College, Year, Degree, Field)}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Multiple PreviousDegrees values can exist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Each has four subcomponent attributes:</a:t>
            </a:r>
          </a:p>
          <a:p>
            <a:pPr lvl="2" eaLnBrk="1" hangingPunct="1"/>
            <a:r>
              <a:rPr lang="en-US" altLang="en-IT">
                <a:ea typeface="ＭＳ Ｐゴシック" panose="020B0600070205080204" pitchFamily="34" charset="-128"/>
              </a:rPr>
              <a:t>College, Year, Degree, Field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13DD073-22CA-14E9-2873-3285F4776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of a composite attribute</a:t>
            </a:r>
          </a:p>
        </p:txBody>
      </p:sp>
      <p:pic>
        <p:nvPicPr>
          <p:cNvPr id="34819" name="Picture 4" descr="fig03_04">
            <a:extLst>
              <a:ext uri="{FF2B5EF4-FFF2-40B4-BE49-F238E27FC236}">
                <a16:creationId xmlns:a16="http://schemas.microsoft.com/office/drawing/2014/main" id="{29827535-1BD6-1903-8B15-728FB0A6F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2362200"/>
            <a:ext cx="8061325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C5E9E782-A759-29FE-8A49-03B95B48B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Entity Types and Key Attributes (1)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CD317057-A112-CB72-1EF6-E60FEC4B2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2057400"/>
            <a:ext cx="8294687" cy="3581400"/>
          </a:xfrm>
        </p:spPr>
        <p:txBody>
          <a:bodyPr/>
          <a:lstStyle/>
          <a:p>
            <a:pPr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Entities with the same basic attributes are grouped or typed into an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entity type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</a:t>
            </a:r>
          </a:p>
          <a:p>
            <a:pPr lvl="1"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the entity type </a:t>
            </a:r>
            <a:r>
              <a:rPr lang="en-US" altLang="en-IT" sz="2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2400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attribute 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of an entity type for which each entity must have a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unique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value is called a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attribute 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of the entity type. 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SSN of 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85E4FF5E-D826-B850-E9CA-9CAC25EC9E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5C417059-0767-A24E-8B3A-4537849A73FF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IT" sz="1400">
              <a:solidFill>
                <a:srgbClr val="9900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614BDB-6E8A-221C-36C6-49436E8B4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819400"/>
            <a:ext cx="736600" cy="736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8F739E-76E8-C3F6-E6DF-DB8B3AEF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295900"/>
            <a:ext cx="482600" cy="4826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16C9607-887C-1A08-49E0-46488F1B8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Entity Types and Key Attributes (2)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8C9EE49-3B99-5052-64C4-78F909AA9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828800"/>
            <a:ext cx="82946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 key attribute may be composite. </a:t>
            </a:r>
          </a:p>
          <a:p>
            <a:pPr lvl="1" eaLnBrk="1" hangingPunct="1"/>
            <a:r>
              <a:rPr lang="en-US" altLang="en-IT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VehicleTagNumber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is a key of the CAR entity type with components </a:t>
            </a:r>
            <a:r>
              <a:rPr lang="en-US" altLang="en-IT" dirty="0">
                <a:ea typeface="ＭＳ Ｐゴシック" panose="020B0600070205080204" pitchFamily="34" charset="-128"/>
              </a:rPr>
              <a:t>(Number, State).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An entity type may have more than one key. 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The CAR entity type may have two keys:</a:t>
            </a:r>
          </a:p>
          <a:p>
            <a:pPr lvl="2" eaLnBrk="1" hangingPunct="1"/>
            <a:r>
              <a:rPr lang="en-US" altLang="en-IT" sz="1600" dirty="0" err="1">
                <a:ea typeface="ＭＳ Ｐゴシック" panose="020B0600070205080204" pitchFamily="34" charset="-128"/>
              </a:rPr>
              <a:t>VehicleIdentificationNumber</a:t>
            </a:r>
            <a:r>
              <a:rPr lang="en-US" altLang="en-IT" sz="1600" dirty="0">
                <a:ea typeface="ＭＳ Ｐゴシック" panose="020B0600070205080204" pitchFamily="34" charset="-128"/>
              </a:rPr>
              <a:t> (popularly called VIN)</a:t>
            </a:r>
          </a:p>
          <a:p>
            <a:pPr lvl="2" eaLnBrk="1" hangingPunct="1"/>
            <a:r>
              <a:rPr lang="en-US" altLang="en-IT" sz="1600" dirty="0" err="1">
                <a:ea typeface="ＭＳ Ｐゴシック" panose="020B0600070205080204" pitchFamily="34" charset="-128"/>
              </a:rPr>
              <a:t>VehicleTagNumber</a:t>
            </a:r>
            <a:r>
              <a:rPr lang="en-US" altLang="en-IT" sz="1600" dirty="0">
                <a:ea typeface="ＭＳ Ｐゴシック" panose="020B0600070205080204" pitchFamily="34" charset="-128"/>
              </a:rPr>
              <a:t> (Number, State), aka license plate number.</a:t>
            </a:r>
          </a:p>
          <a:p>
            <a:pPr eaLnBrk="1" hangingPunct="1"/>
            <a:r>
              <a:rPr lang="en-US" altLang="en-IT" u="sng" dirty="0">
                <a:ea typeface="ＭＳ Ｐゴシック" panose="020B0600070205080204" pitchFamily="34" charset="-128"/>
              </a:rPr>
              <a:t>Each key </a:t>
            </a:r>
            <a:r>
              <a:rPr lang="en-US" altLang="en-IT" dirty="0">
                <a:ea typeface="ＭＳ Ｐゴシック" panose="020B0600070205080204" pitchFamily="34" charset="-128"/>
              </a:rPr>
              <a:t>is </a:t>
            </a:r>
            <a:r>
              <a:rPr lang="en-US" altLang="en-IT" u="sng" dirty="0">
                <a:ea typeface="ＭＳ Ｐゴシック" panose="020B0600070205080204" pitchFamily="34" charset="-128"/>
              </a:rPr>
              <a:t>underlined</a:t>
            </a:r>
            <a:r>
              <a:rPr lang="en-US" altLang="en-IT" dirty="0">
                <a:ea typeface="ＭＳ Ｐゴシック" panose="020B0600070205080204" pitchFamily="34" charset="-128"/>
              </a:rPr>
              <a:t> (</a:t>
            </a:r>
            <a:r>
              <a:rPr lang="en-US" altLang="en-IT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Note: </a:t>
            </a:r>
            <a:r>
              <a:rPr lang="en-US" altLang="en-IT" i="1" dirty="0">
                <a:ea typeface="ＭＳ Ｐゴシック" panose="020B0600070205080204" pitchFamily="34" charset="-128"/>
              </a:rPr>
              <a:t>this is different from the relational schema where only one </a:t>
            </a:r>
            <a:r>
              <a:rPr lang="en-US" altLang="en-US" i="1" dirty="0">
                <a:ea typeface="ＭＳ Ｐゴシック" panose="020B0600070205080204" pitchFamily="34" charset="-128"/>
              </a:rPr>
              <a:t>“</a:t>
            </a:r>
            <a:r>
              <a:rPr lang="en-US" altLang="en-IT" i="1" dirty="0">
                <a:ea typeface="ＭＳ Ｐゴシック" panose="020B0600070205080204" pitchFamily="34" charset="-128"/>
              </a:rPr>
              <a:t>primary key is underlined</a:t>
            </a:r>
            <a:r>
              <a:rPr lang="en-US" altLang="en-IT" dirty="0">
                <a:ea typeface="ＭＳ Ｐゴシック" panose="020B0600070205080204" pitchFamily="34" charset="-128"/>
              </a:rPr>
              <a:t>).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0CE9880-FE7F-4585-E072-4C7C53B6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Displaying an Entity type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4884B8C-5871-9BA3-159E-37EBBE956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05000"/>
            <a:ext cx="8294687" cy="3810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In ER diagrams, an </a:t>
            </a:r>
            <a:r>
              <a:rPr lang="en-US" altLang="en-IT" sz="1800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entity</a:t>
            </a:r>
            <a:r>
              <a:rPr lang="en-US" altLang="en-IT" sz="1800" dirty="0">
                <a:ea typeface="ＭＳ Ｐゴシック" panose="020B0600070205080204" pitchFamily="34" charset="-128"/>
              </a:rPr>
              <a:t> type is displayed in a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rectangular box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IT" sz="1800" b="1" dirty="0">
                <a:solidFill>
                  <a:schemeClr val="tx2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Attributes</a:t>
            </a:r>
            <a:r>
              <a:rPr lang="en-US" altLang="en-IT" sz="1800" dirty="0">
                <a:ea typeface="ＭＳ Ｐゴシック" panose="020B0600070205080204" pitchFamily="34" charset="-128"/>
              </a:rPr>
              <a:t> are displayed in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ovals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attribute is </a:t>
            </a:r>
            <a:r>
              <a:rPr lang="en-US" altLang="en-IT" sz="1800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connected to its entity type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Components of a composite attribute are connected to the oval representing the composite attribute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key attribute is underlined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Multivalued attributes </a:t>
            </a:r>
            <a:r>
              <a:rPr lang="en-US" altLang="en-IT" sz="1800" dirty="0">
                <a:ea typeface="ＭＳ Ｐゴシック" panose="020B0600070205080204" pitchFamily="34" charset="-128"/>
              </a:rPr>
              <a:t>displayed in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double ovals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F3ACA-E030-8E75-AC13-FC1911FECADD}"/>
              </a:ext>
            </a:extLst>
          </p:cNvPr>
          <p:cNvSpPr/>
          <p:nvPr/>
        </p:nvSpPr>
        <p:spPr bwMode="auto">
          <a:xfrm>
            <a:off x="7513638" y="1981200"/>
            <a:ext cx="1022350" cy="381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32CCF3-8D91-6AD0-8E1D-360286C5E0D6}"/>
              </a:ext>
            </a:extLst>
          </p:cNvPr>
          <p:cNvSpPr/>
          <p:nvPr/>
        </p:nvSpPr>
        <p:spPr bwMode="auto">
          <a:xfrm>
            <a:off x="4724400" y="2514600"/>
            <a:ext cx="1143000" cy="381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236825-05D7-68E6-CEED-7CE0BED65C9F}"/>
              </a:ext>
            </a:extLst>
          </p:cNvPr>
          <p:cNvSpPr/>
          <p:nvPr/>
        </p:nvSpPr>
        <p:spPr bwMode="auto">
          <a:xfrm>
            <a:off x="6629400" y="5029200"/>
            <a:ext cx="1143000" cy="381000"/>
          </a:xfrm>
          <a:prstGeom prst="ellipse">
            <a:avLst/>
          </a:prstGeom>
          <a:ln w="38100" cmpd="dbl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FBF3C35-9F41-F211-88B1-D16191CF4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38668CFD-41C0-8B1E-5B90-A2A191C55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75458BEB-F3C0-BB5E-CECE-A947CF703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>
            <a:extLst>
              <a:ext uri="{FF2B5EF4-FFF2-40B4-BE49-F238E27FC236}">
                <a16:creationId xmlns:a16="http://schemas.microsoft.com/office/drawing/2014/main" id="{841F5123-E42F-B0E8-FD2B-07852AA0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Entity Type CAR with two keys and a corresponding Entity Set</a:t>
            </a:r>
          </a:p>
        </p:txBody>
      </p:sp>
      <p:pic>
        <p:nvPicPr>
          <p:cNvPr id="41987" name="Picture 1028" descr="fig03_07">
            <a:extLst>
              <a:ext uri="{FF2B5EF4-FFF2-40B4-BE49-F238E27FC236}">
                <a16:creationId xmlns:a16="http://schemas.microsoft.com/office/drawing/2014/main" id="{5A6CF3F0-B1BF-CF4E-B3E3-56C4730C9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2" r="30435" b="57863"/>
          <a:stretch>
            <a:fillRect/>
          </a:stretch>
        </p:blipFill>
        <p:spPr bwMode="auto">
          <a:xfrm>
            <a:off x="5486400" y="1756436"/>
            <a:ext cx="3048000" cy="1838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7B41EBBD-A9FE-779A-5931-1D674DCB7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63337"/>
            <a:ext cx="464820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IT" sz="1800" dirty="0">
                <a:ea typeface="ＭＳ Ｐゴシック" panose="020B0600070205080204" pitchFamily="34" charset="-128"/>
              </a:rPr>
              <a:t>Each entity type will have a collection of entities stored in the database called the </a:t>
            </a:r>
            <a:r>
              <a:rPr lang="en-US" altLang="en-IT" sz="1800" b="1" dirty="0">
                <a:ea typeface="ＭＳ Ｐゴシック" panose="020B0600070205080204" pitchFamily="34" charset="-128"/>
              </a:rPr>
              <a:t>entity set </a:t>
            </a:r>
            <a:r>
              <a:rPr lang="en-US" altLang="en-IT" sz="1800" dirty="0">
                <a:ea typeface="ＭＳ Ｐゴシック" panose="020B0600070205080204" pitchFamily="34" charset="-128"/>
              </a:rPr>
              <a:t>or sometimes </a:t>
            </a:r>
            <a:r>
              <a:rPr lang="en-US" altLang="en-IT" sz="1800" b="1" dirty="0">
                <a:ea typeface="ＭＳ Ｐゴシック" panose="020B0600070205080204" pitchFamily="34" charset="-128"/>
              </a:rPr>
              <a:t>entity collection</a:t>
            </a:r>
          </a:p>
          <a:p>
            <a:pPr eaLnBrk="1" hangingPunct="1"/>
            <a:endParaRPr lang="en-US" altLang="en-IT" sz="18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Same name (CAR) used to refer to both the entity type and the entity set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However, entity type and entity set may be given different names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Entity set is the current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state</a:t>
            </a:r>
            <a:r>
              <a:rPr lang="en-US" altLang="en-IT" sz="1800" dirty="0">
                <a:ea typeface="ＭＳ Ｐゴシック" panose="020B0600070205080204" pitchFamily="34" charset="-128"/>
              </a:rPr>
              <a:t> of the entities of that type that are stored in the database</a:t>
            </a:r>
          </a:p>
        </p:txBody>
      </p:sp>
      <p:pic>
        <p:nvPicPr>
          <p:cNvPr id="3" name="Picture 1028" descr="fig03_07">
            <a:extLst>
              <a:ext uri="{FF2B5EF4-FFF2-40B4-BE49-F238E27FC236}">
                <a16:creationId xmlns:a16="http://schemas.microsoft.com/office/drawing/2014/main" id="{9D40C8A0-3AE8-58CF-D215-D2DC20273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" t="38934" r="14131"/>
          <a:stretch>
            <a:fillRect/>
          </a:stretch>
        </p:blipFill>
        <p:spPr bwMode="auto">
          <a:xfrm>
            <a:off x="5334000" y="3985549"/>
            <a:ext cx="3429000" cy="18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4EFBE1-888F-5783-F77C-D58AD17750DF}"/>
              </a:ext>
            </a:extLst>
          </p:cNvPr>
          <p:cNvSpPr txBox="1"/>
          <p:nvPr/>
        </p:nvSpPr>
        <p:spPr>
          <a:xfrm>
            <a:off x="6172200" y="3429000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T" sz="1400" dirty="0">
                <a:ea typeface="ＭＳ Ｐゴシック" panose="020B0600070205080204" pitchFamily="34" charset="-128"/>
              </a:rPr>
              <a:t>Entity Type 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85A86-A318-E744-DBB4-B9C6D6DDFEDA}"/>
              </a:ext>
            </a:extLst>
          </p:cNvPr>
          <p:cNvSpPr txBox="1"/>
          <p:nvPr/>
        </p:nvSpPr>
        <p:spPr>
          <a:xfrm>
            <a:off x="6134100" y="5891196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T" sz="1400" dirty="0">
                <a:ea typeface="ＭＳ Ｐゴシック" panose="020B0600070205080204" pitchFamily="34" charset="-128"/>
              </a:rPr>
              <a:t>Entity Set </a:t>
            </a:r>
            <a:endParaRPr lang="en-US" sz="1400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AFFA6370-7D20-4E53-06B1-92C235EE9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Value Sets (Domains) of Attributes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6B9162F2-EF70-7DBC-BA45-2358A825D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81200"/>
            <a:ext cx="8294687" cy="3733800"/>
          </a:xfrm>
        </p:spPr>
        <p:txBody>
          <a:bodyPr/>
          <a:lstStyle/>
          <a:p>
            <a:r>
              <a:rPr lang="en-US" altLang="en-IT" dirty="0">
                <a:ea typeface="ＭＳ Ｐゴシック" panose="020B0600070205080204" pitchFamily="34" charset="-128"/>
              </a:rPr>
              <a:t>Each simple </a:t>
            </a:r>
            <a:r>
              <a:rPr lang="en-US" altLang="en-IT" b="1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attribute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dirty="0">
                <a:ea typeface="ＭＳ Ｐゴシック" panose="020B0600070205080204" pitchFamily="34" charset="-128"/>
              </a:rPr>
              <a:t>is associated with a 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value set</a:t>
            </a:r>
          </a:p>
          <a:p>
            <a:pPr lvl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E.g., Lastname has a value which is a character string of up to 15 characters</a:t>
            </a:r>
          </a:p>
          <a:p>
            <a:pPr lvl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Date has a value consisting of MM-DD-YYYY where each letter is an integer</a:t>
            </a:r>
          </a:p>
          <a:p>
            <a:r>
              <a:rPr lang="en-US" altLang="en-IT" u="sng" dirty="0">
                <a:ea typeface="ＭＳ Ｐゴシック" panose="020B0600070205080204" pitchFamily="34" charset="-128"/>
              </a:rPr>
              <a:t>A </a:t>
            </a:r>
            <a:r>
              <a:rPr lang="en-US" altLang="en-IT" b="1" u="sng" dirty="0">
                <a:ea typeface="ＭＳ Ｐゴシック" panose="020B0600070205080204" pitchFamily="34" charset="-128"/>
              </a:rPr>
              <a:t>value set </a:t>
            </a:r>
            <a:r>
              <a:rPr lang="en-US" altLang="en-IT" u="sng" dirty="0">
                <a:ea typeface="ＭＳ Ｐゴシック" panose="020B0600070205080204" pitchFamily="34" charset="-128"/>
              </a:rPr>
              <a:t>specifies the set of values associated with an attribute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A114EDA-10D8-4A5A-6B84-A620513F3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Initial Conceptual Design of Entity Types for the </a:t>
            </a:r>
            <a:r>
              <a:rPr lang="en-US" altLang="en-IT" sz="2000">
                <a:ea typeface="ＭＳ Ｐゴシック" panose="020B0600070205080204" pitchFamily="34" charset="-128"/>
              </a:rPr>
              <a:t>COMPANY </a:t>
            </a:r>
            <a:r>
              <a:rPr lang="en-US" altLang="en-IT" sz="3200">
                <a:ea typeface="ＭＳ Ｐゴシック" panose="020B0600070205080204" pitchFamily="34" charset="-128"/>
              </a:rPr>
              <a:t>Database Schema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4B0DF3C-4E74-5F8A-E851-C4F12B7B6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713" y="1600200"/>
            <a:ext cx="40274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Based on the requirements, we can identify four initial entity types in the 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COMPANY</a:t>
            </a:r>
            <a:r>
              <a:rPr lang="en-US" altLang="en-IT" dirty="0">
                <a:ea typeface="ＭＳ Ｐゴシック" panose="020B0600070205080204" pitchFamily="34" charset="-128"/>
              </a:rPr>
              <a:t> database: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Their initial conceptual design is shown on the following slide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 initial attributes shown are derived from the requirements description</a:t>
            </a:r>
          </a:p>
        </p:txBody>
      </p:sp>
      <p:pic>
        <p:nvPicPr>
          <p:cNvPr id="2" name="Picture 4" descr="fig03_08">
            <a:extLst>
              <a:ext uri="{FF2B5EF4-FFF2-40B4-BE49-F238E27FC236}">
                <a16:creationId xmlns:a16="http://schemas.microsoft.com/office/drawing/2014/main" id="{9884C572-4F61-2BD4-3B53-19B3961EF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87"/>
          <a:stretch>
            <a:fillRect/>
          </a:stretch>
        </p:blipFill>
        <p:spPr bwMode="auto">
          <a:xfrm>
            <a:off x="4953000" y="1905000"/>
            <a:ext cx="298370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90E-2D3D-B1B8-D01A-572E94A1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Biblioteca </a:t>
            </a:r>
            <a:r>
              <a:rPr lang="en-US" dirty="0" err="1"/>
              <a:t>universitaria</a:t>
            </a:r>
            <a:r>
              <a:rPr lang="en-US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9048A-BF4E-9D8C-AB9E-4A6627919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Una </a:t>
            </a:r>
            <a:r>
              <a:rPr lang="en-US" sz="1400" dirty="0" err="1"/>
              <a:t>biblioteca</a:t>
            </a:r>
            <a:r>
              <a:rPr lang="en-US" sz="1400" dirty="0"/>
              <a:t> </a:t>
            </a:r>
            <a:r>
              <a:rPr lang="en-US" sz="1400" dirty="0" err="1"/>
              <a:t>universitaria</a:t>
            </a:r>
            <a:r>
              <a:rPr lang="en-US" sz="1400" dirty="0"/>
              <a:t> </a:t>
            </a:r>
            <a:r>
              <a:rPr lang="en-US" sz="1400" dirty="0" err="1"/>
              <a:t>vuole</a:t>
            </a:r>
            <a:r>
              <a:rPr lang="en-US" sz="1400" dirty="0"/>
              <a:t> </a:t>
            </a:r>
            <a:r>
              <a:rPr lang="en-US" sz="1400" dirty="0" err="1"/>
              <a:t>realizzare</a:t>
            </a:r>
            <a:r>
              <a:rPr lang="en-US" sz="1400" dirty="0"/>
              <a:t> un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informativo</a:t>
            </a:r>
            <a:r>
              <a:rPr lang="en-US" sz="1400" dirty="0"/>
              <a:t> per </a:t>
            </a:r>
            <a:r>
              <a:rPr lang="en-US" sz="1400" dirty="0" err="1"/>
              <a:t>gestire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propri</a:t>
            </a:r>
            <a:r>
              <a:rPr lang="en-US" sz="1400" dirty="0"/>
              <a:t> </a:t>
            </a:r>
            <a:r>
              <a:rPr lang="en-US" sz="1400" dirty="0" err="1"/>
              <a:t>servizi</a:t>
            </a:r>
            <a:r>
              <a:rPr lang="en-US" sz="1400" dirty="0"/>
              <a:t>.</a:t>
            </a:r>
          </a:p>
          <a:p>
            <a:r>
              <a:rPr lang="en-US" sz="1400" dirty="0"/>
              <a:t>La </a:t>
            </a:r>
            <a:r>
              <a:rPr lang="en-US" sz="1400" dirty="0" err="1"/>
              <a:t>biblioteca</a:t>
            </a:r>
            <a:r>
              <a:rPr lang="en-US" sz="1400" dirty="0"/>
              <a:t> </a:t>
            </a:r>
            <a:r>
              <a:rPr lang="en-US" sz="1400" dirty="0" err="1"/>
              <a:t>possiede</a:t>
            </a:r>
            <a:r>
              <a:rPr lang="en-US" sz="1400" dirty="0"/>
              <a:t> </a:t>
            </a:r>
            <a:r>
              <a:rPr lang="en-US" sz="1400" dirty="0" err="1"/>
              <a:t>diversi</a:t>
            </a:r>
            <a:r>
              <a:rPr lang="en-US" sz="1400" dirty="0"/>
              <a:t> libri.</a:t>
            </a:r>
          </a:p>
          <a:p>
            <a:r>
              <a:rPr lang="en-US" sz="1400" dirty="0"/>
              <a:t>Ogni </a:t>
            </a:r>
            <a:r>
              <a:rPr lang="en-US" sz="1400" dirty="0" err="1"/>
              <a:t>libro</a:t>
            </a:r>
            <a:r>
              <a:rPr lang="en-US" sz="1400" dirty="0"/>
              <a:t> </a:t>
            </a:r>
            <a:r>
              <a:rPr lang="en-US" sz="1400" dirty="0" err="1"/>
              <a:t>è</a:t>
            </a:r>
            <a:r>
              <a:rPr lang="en-US" sz="1400" dirty="0"/>
              <a:t> </a:t>
            </a:r>
            <a:r>
              <a:rPr lang="en-US" sz="1400" dirty="0" err="1"/>
              <a:t>identificato</a:t>
            </a:r>
            <a:r>
              <a:rPr lang="en-US" sz="1400" dirty="0"/>
              <a:t> da un </a:t>
            </a:r>
            <a:r>
              <a:rPr lang="en-US" sz="1400" dirty="0" err="1"/>
              <a:t>codice</a:t>
            </a:r>
            <a:r>
              <a:rPr lang="en-US" sz="1400" dirty="0"/>
              <a:t> ISBN, ha un </a:t>
            </a:r>
            <a:r>
              <a:rPr lang="en-US" sz="1400" dirty="0" err="1"/>
              <a:t>titolo</a:t>
            </a:r>
            <a:r>
              <a:rPr lang="en-US" sz="1400" dirty="0"/>
              <a:t>, un anno di </a:t>
            </a:r>
            <a:r>
              <a:rPr lang="en-US" sz="1400" dirty="0" err="1"/>
              <a:t>pubblicazione</a:t>
            </a:r>
            <a:r>
              <a:rPr lang="en-US" sz="1400" dirty="0"/>
              <a:t> e un </a:t>
            </a:r>
            <a:r>
              <a:rPr lang="en-US" sz="1400" dirty="0" err="1"/>
              <a:t>editore</a:t>
            </a:r>
            <a:r>
              <a:rPr lang="en-US" sz="1400" dirty="0"/>
              <a:t>.</a:t>
            </a:r>
          </a:p>
          <a:p>
            <a:r>
              <a:rPr lang="en-US" sz="1400" dirty="0"/>
              <a:t>I libri </a:t>
            </a:r>
            <a:r>
              <a:rPr lang="en-US" sz="1400" dirty="0" err="1"/>
              <a:t>sono</a:t>
            </a:r>
            <a:r>
              <a:rPr lang="en-US" sz="1400" dirty="0"/>
              <a:t> </a:t>
            </a:r>
            <a:r>
              <a:rPr lang="en-US" sz="1400" dirty="0" err="1"/>
              <a:t>scritti</a:t>
            </a:r>
            <a:r>
              <a:rPr lang="en-US" sz="1400" dirty="0"/>
              <a:t> da uno o </a:t>
            </a:r>
            <a:r>
              <a:rPr lang="en-US" sz="1400" dirty="0" err="1"/>
              <a:t>più</a:t>
            </a:r>
            <a:r>
              <a:rPr lang="en-US" sz="1400" dirty="0"/>
              <a:t> </a:t>
            </a:r>
            <a:r>
              <a:rPr lang="en-US" sz="1400" dirty="0" err="1"/>
              <a:t>autori</a:t>
            </a:r>
            <a:r>
              <a:rPr lang="en-US" sz="1400" dirty="0"/>
              <a:t>.</a:t>
            </a:r>
          </a:p>
          <a:p>
            <a:r>
              <a:rPr lang="en-US" sz="1400" dirty="0"/>
              <a:t>Per ogni </a:t>
            </a:r>
            <a:r>
              <a:rPr lang="en-US" sz="1400" dirty="0" err="1"/>
              <a:t>autore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vogliono</a:t>
            </a:r>
            <a:r>
              <a:rPr lang="en-US" sz="1400" dirty="0"/>
              <a:t> </a:t>
            </a:r>
            <a:r>
              <a:rPr lang="en-US" sz="1400" dirty="0" err="1"/>
              <a:t>memorizzare</a:t>
            </a:r>
            <a:r>
              <a:rPr lang="en-US" sz="1400" dirty="0"/>
              <a:t> </a:t>
            </a:r>
            <a:r>
              <a:rPr lang="en-US" sz="1400" dirty="0" err="1"/>
              <a:t>nome</a:t>
            </a:r>
            <a:r>
              <a:rPr lang="en-US" sz="1400" dirty="0"/>
              <a:t>, </a:t>
            </a:r>
            <a:r>
              <a:rPr lang="en-US" sz="1400" dirty="0" err="1"/>
              <a:t>cognome</a:t>
            </a:r>
            <a:r>
              <a:rPr lang="en-US" sz="1400" dirty="0"/>
              <a:t> e </a:t>
            </a:r>
            <a:r>
              <a:rPr lang="en-US" sz="1400" dirty="0" err="1"/>
              <a:t>nazionalità</a:t>
            </a:r>
            <a:r>
              <a:rPr lang="en-US" sz="1400" dirty="0"/>
              <a:t>.</a:t>
            </a:r>
          </a:p>
          <a:p>
            <a:r>
              <a:rPr lang="en-US" sz="1400" dirty="0"/>
              <a:t>La </a:t>
            </a:r>
            <a:r>
              <a:rPr lang="en-US" sz="1400" dirty="0" err="1"/>
              <a:t>biblioteca</a:t>
            </a:r>
            <a:r>
              <a:rPr lang="en-US" sz="1400" dirty="0"/>
              <a:t>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avere</a:t>
            </a:r>
            <a:r>
              <a:rPr lang="en-US" sz="1400" dirty="0"/>
              <a:t> </a:t>
            </a:r>
            <a:r>
              <a:rPr lang="en-US" sz="1400" dirty="0" err="1"/>
              <a:t>più</a:t>
            </a:r>
            <a:r>
              <a:rPr lang="en-US" sz="1400" dirty="0"/>
              <a:t> </a:t>
            </a:r>
            <a:r>
              <a:rPr lang="en-US" sz="1400" dirty="0" err="1"/>
              <a:t>copie</a:t>
            </a:r>
            <a:r>
              <a:rPr lang="en-US" sz="1400" dirty="0"/>
              <a:t> </a:t>
            </a:r>
            <a:r>
              <a:rPr lang="en-US" sz="1400" dirty="0" err="1"/>
              <a:t>dello</a:t>
            </a:r>
            <a:r>
              <a:rPr lang="en-US" sz="1400" dirty="0"/>
              <a:t> </a:t>
            </a:r>
            <a:r>
              <a:rPr lang="en-US" sz="1400" dirty="0" err="1"/>
              <a:t>stesso</a:t>
            </a:r>
            <a:r>
              <a:rPr lang="en-US" sz="1400" dirty="0"/>
              <a:t> </a:t>
            </a:r>
            <a:r>
              <a:rPr lang="en-US" sz="1400" dirty="0" err="1"/>
              <a:t>libro</a:t>
            </a:r>
            <a:r>
              <a:rPr lang="en-US" sz="1400" dirty="0"/>
              <a:t>.</a:t>
            </a:r>
          </a:p>
          <a:p>
            <a:r>
              <a:rPr lang="en-US" sz="1400" dirty="0"/>
              <a:t>Ogni </a:t>
            </a:r>
            <a:r>
              <a:rPr lang="en-US" sz="1400" dirty="0" err="1"/>
              <a:t>copia</a:t>
            </a:r>
            <a:r>
              <a:rPr lang="en-US" sz="1400" dirty="0"/>
              <a:t> ha un </a:t>
            </a:r>
            <a:r>
              <a:rPr lang="en-US" sz="1400" dirty="0" err="1"/>
              <a:t>codice</a:t>
            </a:r>
            <a:r>
              <a:rPr lang="en-US" sz="1400" dirty="0"/>
              <a:t> </a:t>
            </a:r>
            <a:r>
              <a:rPr lang="en-US" sz="1400" dirty="0" err="1"/>
              <a:t>identificativo</a:t>
            </a:r>
            <a:r>
              <a:rPr lang="en-US" sz="1400" dirty="0"/>
              <a:t>, uno </a:t>
            </a:r>
            <a:r>
              <a:rPr lang="en-US" sz="1400" dirty="0" err="1"/>
              <a:t>stato</a:t>
            </a:r>
            <a:r>
              <a:rPr lang="en-US" sz="1400" dirty="0"/>
              <a:t> (</a:t>
            </a:r>
            <a:r>
              <a:rPr lang="en-US" sz="1400" dirty="0" err="1"/>
              <a:t>disponibile</a:t>
            </a:r>
            <a:r>
              <a:rPr lang="en-US" sz="1400" dirty="0"/>
              <a:t>, in </a:t>
            </a:r>
            <a:r>
              <a:rPr lang="en-US" sz="1400" dirty="0" err="1"/>
              <a:t>prestito</a:t>
            </a:r>
            <a:r>
              <a:rPr lang="en-US" sz="1400" dirty="0"/>
              <a:t>, </a:t>
            </a:r>
            <a:r>
              <a:rPr lang="en-US" sz="1400" dirty="0" err="1"/>
              <a:t>danneggiato</a:t>
            </a:r>
            <a:r>
              <a:rPr lang="en-US" sz="1400" dirty="0"/>
              <a:t>) e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posizione</a:t>
            </a:r>
            <a:r>
              <a:rPr lang="en-US" sz="1400" dirty="0"/>
              <a:t> </a:t>
            </a:r>
            <a:r>
              <a:rPr lang="en-US" sz="1400" dirty="0" err="1"/>
              <a:t>nello</a:t>
            </a:r>
            <a:r>
              <a:rPr lang="en-US" sz="1400" dirty="0"/>
              <a:t> </a:t>
            </a:r>
            <a:r>
              <a:rPr lang="en-US" sz="1400" dirty="0" err="1"/>
              <a:t>scaffale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3938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01C3-F4A0-DDC4-E0DF-62B893EF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Biblioteca </a:t>
            </a:r>
            <a:r>
              <a:rPr lang="en-US" dirty="0" err="1"/>
              <a:t>universitaria</a:t>
            </a:r>
            <a:r>
              <a:rPr 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8247-FED3-C938-4722-72E79E29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 err="1"/>
              <a:t>Gli</a:t>
            </a:r>
            <a:r>
              <a:rPr lang="en-US" sz="1400" dirty="0"/>
              <a:t> </a:t>
            </a:r>
            <a:r>
              <a:rPr lang="en-US" sz="1400" dirty="0" err="1"/>
              <a:t>utenti</a:t>
            </a:r>
            <a:r>
              <a:rPr lang="en-US" sz="1400" dirty="0"/>
              <a:t> della </a:t>
            </a:r>
            <a:r>
              <a:rPr lang="en-US" sz="1400" dirty="0" err="1"/>
              <a:t>biblioteca</a:t>
            </a:r>
            <a:r>
              <a:rPr lang="en-US" sz="1400" dirty="0"/>
              <a:t> </a:t>
            </a:r>
            <a:r>
              <a:rPr lang="en-US" sz="1400" dirty="0" err="1"/>
              <a:t>possono</a:t>
            </a:r>
            <a:r>
              <a:rPr lang="en-US" sz="1400" dirty="0"/>
              <a:t> </a:t>
            </a:r>
            <a:r>
              <a:rPr lang="en-US" sz="1400" dirty="0" err="1"/>
              <a:t>prendere</a:t>
            </a:r>
            <a:r>
              <a:rPr lang="en-US" sz="1400" dirty="0"/>
              <a:t> in </a:t>
            </a:r>
            <a:r>
              <a:rPr lang="en-US" sz="1400" dirty="0" err="1"/>
              <a:t>prestito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libri.</a:t>
            </a:r>
          </a:p>
          <a:p>
            <a:r>
              <a:rPr lang="en-US" sz="1400" dirty="0"/>
              <a:t>Per ogni </a:t>
            </a:r>
            <a:r>
              <a:rPr lang="en-US" sz="1400" dirty="0" err="1"/>
              <a:t>utente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memorizzano</a:t>
            </a:r>
            <a:r>
              <a:rPr lang="en-US" sz="1400" dirty="0"/>
              <a:t>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tessera</a:t>
            </a:r>
            <a:r>
              <a:rPr lang="en-US" sz="1400" dirty="0"/>
              <a:t>, </a:t>
            </a:r>
            <a:r>
              <a:rPr lang="en-US" sz="1400" dirty="0" err="1"/>
              <a:t>nome</a:t>
            </a:r>
            <a:r>
              <a:rPr lang="en-US" sz="1400" dirty="0"/>
              <a:t>, </a:t>
            </a:r>
            <a:r>
              <a:rPr lang="en-US" sz="1400" dirty="0" err="1"/>
              <a:t>cognome</a:t>
            </a:r>
            <a:r>
              <a:rPr lang="en-US" sz="1400" dirty="0"/>
              <a:t>, email e data di </a:t>
            </a:r>
            <a:r>
              <a:rPr lang="en-US" sz="1400" dirty="0" err="1"/>
              <a:t>iscrizione</a:t>
            </a:r>
            <a:r>
              <a:rPr lang="en-US" sz="1400" dirty="0"/>
              <a:t>.</a:t>
            </a:r>
          </a:p>
          <a:p>
            <a:r>
              <a:rPr lang="en-US" sz="1400" dirty="0"/>
              <a:t>Quando un </a:t>
            </a:r>
            <a:r>
              <a:rPr lang="en-US" sz="1400" dirty="0" err="1"/>
              <a:t>utente</a:t>
            </a:r>
            <a:r>
              <a:rPr lang="en-US" sz="1400" dirty="0"/>
              <a:t> </a:t>
            </a:r>
            <a:r>
              <a:rPr lang="en-US" sz="1400" dirty="0" err="1"/>
              <a:t>prende</a:t>
            </a:r>
            <a:r>
              <a:rPr lang="en-US" sz="1400" dirty="0"/>
              <a:t> in </a:t>
            </a:r>
            <a:r>
              <a:rPr lang="en-US" sz="1400" dirty="0" err="1"/>
              <a:t>prestito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copia</a:t>
            </a:r>
            <a:r>
              <a:rPr lang="en-US" sz="1400" dirty="0"/>
              <a:t> di un </a:t>
            </a:r>
            <a:r>
              <a:rPr lang="en-US" sz="1400" dirty="0" err="1"/>
              <a:t>libro</a:t>
            </a:r>
            <a:r>
              <a:rPr lang="en-US" sz="1400" dirty="0"/>
              <a:t>, </a:t>
            </a:r>
            <a:r>
              <a:rPr lang="en-US" sz="1400" dirty="0" err="1"/>
              <a:t>viene</a:t>
            </a:r>
            <a:r>
              <a:rPr lang="en-US" sz="1400" dirty="0"/>
              <a:t> </a:t>
            </a:r>
            <a:r>
              <a:rPr lang="en-US" sz="1400" dirty="0" err="1"/>
              <a:t>registrato</a:t>
            </a:r>
            <a:r>
              <a:rPr lang="en-US" sz="1400" dirty="0"/>
              <a:t> un </a:t>
            </a:r>
            <a:r>
              <a:rPr lang="en-US" sz="1400" dirty="0" err="1"/>
              <a:t>prestito</a:t>
            </a:r>
            <a:r>
              <a:rPr lang="en-US" sz="1400" dirty="0"/>
              <a:t> con:</a:t>
            </a:r>
          </a:p>
          <a:p>
            <a:pPr lvl="1"/>
            <a:r>
              <a:rPr lang="en-US" sz="1400" dirty="0"/>
              <a:t>data di </a:t>
            </a:r>
            <a:r>
              <a:rPr lang="en-US" sz="1400" dirty="0" err="1"/>
              <a:t>inizio</a:t>
            </a:r>
            <a:r>
              <a:rPr lang="en-US" sz="1400" dirty="0"/>
              <a:t> </a:t>
            </a:r>
            <a:r>
              <a:rPr lang="en-US" sz="1400" dirty="0" err="1"/>
              <a:t>prestito</a:t>
            </a:r>
            <a:endParaRPr lang="en-US" sz="1400" dirty="0"/>
          </a:p>
          <a:p>
            <a:pPr lvl="1"/>
            <a:r>
              <a:rPr lang="en-US" sz="1400" dirty="0"/>
              <a:t>data di </a:t>
            </a:r>
            <a:r>
              <a:rPr lang="en-US" sz="1400" dirty="0" err="1"/>
              <a:t>scadenza</a:t>
            </a:r>
            <a:endParaRPr lang="en-US" sz="1400" dirty="0"/>
          </a:p>
          <a:p>
            <a:pPr lvl="1"/>
            <a:r>
              <a:rPr lang="en-US" sz="1400" dirty="0"/>
              <a:t>data di </a:t>
            </a:r>
            <a:r>
              <a:rPr lang="en-US" sz="1400" dirty="0" err="1"/>
              <a:t>restituzione</a:t>
            </a:r>
            <a:r>
              <a:rPr lang="en-US" sz="1400" dirty="0"/>
              <a:t> (</a:t>
            </a:r>
            <a:r>
              <a:rPr lang="en-US" sz="1400" dirty="0" err="1"/>
              <a:t>eventuale</a:t>
            </a:r>
            <a:r>
              <a:rPr lang="en-US" sz="1400" dirty="0"/>
              <a:t>)</a:t>
            </a:r>
          </a:p>
          <a:p>
            <a:r>
              <a:rPr lang="en-US" sz="1400" dirty="0"/>
              <a:t>La </a:t>
            </a:r>
            <a:r>
              <a:rPr lang="en-US" sz="1400" dirty="0" err="1"/>
              <a:t>biblioteca</a:t>
            </a:r>
            <a:r>
              <a:rPr lang="en-US" sz="1400" dirty="0"/>
              <a:t> </a:t>
            </a:r>
            <a:r>
              <a:rPr lang="en-US" sz="1400" dirty="0" err="1"/>
              <a:t>organizza</a:t>
            </a:r>
            <a:r>
              <a:rPr lang="en-US" sz="1400" dirty="0"/>
              <a:t> </a:t>
            </a:r>
            <a:r>
              <a:rPr lang="en-US" sz="1400" dirty="0" err="1"/>
              <a:t>anche</a:t>
            </a:r>
            <a:r>
              <a:rPr lang="en-US" sz="1400" dirty="0"/>
              <a:t> </a:t>
            </a:r>
            <a:r>
              <a:rPr lang="en-US" sz="1400" dirty="0" err="1"/>
              <a:t>eventi</a:t>
            </a:r>
            <a:r>
              <a:rPr lang="en-US" sz="1400" dirty="0"/>
              <a:t> </a:t>
            </a:r>
            <a:r>
              <a:rPr lang="en-US" sz="1400" dirty="0" err="1"/>
              <a:t>culturali</a:t>
            </a:r>
            <a:r>
              <a:rPr lang="en-US" sz="1400" dirty="0"/>
              <a:t> (</a:t>
            </a:r>
            <a:r>
              <a:rPr lang="en-US" sz="1400" dirty="0" err="1"/>
              <a:t>presentazioni</a:t>
            </a:r>
            <a:r>
              <a:rPr lang="en-US" sz="1400" dirty="0"/>
              <a:t> di libri, </a:t>
            </a:r>
            <a:r>
              <a:rPr lang="en-US" sz="1400" dirty="0" err="1"/>
              <a:t>incontri</a:t>
            </a:r>
            <a:r>
              <a:rPr lang="en-US" sz="1400" dirty="0"/>
              <a:t> con </a:t>
            </a:r>
            <a:r>
              <a:rPr lang="en-US" sz="1400" dirty="0" err="1"/>
              <a:t>autori</a:t>
            </a:r>
            <a:r>
              <a:rPr lang="en-US" sz="1400" dirty="0"/>
              <a:t>, </a:t>
            </a:r>
            <a:r>
              <a:rPr lang="en-US" sz="1400" dirty="0" err="1"/>
              <a:t>seminari</a:t>
            </a:r>
            <a:r>
              <a:rPr lang="en-US" sz="1400" dirty="0"/>
              <a:t>).</a:t>
            </a:r>
          </a:p>
          <a:p>
            <a:r>
              <a:rPr lang="en-US" sz="1400" dirty="0"/>
              <a:t>Per ogni </a:t>
            </a:r>
            <a:r>
              <a:rPr lang="en-US" sz="1400" dirty="0" err="1"/>
              <a:t>evento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memorizzano</a:t>
            </a:r>
            <a:r>
              <a:rPr lang="en-US" sz="1400" dirty="0"/>
              <a:t> </a:t>
            </a:r>
            <a:r>
              <a:rPr lang="en-US" sz="1400" dirty="0" err="1"/>
              <a:t>titolo</a:t>
            </a:r>
            <a:r>
              <a:rPr lang="en-US" sz="1400" dirty="0"/>
              <a:t>, data, </a:t>
            </a:r>
            <a:r>
              <a:rPr lang="en-US" sz="1400" dirty="0" err="1"/>
              <a:t>orario</a:t>
            </a:r>
            <a:r>
              <a:rPr lang="en-US" sz="1400" dirty="0"/>
              <a:t>, sala e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massimo</a:t>
            </a:r>
            <a:r>
              <a:rPr lang="en-US" sz="1400" dirty="0"/>
              <a:t> di </a:t>
            </a:r>
            <a:r>
              <a:rPr lang="en-US" sz="1400" dirty="0" err="1"/>
              <a:t>partecipanti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Gli</a:t>
            </a:r>
            <a:r>
              <a:rPr lang="en-US" sz="1400" dirty="0"/>
              <a:t> </a:t>
            </a:r>
            <a:r>
              <a:rPr lang="en-US" sz="1400" dirty="0" err="1"/>
              <a:t>utenti</a:t>
            </a:r>
            <a:r>
              <a:rPr lang="en-US" sz="1400" dirty="0"/>
              <a:t> </a:t>
            </a:r>
            <a:r>
              <a:rPr lang="en-US" sz="1400" dirty="0" err="1"/>
              <a:t>possono</a:t>
            </a:r>
            <a:r>
              <a:rPr lang="en-US" sz="1400" dirty="0"/>
              <a:t> </a:t>
            </a:r>
            <a:r>
              <a:rPr lang="en-US" sz="1400" dirty="0" err="1"/>
              <a:t>iscriversi</a:t>
            </a:r>
            <a:r>
              <a:rPr lang="en-US" sz="1400" dirty="0"/>
              <a:t> </a:t>
            </a:r>
            <a:r>
              <a:rPr lang="en-US" sz="1400" dirty="0" err="1"/>
              <a:t>agli</a:t>
            </a:r>
            <a:r>
              <a:rPr lang="en-US" sz="1400" dirty="0"/>
              <a:t> </a:t>
            </a:r>
            <a:r>
              <a:rPr lang="en-US" sz="1400" dirty="0" err="1"/>
              <a:t>eventi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83266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22D85DA-1FAA-A065-9448-75C1162EF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Refining the initial design by introducing </a:t>
            </a:r>
            <a:r>
              <a:rPr lang="en-US" altLang="en-IT" sz="3200" b="1">
                <a:ea typeface="ＭＳ Ｐゴシック" panose="020B0600070205080204" pitchFamily="34" charset="-128"/>
              </a:rPr>
              <a:t>relationships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816E856-1B87-DB1B-3F56-599E3957A4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676400"/>
            <a:ext cx="82946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 initial design is typically not complete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Some aspects in the requirements will be represented as </a:t>
            </a:r>
            <a:r>
              <a:rPr lang="en-US" altLang="en-IT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relationships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ER model has three main concepts:</a:t>
            </a:r>
          </a:p>
          <a:p>
            <a:pPr lvl="1" eaLnBrk="1" hangingPunct="1"/>
            <a:r>
              <a:rPr lang="en-US" altLang="en-IT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Entities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(and their entity types and entity sets)</a:t>
            </a:r>
          </a:p>
          <a:p>
            <a:pPr lvl="1" eaLnBrk="1" hangingPunct="1"/>
            <a:r>
              <a:rPr lang="en-US" altLang="en-IT" b="1" dirty="0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Attributes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(simple, composite, multivalued)</a:t>
            </a:r>
          </a:p>
          <a:p>
            <a:pPr lvl="1" eaLnBrk="1" hangingPunct="1"/>
            <a:r>
              <a:rPr lang="en-US" altLang="en-IT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(and their relationship types and relationship sets)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>
            <a:extLst>
              <a:ext uri="{FF2B5EF4-FFF2-40B4-BE49-F238E27FC236}">
                <a16:creationId xmlns:a16="http://schemas.microsoft.com/office/drawing/2014/main" id="{0BB787E7-02F0-2E19-3EC1-9D006C41E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Relationships and Relationship Types (1)</a:t>
            </a:r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F8FA1DE6-9F34-0023-A6B7-3DDD30894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en-IT" sz="1800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relates two or more distinct entities with a specific meaning.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John Smith </a:t>
            </a:r>
            <a:r>
              <a:rPr lang="en-US" altLang="en-IT" sz="1800" b="1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works</a:t>
            </a:r>
            <a:r>
              <a:rPr lang="en-US" altLang="en-IT" sz="18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</a:t>
            </a: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ProductX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or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Franklin Wong </a:t>
            </a:r>
            <a:r>
              <a:rPr lang="en-US" altLang="en-IT" sz="1800" b="1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Research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Relationships of the same type are grouped or typed into a </a:t>
            </a:r>
            <a:r>
              <a:rPr lang="en-US" altLang="en-IT" sz="1800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type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the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WORKS_ON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type in which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EMPLOYEEs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and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participate, or the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relationship type in which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DEPARTMENTs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degree of a relationship type is the number of participating entity types.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Both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WORKS_ON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are </a:t>
            </a:r>
            <a:r>
              <a:rPr lang="en-US" altLang="en-IT" sz="1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binary</a:t>
            </a: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relationships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5">
            <a:extLst>
              <a:ext uri="{FF2B5EF4-FFF2-40B4-BE49-F238E27FC236}">
                <a16:creationId xmlns:a16="http://schemas.microsoft.com/office/drawing/2014/main" id="{C353D350-8800-0886-E9EB-3A2C2642B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90513"/>
            <a:ext cx="8763000" cy="776287"/>
          </a:xfrm>
          <a:noFill/>
        </p:spPr>
        <p:txBody>
          <a:bodyPr/>
          <a:lstStyle/>
          <a:p>
            <a:pPr eaLnBrk="1" hangingPunct="1"/>
            <a:r>
              <a:rPr lang="en-US" altLang="en-IT" sz="2000" dirty="0">
                <a:ea typeface="ＭＳ Ｐゴシック" panose="020B0600070205080204" pitchFamily="34" charset="-128"/>
              </a:rPr>
              <a:t>Relationship instances of the WORKS_FOR N:1 relationship between EMPLOYEE and DEPARTMENT</a:t>
            </a:r>
          </a:p>
        </p:txBody>
      </p:sp>
      <p:pic>
        <p:nvPicPr>
          <p:cNvPr id="51203" name="Picture 31" descr="fig03_09">
            <a:extLst>
              <a:ext uri="{FF2B5EF4-FFF2-40B4-BE49-F238E27FC236}">
                <a16:creationId xmlns:a16="http://schemas.microsoft.com/office/drawing/2014/main" id="{1B8E0A8A-FB36-FD16-B2D8-6311995A1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8138"/>
            <a:ext cx="7924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A4B5B4D-9020-FF00-210B-E45A7D76362B}"/>
              </a:ext>
            </a:extLst>
          </p:cNvPr>
          <p:cNvSpPr/>
          <p:nvPr/>
        </p:nvSpPr>
        <p:spPr bwMode="auto">
          <a:xfrm>
            <a:off x="838200" y="152400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DD7FB-452C-5C3D-00D0-381E028BA524}"/>
              </a:ext>
            </a:extLst>
          </p:cNvPr>
          <p:cNvSpPr/>
          <p:nvPr/>
        </p:nvSpPr>
        <p:spPr bwMode="auto">
          <a:xfrm>
            <a:off x="5334000" y="152400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A67098-517E-09FF-9F17-557822E956DE}"/>
              </a:ext>
            </a:extLst>
          </p:cNvPr>
          <p:cNvCxnSpPr/>
          <p:nvPr/>
        </p:nvCxnSpPr>
        <p:spPr bwMode="auto">
          <a:xfrm>
            <a:off x="3276600" y="1828800"/>
            <a:ext cx="10668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0">
            <a:extLst>
              <a:ext uri="{FF2B5EF4-FFF2-40B4-BE49-F238E27FC236}">
                <a16:creationId xmlns:a16="http://schemas.microsoft.com/office/drawing/2014/main" id="{200ED27E-D6AE-F171-971E-863036DA1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85725"/>
            <a:ext cx="8496300" cy="1143000"/>
          </a:xfrm>
          <a:noFill/>
        </p:spPr>
        <p:txBody>
          <a:bodyPr/>
          <a:lstStyle/>
          <a:p>
            <a:pPr eaLnBrk="1" hangingPunct="1"/>
            <a:r>
              <a:rPr lang="en-US" altLang="en-IT" sz="2000" dirty="0">
                <a:ea typeface="ＭＳ Ｐゴシック" panose="020B0600070205080204" pitchFamily="34" charset="-128"/>
              </a:rPr>
              <a:t>Relationship instances of the M:N  WORKS_ON relationship between EMPLOYEE and PROJECT</a:t>
            </a:r>
          </a:p>
        </p:txBody>
      </p:sp>
      <p:sp>
        <p:nvSpPr>
          <p:cNvPr id="53251" name="Text Box 21">
            <a:extLst>
              <a:ext uri="{FF2B5EF4-FFF2-40B4-BE49-F238E27FC236}">
                <a16:creationId xmlns:a16="http://schemas.microsoft.com/office/drawing/2014/main" id="{A62BF072-4890-530B-E643-7217E86A9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2450"/>
            <a:ext cx="809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IT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3252" name="Picture 38" descr="fig03_13">
            <a:extLst>
              <a:ext uri="{FF2B5EF4-FFF2-40B4-BE49-F238E27FC236}">
                <a16:creationId xmlns:a16="http://schemas.microsoft.com/office/drawing/2014/main" id="{0D6FD8C2-3F24-F8D9-0217-CFA943DCA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1644650"/>
            <a:ext cx="6948487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4331D4-B138-B4CE-060A-4C1DB21CAD30}"/>
              </a:ext>
            </a:extLst>
          </p:cNvPr>
          <p:cNvSpPr/>
          <p:nvPr/>
        </p:nvSpPr>
        <p:spPr bwMode="auto">
          <a:xfrm>
            <a:off x="1281113" y="154305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12EF8-07CC-0579-5F0B-637754B651F1}"/>
              </a:ext>
            </a:extLst>
          </p:cNvPr>
          <p:cNvSpPr/>
          <p:nvPr/>
        </p:nvSpPr>
        <p:spPr bwMode="auto">
          <a:xfrm>
            <a:off x="5562600" y="1553301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EB559-659D-C74F-B35B-D09A88E0F920}"/>
              </a:ext>
            </a:extLst>
          </p:cNvPr>
          <p:cNvCxnSpPr/>
          <p:nvPr/>
        </p:nvCxnSpPr>
        <p:spPr bwMode="auto">
          <a:xfrm>
            <a:off x="3478213" y="1924050"/>
            <a:ext cx="10668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50">
            <a:extLst>
              <a:ext uri="{FF2B5EF4-FFF2-40B4-BE49-F238E27FC236}">
                <a16:creationId xmlns:a16="http://schemas.microsoft.com/office/drawing/2014/main" id="{99747C91-344B-FBA1-06BD-073B2D013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 type vs. relationship set (1)</a:t>
            </a:r>
          </a:p>
        </p:txBody>
      </p:sp>
      <p:sp>
        <p:nvSpPr>
          <p:cNvPr id="55299" name="Rectangle 2051">
            <a:extLst>
              <a:ext uri="{FF2B5EF4-FFF2-40B4-BE49-F238E27FC236}">
                <a16:creationId xmlns:a16="http://schemas.microsoft.com/office/drawing/2014/main" id="{1B84A8E2-C41C-0B3B-8497-29389B0BF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Type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the schema description of a relationship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Identifies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 name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participating entity types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Also identifies certain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 constraints</a:t>
            </a:r>
          </a:p>
          <a:p>
            <a:pPr eaLnBrk="1" hangingPunct="1"/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Set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current set of relationship instances represented in the database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current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state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a relationship type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3BB4A5A-3BBD-17B8-5D2E-EADDCEEBD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 type vs. relationship set (2)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0999B34-E6AD-6309-23EA-D1757569AD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</a:t>
            </a:r>
            <a:r>
              <a:rPr lang="en-US" altLang="en-IT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instance in the set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relates individual participating entities – one from each participating entity type</a:t>
            </a:r>
          </a:p>
          <a:p>
            <a:pPr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ER diagrams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we </a:t>
            </a:r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represent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</a:t>
            </a:r>
            <a:r>
              <a:rPr lang="en-US" altLang="en-IT" i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type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as follows:</a:t>
            </a:r>
          </a:p>
          <a:p>
            <a:pPr lvl="1" eaLnBrk="1" hangingPunct="1"/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Diamond-shaped box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used to display a relationship type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Connected to the participating entity types via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straight lines</a:t>
            </a:r>
          </a:p>
          <a:p>
            <a:pPr lvl="1" eaLnBrk="1" hangingPunct="1"/>
            <a:r>
              <a:rPr lang="en-US" altLang="en-IT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Note that the relationship type is not shown with an arrow. </a:t>
            </a:r>
          </a:p>
          <a:p>
            <a:pPr lvl="1" eaLnBrk="1" hangingPunct="1"/>
            <a:r>
              <a:rPr lang="en-US" altLang="en-IT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name should be typically be </a:t>
            </a:r>
            <a:r>
              <a:rPr lang="en-US" altLang="en-IT" b="1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readable</a:t>
            </a:r>
            <a:r>
              <a:rPr lang="en-US" altLang="en-IT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from </a:t>
            </a:r>
            <a:r>
              <a:rPr lang="en-US" altLang="en-IT" b="1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left to right </a:t>
            </a:r>
            <a:r>
              <a:rPr lang="en-US" altLang="en-IT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and </a:t>
            </a:r>
            <a:r>
              <a:rPr lang="en-US" altLang="en-IT" b="1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top to bottom.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50">
            <a:extLst>
              <a:ext uri="{FF2B5EF4-FFF2-40B4-BE49-F238E27FC236}">
                <a16:creationId xmlns:a16="http://schemas.microsoft.com/office/drawing/2014/main" id="{8166B017-7BA8-0D22-C0FE-FDC0A145C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Refining the COMPANY database schema by introducing relationships</a:t>
            </a:r>
          </a:p>
        </p:txBody>
      </p:sp>
      <p:sp>
        <p:nvSpPr>
          <p:cNvPr id="57347" name="Rectangle 2051">
            <a:extLst>
              <a:ext uri="{FF2B5EF4-FFF2-40B4-BE49-F238E27FC236}">
                <a16:creationId xmlns:a16="http://schemas.microsoft.com/office/drawing/2014/main" id="{4BB38618-1CE4-4C38-D6BE-022C074C6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By examining the requirements, six relationship types are identified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All are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binary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relationships( degree 2)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Listed below with their participating entity types: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WORKS_FOR (between EMPLOYEE, DEPARTMENT)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 (also between EMPLOYEE, DEPARTMENT)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CONTROLS (between DEPARTMENT, PROJECT)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WORKS_ON (between EMPLOYEE, PROJECT)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SUPERVISION (between EMPLOYEE (as subordinate), EMPLOYEE (as supervisor))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DEPENDENTS_OF (between EMPLOYEE, DEPENDENT)</a:t>
            </a:r>
          </a:p>
          <a:p>
            <a:pPr lvl="1" eaLnBrk="1" hangingPunct="1"/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CB54802-9AC7-3D7D-6DCE-B806DBA32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215900"/>
            <a:ext cx="7940675" cy="768350"/>
          </a:xfrm>
          <a:noFill/>
        </p:spPr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ER DIAGRAM – Relationship Types are:</a:t>
            </a:r>
            <a:br>
              <a:rPr lang="en-US" altLang="en-IT" sz="3200">
                <a:ea typeface="ＭＳ Ｐゴシック" panose="020B0600070205080204" pitchFamily="34" charset="-128"/>
              </a:rPr>
            </a:br>
            <a:r>
              <a:rPr lang="en-US" altLang="en-IT" sz="1400" b="1">
                <a:ea typeface="ＭＳ Ｐゴシック" panose="020B0600070205080204" pitchFamily="34" charset="-128"/>
              </a:rPr>
              <a:t>WORKS_FOR, MANAGES, WORKS_ON, CONTROLS, SUPERVISION, DEPENDENTS_OF</a:t>
            </a:r>
          </a:p>
        </p:txBody>
      </p:sp>
      <p:pic>
        <p:nvPicPr>
          <p:cNvPr id="58371" name="Picture 4" descr="fig03_02">
            <a:extLst>
              <a:ext uri="{FF2B5EF4-FFF2-40B4-BE49-F238E27FC236}">
                <a16:creationId xmlns:a16="http://schemas.microsoft.com/office/drawing/2014/main" id="{A004C7B7-17F2-9631-3D3B-39638B81E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1981200" y="1565275"/>
            <a:ext cx="51816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FB4C-4930-FAB4-066B-B44B3E9D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10E9489-F950-C591-AAA2-D385444C8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66389B34-D002-AB91-57BE-01DD49457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545F1C09-CB89-B7A5-00FD-D78354761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14128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>
            <a:extLst>
              <a:ext uri="{FF2B5EF4-FFF2-40B4-BE49-F238E27FC236}">
                <a16:creationId xmlns:a16="http://schemas.microsoft.com/office/drawing/2014/main" id="{12314E94-CB6A-1166-9FCF-6A7989099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Discussion on Relationship Types</a:t>
            </a:r>
          </a:p>
        </p:txBody>
      </p:sp>
      <p:sp>
        <p:nvSpPr>
          <p:cNvPr id="60419" name="Rectangle 5">
            <a:extLst>
              <a:ext uri="{FF2B5EF4-FFF2-40B4-BE49-F238E27FC236}">
                <a16:creationId xmlns:a16="http://schemas.microsoft.com/office/drawing/2014/main" id="{0DCC7FEB-43C5-B85C-7D63-86D98A6258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as </a:t>
            </a:r>
            <a:r>
              <a:rPr lang="en-US" altLang="en-IT" sz="1800" dirty="0">
                <a:solidFill>
                  <a:schemeClr val="tx2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ATTRIBUTE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 In the refined design, some attributes from the initial entity types are refined into relationships: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Manager of DEPARTMENT -&gt; MANAGES</a:t>
            </a:r>
          </a:p>
          <a:p>
            <a:pPr lvl="1" eaLnBrk="1" hangingPunct="1"/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Works_on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EMPLOYEE -&gt; WORKS_ON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Department of EMPLOYEE -&gt; WORKS_FOR</a:t>
            </a:r>
          </a:p>
          <a:p>
            <a:pPr lvl="1" eaLnBrk="1" hangingPunct="1"/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etc</a:t>
            </a:r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general, </a:t>
            </a: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more than one relationship type can exist between the same participating entity types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 and WORKS_FOR are distinct relationship types between EMPLOYEE and DEPARTMENT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Different meanings and different relationship instances.</a:t>
            </a:r>
            <a:endParaRPr lang="en-US" altLang="en-IT" sz="22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" name="Picture 4" descr="fig03_08">
            <a:extLst>
              <a:ext uri="{FF2B5EF4-FFF2-40B4-BE49-F238E27FC236}">
                <a16:creationId xmlns:a16="http://schemas.microsoft.com/office/drawing/2014/main" id="{56CEF17B-7063-1561-8AE1-3DF421FEED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90" r="29687" b="20000"/>
          <a:stretch>
            <a:fillRect/>
          </a:stretch>
        </p:blipFill>
        <p:spPr bwMode="auto">
          <a:xfrm>
            <a:off x="5943600" y="2590800"/>
            <a:ext cx="263268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2C3897-FC38-2213-738F-F35790C3F262}"/>
                  </a:ext>
                </a:extLst>
              </p14:cNvPr>
              <p14:cNvContentPartPr/>
              <p14:nvPr/>
            </p14:nvContentPartPr>
            <p14:xfrm>
              <a:off x="6333634" y="3389486"/>
              <a:ext cx="667440" cy="46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2C3897-FC38-2213-738F-F35790C3F2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5994" y="3281846"/>
                <a:ext cx="703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4FB0F6-DB6E-F1CC-0579-C3960CBBF58D}"/>
                  </a:ext>
                </a:extLst>
              </p14:cNvPr>
              <p14:cNvContentPartPr/>
              <p14:nvPr/>
            </p14:nvContentPartPr>
            <p14:xfrm>
              <a:off x="7855354" y="3136406"/>
              <a:ext cx="534240" cy="4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4FB0F6-DB6E-F1CC-0579-C3960CBBF5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7714" y="3028406"/>
                <a:ext cx="569880" cy="2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8">
            <a:extLst>
              <a:ext uri="{FF2B5EF4-FFF2-40B4-BE49-F238E27FC236}">
                <a16:creationId xmlns:a16="http://schemas.microsoft.com/office/drawing/2014/main" id="{3852D519-0B81-E45A-19C1-E746B152F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Constraints on Relationships</a:t>
            </a:r>
          </a:p>
        </p:txBody>
      </p:sp>
      <p:sp>
        <p:nvSpPr>
          <p:cNvPr id="62467" name="Rectangle 1029">
            <a:extLst>
              <a:ext uri="{FF2B5EF4-FFF2-40B4-BE49-F238E27FC236}">
                <a16:creationId xmlns:a16="http://schemas.microsoft.com/office/drawing/2014/main" id="{2A66D794-0812-8C51-9BCC-CD4439CC7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" indent="0">
              <a:lnSpc>
                <a:spcPct val="100000"/>
              </a:lnSpc>
              <a:buNone/>
            </a:pPr>
            <a:r>
              <a:rPr lang="en-US" altLang="en-IT" sz="16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Cardinality Ratio </a:t>
            </a: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(specifies </a:t>
            </a:r>
            <a:r>
              <a:rPr lang="en-US" altLang="en-IT" sz="16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maximum</a:t>
            </a: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participation) 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One-to-one (1:1)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One-to-many (1:N) or Many-to-one (N:1)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Many-to-many (M:N)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Shown by placing appropriate numbers on </a:t>
            </a:r>
            <a:br>
              <a:rPr lang="en-US" altLang="en-IT" sz="1600" dirty="0">
                <a:solidFill>
                  <a:srgbClr val="FF0000"/>
                </a:solidFill>
                <a:ea typeface="ＭＳ Ｐゴシック" panose="020B0600070205080204" pitchFamily="34" charset="-128"/>
              </a:rPr>
            </a:br>
            <a:r>
              <a:rPr lang="en-US" altLang="en-IT" sz="1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relationship edges</a:t>
            </a:r>
          </a:p>
          <a:p>
            <a:pPr lvl="1">
              <a:lnSpc>
                <a:spcPct val="100000"/>
              </a:lnSpc>
            </a:pPr>
            <a:endParaRPr lang="en-US" altLang="en-IT" sz="16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IT" sz="16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Existence Dependency Constraint: </a:t>
            </a:r>
            <a:r>
              <a:rPr lang="en-US" altLang="en-IT" sz="1600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participation constraint specifies whether the existence of an entity depends on its being related to another entity via the relationship </a:t>
            </a: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type</a:t>
            </a:r>
            <a:r>
              <a:rPr lang="en-US" altLang="en-IT" sz="16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(specifies </a:t>
            </a:r>
            <a:r>
              <a:rPr lang="en-US" altLang="en-IT" sz="16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minimum</a:t>
            </a: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participation) (also called participation constraint)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zero (optional participation, not existence-dependent)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 or more (mandatory participation, existence-dependent) </a:t>
            </a:r>
          </a:p>
          <a:p>
            <a:pPr lvl="1">
              <a:lnSpc>
                <a:spcPct val="100000"/>
              </a:lnSpc>
            </a:pPr>
            <a:r>
              <a:rPr lang="en-US" altLang="en-IT" sz="1600" dirty="0"/>
              <a:t>Tota (set)l shown by double line, partial by single line.</a:t>
            </a:r>
          </a:p>
          <a:p>
            <a:pPr lvl="1"/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AA959800-D1CE-94D9-7846-FED1F41F5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0" t="71005" r="36305" b="19683"/>
          <a:stretch>
            <a:fillRect/>
          </a:stretch>
        </p:blipFill>
        <p:spPr bwMode="auto">
          <a:xfrm>
            <a:off x="6286431" y="5715000"/>
            <a:ext cx="225571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fig03_14">
            <a:extLst>
              <a:ext uri="{FF2B5EF4-FFF2-40B4-BE49-F238E27FC236}">
                <a16:creationId xmlns:a16="http://schemas.microsoft.com/office/drawing/2014/main" id="{6A64D155-4D32-0CE5-217E-D8956FF19A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8" t="71004" r="37418" b="8917"/>
          <a:stretch>
            <a:fillRect/>
          </a:stretch>
        </p:blipFill>
        <p:spPr bwMode="auto">
          <a:xfrm>
            <a:off x="6286431" y="1676400"/>
            <a:ext cx="1981200" cy="11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fig03_14">
            <a:extLst>
              <a:ext uri="{FF2B5EF4-FFF2-40B4-BE49-F238E27FC236}">
                <a16:creationId xmlns:a16="http://schemas.microsoft.com/office/drawing/2014/main" id="{FC3EBC44-2B89-A08B-C5F7-0F8FCB6BF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8" t="81044" r="37418" b="8917"/>
          <a:stretch>
            <a:fillRect/>
          </a:stretch>
        </p:blipFill>
        <p:spPr bwMode="auto">
          <a:xfrm>
            <a:off x="6286431" y="2893969"/>
            <a:ext cx="1981200" cy="56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2B70A-026D-0B0E-6B4D-5EDC256D249D}"/>
              </a:ext>
            </a:extLst>
          </p:cNvPr>
          <p:cNvSpPr txBox="1"/>
          <p:nvPr/>
        </p:nvSpPr>
        <p:spPr>
          <a:xfrm>
            <a:off x="6934200" y="2971800"/>
            <a:ext cx="76200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/>
              <a:t>M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9">
            <a:extLst>
              <a:ext uri="{FF2B5EF4-FFF2-40B4-BE49-F238E27FC236}">
                <a16:creationId xmlns:a16="http://schemas.microsoft.com/office/drawing/2014/main" id="{A4874EE8-1CBF-4177-2D05-764291EBF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25438"/>
            <a:ext cx="8418513" cy="533400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Many-to-one (N:1) Relationship</a:t>
            </a:r>
          </a:p>
        </p:txBody>
      </p:sp>
      <p:pic>
        <p:nvPicPr>
          <p:cNvPr id="64515" name="Picture 1054" descr="fig03_09">
            <a:extLst>
              <a:ext uri="{FF2B5EF4-FFF2-40B4-BE49-F238E27FC236}">
                <a16:creationId xmlns:a16="http://schemas.microsoft.com/office/drawing/2014/main" id="{94FA2BF5-466C-6BAF-8671-F8CB6B05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92275"/>
            <a:ext cx="7772400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44">
            <a:extLst>
              <a:ext uri="{FF2B5EF4-FFF2-40B4-BE49-F238E27FC236}">
                <a16:creationId xmlns:a16="http://schemas.microsoft.com/office/drawing/2014/main" id="{506430FE-7F69-0187-777F-994E2A09B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85725"/>
            <a:ext cx="8496300" cy="1143000"/>
          </a:xfrm>
          <a:noFill/>
        </p:spPr>
        <p:txBody>
          <a:bodyPr/>
          <a:lstStyle/>
          <a:p>
            <a:pPr eaLnBrk="1" hangingPunct="1"/>
            <a:r>
              <a:rPr lang="en-US" altLang="en-IT" sz="4000">
                <a:ea typeface="ＭＳ Ｐゴシック" panose="020B0600070205080204" pitchFamily="34" charset="-128"/>
              </a:rPr>
              <a:t>Many-to-many (M:N) Relationship</a:t>
            </a:r>
          </a:p>
        </p:txBody>
      </p:sp>
      <p:pic>
        <p:nvPicPr>
          <p:cNvPr id="66563" name="Picture 1062" descr="fig03_13">
            <a:extLst>
              <a:ext uri="{FF2B5EF4-FFF2-40B4-BE49-F238E27FC236}">
                <a16:creationId xmlns:a16="http://schemas.microsoft.com/office/drawing/2014/main" id="{3B52BBA3-DEF1-55CF-E0B1-FFB993BEC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76400"/>
            <a:ext cx="6781800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8">
            <a:extLst>
              <a:ext uri="{FF2B5EF4-FFF2-40B4-BE49-F238E27FC236}">
                <a16:creationId xmlns:a16="http://schemas.microsoft.com/office/drawing/2014/main" id="{7DC0103E-D1EA-FD0A-07D3-0F6A9EC06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Recursive Relationship Type</a:t>
            </a:r>
          </a:p>
        </p:txBody>
      </p:sp>
      <p:sp>
        <p:nvSpPr>
          <p:cNvPr id="68611" name="Rectangle 1029">
            <a:extLst>
              <a:ext uri="{FF2B5EF4-FFF2-40B4-BE49-F238E27FC236}">
                <a16:creationId xmlns:a16="http://schemas.microsoft.com/office/drawing/2014/main" id="{08250E0F-E4E1-C6C8-1ECB-156FF4ECD9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 relationship type between the same participating entity type in </a:t>
            </a:r>
            <a:r>
              <a:rPr lang="en-US" altLang="en-IT" b="1" dirty="0">
                <a:ea typeface="ＭＳ Ｐゴシック" panose="020B0600070205080204" pitchFamily="34" charset="-128"/>
              </a:rPr>
              <a:t>distinct roles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Also called a</a:t>
            </a:r>
            <a:r>
              <a:rPr lang="en-US" altLang="en-IT" b="1" dirty="0">
                <a:ea typeface="ＭＳ Ｐゴシック" panose="020B0600070205080204" pitchFamily="34" charset="-128"/>
              </a:rPr>
              <a:t> self-referencing </a:t>
            </a:r>
            <a:r>
              <a:rPr lang="en-US" altLang="en-IT" dirty="0">
                <a:ea typeface="ＭＳ Ｐゴシック" panose="020B0600070205080204" pitchFamily="34" charset="-128"/>
              </a:rPr>
              <a:t>relationship type.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Example: the SUPERVISION relationship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EMPLOYEE participates twice in two distinct roles: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supervisor (or boss) role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supervisee (or subordinate) role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Each relationship instance relates two distinct EMPLOYEE entities: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One employee in </a:t>
            </a:r>
            <a:r>
              <a:rPr lang="en-US" altLang="en-IT" i="1" dirty="0">
                <a:ea typeface="ＭＳ Ｐゴシック" panose="020B0600070205080204" pitchFamily="34" charset="-128"/>
              </a:rPr>
              <a:t>supervisor</a:t>
            </a:r>
            <a:r>
              <a:rPr lang="en-US" altLang="en-IT" dirty="0">
                <a:ea typeface="ＭＳ Ｐゴシック" panose="020B0600070205080204" pitchFamily="34" charset="-128"/>
              </a:rPr>
              <a:t> role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One employee in </a:t>
            </a:r>
            <a:r>
              <a:rPr lang="en-US" altLang="en-IT" i="1" dirty="0">
                <a:ea typeface="ＭＳ Ｐゴシック" panose="020B0600070205080204" pitchFamily="34" charset="-128"/>
              </a:rPr>
              <a:t>supervisee</a:t>
            </a:r>
            <a:r>
              <a:rPr lang="en-US" altLang="en-IT" dirty="0">
                <a:ea typeface="ＭＳ Ｐゴシック" panose="020B0600070205080204" pitchFamily="34" charset="-128"/>
              </a:rPr>
              <a:t> role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7">
            <a:extLst>
              <a:ext uri="{FF2B5EF4-FFF2-40B4-BE49-F238E27FC236}">
                <a16:creationId xmlns:a16="http://schemas.microsoft.com/office/drawing/2014/main" id="{FEAFF3CC-EECD-556A-4D61-2EBA29E70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4663" y="-76200"/>
            <a:ext cx="8364537" cy="1052513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 Recursive Relationship Supervision`</a:t>
            </a:r>
          </a:p>
        </p:txBody>
      </p:sp>
      <p:pic>
        <p:nvPicPr>
          <p:cNvPr id="72707" name="Picture 1074" descr="fig03_11">
            <a:extLst>
              <a:ext uri="{FF2B5EF4-FFF2-40B4-BE49-F238E27FC236}">
                <a16:creationId xmlns:a16="http://schemas.microsoft.com/office/drawing/2014/main" id="{1EE13F3F-18C4-39DF-AE11-499DA5DA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752600"/>
            <a:ext cx="7754937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7429-6207-F89B-5147-663B5223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7BFA5E1-89BC-D3F3-B687-10A318B15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215900"/>
            <a:ext cx="7940675" cy="768350"/>
          </a:xfrm>
          <a:noFill/>
        </p:spPr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ER DIAGRAM – Relationship Types are:</a:t>
            </a:r>
            <a:br>
              <a:rPr lang="en-US" altLang="en-IT" sz="3200">
                <a:ea typeface="ＭＳ Ｐゴシック" panose="020B0600070205080204" pitchFamily="34" charset="-128"/>
              </a:rPr>
            </a:br>
            <a:r>
              <a:rPr lang="en-US" altLang="en-IT" sz="1400" b="1">
                <a:ea typeface="ＭＳ Ｐゴシック" panose="020B0600070205080204" pitchFamily="34" charset="-128"/>
              </a:rPr>
              <a:t>WORKS_FOR, MANAGES, WORKS_ON, CONTROLS, SUPERVISION, DEPENDENTS_OF</a:t>
            </a:r>
          </a:p>
        </p:txBody>
      </p:sp>
      <p:pic>
        <p:nvPicPr>
          <p:cNvPr id="58371" name="Picture 4" descr="fig03_02">
            <a:extLst>
              <a:ext uri="{FF2B5EF4-FFF2-40B4-BE49-F238E27FC236}">
                <a16:creationId xmlns:a16="http://schemas.microsoft.com/office/drawing/2014/main" id="{276A8291-7276-C77A-DD64-99C8F73A3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1981200" y="1565275"/>
            <a:ext cx="51816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821729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6799-D609-670E-F58E-5E845A49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284BE4C-EC15-31BC-2853-0D278B425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C9E7BAD2-7BFC-C7C4-9481-9341A0021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E961A1C5-2268-C0C2-01E1-6EB8EA47C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65138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050">
            <a:extLst>
              <a:ext uri="{FF2B5EF4-FFF2-40B4-BE49-F238E27FC236}">
                <a16:creationId xmlns:a16="http://schemas.microsoft.com/office/drawing/2014/main" id="{EEA604BC-3CB3-CE92-B60F-390BC36F5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Weak Entity Types</a:t>
            </a:r>
          </a:p>
        </p:txBody>
      </p:sp>
      <p:sp>
        <p:nvSpPr>
          <p:cNvPr id="76803" name="Rectangle 2051">
            <a:extLst>
              <a:ext uri="{FF2B5EF4-FFF2-40B4-BE49-F238E27FC236}">
                <a16:creationId xmlns:a16="http://schemas.microsoft.com/office/drawing/2014/main" id="{BFFEE9CE-4ED5-8740-C652-3DA51C1F7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entity that </a:t>
            </a: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does not have a key attribute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that is identification-dependent on another entity type.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weak entity </a:t>
            </a:r>
            <a:r>
              <a:rPr lang="en-US" altLang="en-IT" sz="1800" b="1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must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 in an 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identifying relationship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type with an owner or identifying entity type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Entities are identified by the combination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partial key of the weak entity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particular entity they are related to in the identifying relationship  type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DEPENDENT entity is identified by the dependent</a:t>
            </a:r>
            <a:r>
              <a:rPr lang="en-US" altLang="en-US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first name,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and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specific EMPLOYEE with whom the dependent is related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Name of DEPENDENT is the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partial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DEPENDENT is a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weak entity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EMPLOYEE is its identifying entity type via the identifying relationship type DEPENDENT_OF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6">
            <a:extLst>
              <a:ext uri="{FF2B5EF4-FFF2-40B4-BE49-F238E27FC236}">
                <a16:creationId xmlns:a16="http://schemas.microsoft.com/office/drawing/2014/main" id="{5F69CD1F-BE7B-C33C-09C2-8B0FE40B6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Attributes of Relationship types</a:t>
            </a:r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93BBF446-149B-0F66-86BA-102F456E4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A relationship type can have attributes: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For example, </a:t>
            </a:r>
            <a:r>
              <a:rPr lang="en-US" altLang="en-IT" dirty="0" err="1">
                <a:ea typeface="ＭＳ Ｐゴシック" panose="020B0600070205080204" pitchFamily="34" charset="-128"/>
              </a:rPr>
              <a:t>HoursPerWeek</a:t>
            </a:r>
            <a:r>
              <a:rPr lang="en-US" altLang="en-IT" dirty="0">
                <a:ea typeface="ＭＳ Ｐゴシック" panose="020B0600070205080204" pitchFamily="34" charset="-128"/>
              </a:rPr>
              <a:t> of WORKS_ON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Its value for each relationship instance describes the number of hours per week that an EMPLOYEE works on a PROJECT.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A value of </a:t>
            </a:r>
            <a:r>
              <a:rPr lang="en-US" altLang="en-IT" b="1" dirty="0" err="1">
                <a:solidFill>
                  <a:schemeClr val="accent5">
                    <a:lumMod val="60000"/>
                    <a:lumOff val="40000"/>
                  </a:schemeClr>
                </a:solidFill>
                <a:ea typeface="ＭＳ Ｐゴシック" panose="020B0600070205080204" pitchFamily="34" charset="-128"/>
              </a:rPr>
              <a:t>HoursPerWeek</a:t>
            </a:r>
            <a:r>
              <a:rPr lang="en-US" altLang="en-IT" dirty="0">
                <a:ea typeface="ＭＳ Ｐゴシック" panose="020B0600070205080204" pitchFamily="34" charset="-128"/>
              </a:rPr>
              <a:t> depends on a particular (employee, project) combination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Most relationship attributes are used with M:N relationships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In 1:N relationships, they can be transferred to the entity type on the N-side of the relationship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4738D3D-A978-21D5-4472-1FF2FA98F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Attribute of a Relationship Type: </a:t>
            </a:r>
            <a:br>
              <a:rPr lang="en-US" altLang="en-IT">
                <a:ea typeface="ＭＳ Ｐゴシック" panose="020B0600070205080204" pitchFamily="34" charset="-128"/>
              </a:rPr>
            </a:br>
            <a:r>
              <a:rPr lang="en-US" altLang="en-IT">
                <a:ea typeface="ＭＳ Ｐゴシック" panose="020B0600070205080204" pitchFamily="34" charset="-128"/>
              </a:rPr>
              <a:t>Hours of WORKS_ON</a:t>
            </a:r>
          </a:p>
        </p:txBody>
      </p:sp>
      <p:pic>
        <p:nvPicPr>
          <p:cNvPr id="80899" name="Picture 4" descr="fig03_02">
            <a:extLst>
              <a:ext uri="{FF2B5EF4-FFF2-40B4-BE49-F238E27FC236}">
                <a16:creationId xmlns:a16="http://schemas.microsoft.com/office/drawing/2014/main" id="{C439E87C-5DDC-6B77-C851-1EB9246E8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79563"/>
            <a:ext cx="50800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4">
            <a:extLst>
              <a:ext uri="{FF2B5EF4-FFF2-40B4-BE49-F238E27FC236}">
                <a16:creationId xmlns:a16="http://schemas.microsoft.com/office/drawing/2014/main" id="{0F8049D2-563B-BEB6-9786-B1700FE91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Alternative (min, max) notation for relationship structural constraints:</a:t>
            </a:r>
          </a:p>
        </p:txBody>
      </p:sp>
      <p:sp>
        <p:nvSpPr>
          <p:cNvPr id="84995" name="Rectangle 5">
            <a:extLst>
              <a:ext uri="{FF2B5EF4-FFF2-40B4-BE49-F238E27FC236}">
                <a16:creationId xmlns:a16="http://schemas.microsoft.com/office/drawing/2014/main" id="{A7E49E41-10CC-F561-E545-77E22E276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Specified on each participation of an entity type E in a relationship type 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Specifies that each entity e in E participates in at least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min</a:t>
            </a:r>
            <a:r>
              <a:rPr lang="en-US" altLang="en-IT" sz="1800" dirty="0">
                <a:ea typeface="ＭＳ Ｐゴシック" panose="020B0600070205080204" pitchFamily="34" charset="-128"/>
              </a:rPr>
              <a:t> and at most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max</a:t>
            </a:r>
            <a:r>
              <a:rPr lang="en-US" altLang="en-IT" sz="1800" dirty="0">
                <a:ea typeface="ＭＳ Ｐゴシック" panose="020B0600070205080204" pitchFamily="34" charset="-128"/>
              </a:rPr>
              <a:t> relationship instances in 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Default(no constraint): min</a:t>
            </a: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=0, max=n (signifying no limit)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Must have </a:t>
            </a:r>
            <a:r>
              <a:rPr lang="en-US" altLang="en-IT" sz="1800" dirty="0" err="1">
                <a:ea typeface="ＭＳ Ｐゴシック" panose="020B0600070205080204" pitchFamily="34" charset="-128"/>
                <a:sym typeface="Symbol" pitchFamily="2" charset="2"/>
              </a:rPr>
              <a:t>minmax</a:t>
            </a: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, min0, max 1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Derived from the knowledge of mini-world constraints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Examples: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A department has exactly one manager and an employee can manage at most one department.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(0,1) for participation of EMPLOYEE in MANAGES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(1,1) for participation of DEPARTMENT in MANAGES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An employee can work for exactly one department but a department can have any number of employees.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(1,1) for participation of EMPLOYEE in WORKS_FOR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(0,n) for participation of DEPARTMENT in WORKS_FOR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4">
            <a:extLst>
              <a:ext uri="{FF2B5EF4-FFF2-40B4-BE49-F238E27FC236}">
                <a16:creationId xmlns:a16="http://schemas.microsoft.com/office/drawing/2014/main" id="{792FDE78-1001-15A8-5B88-C228438C8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The (min,max) notation for relationship constraints</a:t>
            </a:r>
          </a:p>
        </p:txBody>
      </p:sp>
      <p:pic>
        <p:nvPicPr>
          <p:cNvPr id="87043" name="Picture 27" descr="Slide3-40">
            <a:extLst>
              <a:ext uri="{FF2B5EF4-FFF2-40B4-BE49-F238E27FC236}">
                <a16:creationId xmlns:a16="http://schemas.microsoft.com/office/drawing/2014/main" id="{30F5F7B6-B5F0-3D31-9935-ED6C95D56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2209800"/>
            <a:ext cx="7773987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Text Box 28" descr="Pink tissue paper">
            <a:extLst>
              <a:ext uri="{FF2B5EF4-FFF2-40B4-BE49-F238E27FC236}">
                <a16:creationId xmlns:a16="http://schemas.microsoft.com/office/drawing/2014/main" id="{4DBDE979-6B90-78FF-AE78-36AE44445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10200"/>
            <a:ext cx="6477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IT" sz="2400">
                <a:solidFill>
                  <a:schemeClr val="tx1"/>
                </a:solidFill>
              </a:rPr>
              <a:t>Read the min,max numbers next to the entity type and looking </a:t>
            </a:r>
            <a:r>
              <a:rPr lang="en-US" altLang="en-IT" sz="2400" b="1">
                <a:solidFill>
                  <a:schemeClr val="tx1"/>
                </a:solidFill>
              </a:rPr>
              <a:t>away from </a:t>
            </a:r>
            <a:r>
              <a:rPr lang="en-US" altLang="en-IT" sz="2400">
                <a:solidFill>
                  <a:schemeClr val="tx1"/>
                </a:solidFill>
              </a:rPr>
              <a:t>the entity type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D4ABF49-57A1-2343-CD45-79F5F74C6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7369175" cy="842962"/>
          </a:xfrm>
          <a:noFill/>
        </p:spPr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COMPANY ER Schema Diagram using (min, max) notation</a:t>
            </a:r>
          </a:p>
        </p:txBody>
      </p:sp>
      <p:pic>
        <p:nvPicPr>
          <p:cNvPr id="89091" name="Picture 4" descr="fig03_15">
            <a:extLst>
              <a:ext uri="{FF2B5EF4-FFF2-40B4-BE49-F238E27FC236}">
                <a16:creationId xmlns:a16="http://schemas.microsoft.com/office/drawing/2014/main" id="{ED6DB67B-7025-7EB7-F6DB-BC717A8B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1600200"/>
            <a:ext cx="4586287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B373D79-F67B-F01B-01DD-F2F9EA3E8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Alternative diagrammatic notation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BAFB15E-61DE-795D-D6F1-A5160A07A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713" y="1600200"/>
            <a:ext cx="8294687" cy="3581400"/>
          </a:xfrm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diagrams is one popular example for displaying database schemas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Many other notations exist in the literature and in various database design and modeling tools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UML class diagrams is representative of another way of displaying ER concepts that is used in several commercial design tools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6AEAE91-DA46-3819-9720-8A49C7FB1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UML class diagrams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14945F4-A05A-88F7-A9D9-4FD7E342F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Represent classes (similar to entity types) as large rounded boxes with three sections: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Top section includes entity type (class) 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Second section includes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Third section includes class operations (operations are not in basic ER model)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Relationships (called associations) represented as lines connecting the classes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Other UML terminology also differs from ER terminology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Used in database design and object-oriented software design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UML has many other types of diagrams for software design</a:t>
            </a:r>
          </a:p>
          <a:p>
            <a:pPr eaLnBrk="1" hangingPunct="1">
              <a:lnSpc>
                <a:spcPct val="80000"/>
              </a:lnSpc>
            </a:pPr>
            <a:endParaRPr lang="en-US" altLang="en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IT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C1B798B-5990-13DA-2E0F-446261CB8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UML class diagram for COMPANY database schema</a:t>
            </a:r>
          </a:p>
        </p:txBody>
      </p:sp>
      <p:pic>
        <p:nvPicPr>
          <p:cNvPr id="94211" name="Picture 4" descr="fig03_16">
            <a:extLst>
              <a:ext uri="{FF2B5EF4-FFF2-40B4-BE49-F238E27FC236}">
                <a16:creationId xmlns:a16="http://schemas.microsoft.com/office/drawing/2014/main" id="{04F9719A-EF50-77AD-8B37-4B916CAD54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88"/>
          <a:stretch>
            <a:fillRect/>
          </a:stretch>
        </p:blipFill>
        <p:spPr bwMode="auto">
          <a:xfrm>
            <a:off x="990600" y="1752600"/>
            <a:ext cx="6854825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5943F7-3347-7965-2C26-EF7B257FE4D3}"/>
                  </a:ext>
                </a:extLst>
              </p14:cNvPr>
              <p14:cNvContentPartPr/>
              <p14:nvPr/>
            </p14:nvContentPartPr>
            <p14:xfrm>
              <a:off x="1203793" y="2160908"/>
              <a:ext cx="678240" cy="69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5943F7-3347-7965-2C26-EF7B257FE4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7793" y="1945268"/>
                <a:ext cx="74988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5D9C0C-A627-0EDA-DEE7-B80393474FD6}"/>
                  </a:ext>
                </a:extLst>
              </p14:cNvPr>
              <p14:cNvContentPartPr/>
              <p14:nvPr/>
            </p14:nvContentPartPr>
            <p14:xfrm>
              <a:off x="1199833" y="3357188"/>
              <a:ext cx="698400" cy="33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5D9C0C-A627-0EDA-DEE7-B80393474F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4193" y="3141188"/>
                <a:ext cx="770040" cy="46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E78D2F-7D33-FB21-340A-6224052DA46A}"/>
              </a:ext>
            </a:extLst>
          </p:cNvPr>
          <p:cNvGrpSpPr/>
          <p:nvPr/>
        </p:nvGrpSpPr>
        <p:grpSpPr>
          <a:xfrm>
            <a:off x="3415273" y="1621988"/>
            <a:ext cx="487800" cy="313560"/>
            <a:chOff x="3415273" y="1621988"/>
            <a:chExt cx="487800" cy="313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41D469F-AA2B-06DE-D563-CB222EF7107D}"/>
                    </a:ext>
                  </a:extLst>
                </p14:cNvPr>
                <p14:cNvContentPartPr/>
                <p14:nvPr/>
              </p14:nvContentPartPr>
              <p14:xfrm>
                <a:off x="3444433" y="1621988"/>
                <a:ext cx="458640" cy="31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41D469F-AA2B-06DE-D563-CB222EF710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08793" y="1406348"/>
                  <a:ext cx="53028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4BF8B2-DD2F-AD3D-C6E0-4B742A90411E}"/>
                    </a:ext>
                  </a:extLst>
                </p14:cNvPr>
                <p14:cNvContentPartPr/>
                <p14:nvPr/>
              </p14:nvContentPartPr>
              <p14:xfrm>
                <a:off x="3415273" y="1785428"/>
                <a:ext cx="141840" cy="150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4BF8B2-DD2F-AD3D-C6E0-4B742A9041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79633" y="1569788"/>
                  <a:ext cx="213480" cy="581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>
            <a:extLst>
              <a:ext uri="{FF2B5EF4-FFF2-40B4-BE49-F238E27FC236}">
                <a16:creationId xmlns:a16="http://schemas.microsoft.com/office/drawing/2014/main" id="{9FAC554F-AC20-FFFC-9991-2214366D7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Relationships of Higher Degree</a:t>
            </a:r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864CE0E6-4729-5E98-CCF8-61962C22A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Relationship types of degree 2 are called binary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Relationship types of degree 3 are called ternary and of degree n are called n-</a:t>
            </a:r>
            <a:r>
              <a:rPr lang="en-US" altLang="en-IT" sz="1800" dirty="0" err="1">
                <a:ea typeface="ＭＳ Ｐゴシック" panose="020B0600070205080204" pitchFamily="34" charset="-128"/>
              </a:rPr>
              <a:t>ary</a:t>
            </a:r>
            <a:endParaRPr lang="en-US" altLang="en-IT" sz="1800" dirty="0">
              <a:ea typeface="ＭＳ Ｐゴシック" panose="020B0600070205080204" pitchFamily="34" charset="-128"/>
            </a:endParaRPr>
          </a:p>
          <a:p>
            <a:r>
              <a:rPr lang="en-US" altLang="en-IT" sz="1800" dirty="0">
                <a:ea typeface="ＭＳ Ｐゴシック" panose="020B0600070205080204" pitchFamily="34" charset="-128"/>
              </a:rPr>
              <a:t>In general, an 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n-</a:t>
            </a:r>
            <a:r>
              <a:rPr lang="en-US" altLang="en-IT" sz="1800" b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ary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relationship </a:t>
            </a:r>
            <a:r>
              <a:rPr lang="en-US" altLang="en-IT" sz="1800" dirty="0">
                <a:ea typeface="ＭＳ Ｐゴシック" panose="020B0600070205080204" pitchFamily="34" charset="-128"/>
              </a:rPr>
              <a:t>is not equivalent to n binary relationships and constraint </a:t>
            </a:r>
            <a:r>
              <a:rPr lang="en-US" altLang="en-IT" sz="1800" dirty="0"/>
              <a:t>are harder to specify</a:t>
            </a:r>
            <a:endParaRPr lang="en-US" altLang="en-IT" sz="1800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029" descr="fig03_17">
            <a:extLst>
              <a:ext uri="{FF2B5EF4-FFF2-40B4-BE49-F238E27FC236}">
                <a16:creationId xmlns:a16="http://schemas.microsoft.com/office/drawing/2014/main" id="{FB69DFCD-F578-2486-7BD1-C19D22A9EB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63636" b="7233"/>
          <a:stretch>
            <a:fillRect/>
          </a:stretch>
        </p:blipFill>
        <p:spPr bwMode="auto">
          <a:xfrm>
            <a:off x="2514600" y="5065081"/>
            <a:ext cx="3693381" cy="13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29" descr="fig03_17">
            <a:extLst>
              <a:ext uri="{FF2B5EF4-FFF2-40B4-BE49-F238E27FC236}">
                <a16:creationId xmlns:a16="http://schemas.microsoft.com/office/drawing/2014/main" id="{21552A61-327A-55C0-9EB6-FE6BA8F54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5" r="5562" b="75758"/>
          <a:stretch>
            <a:fillRect/>
          </a:stretch>
        </p:blipFill>
        <p:spPr bwMode="auto">
          <a:xfrm>
            <a:off x="381000" y="3742989"/>
            <a:ext cx="3464781" cy="128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29" descr="fig03_17">
            <a:extLst>
              <a:ext uri="{FF2B5EF4-FFF2-40B4-BE49-F238E27FC236}">
                <a16:creationId xmlns:a16="http://schemas.microsoft.com/office/drawing/2014/main" id="{3DEB75F8-FE94-0A1B-5C4B-F7917388A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5" t="24242" r="3633" b="39394"/>
          <a:stretch>
            <a:fillRect/>
          </a:stretch>
        </p:blipFill>
        <p:spPr bwMode="auto">
          <a:xfrm>
            <a:off x="5298221" y="3429000"/>
            <a:ext cx="3037880" cy="1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063DB-F966-2B22-B452-87532D787ABD}"/>
              </a:ext>
            </a:extLst>
          </p:cNvPr>
          <p:cNvSpPr txBox="1"/>
          <p:nvPr/>
        </p:nvSpPr>
        <p:spPr>
          <a:xfrm rot="21094460">
            <a:off x="239713" y="5364628"/>
            <a:ext cx="2044810" cy="938719"/>
          </a:xfrm>
          <a:custGeom>
            <a:avLst/>
            <a:gdLst>
              <a:gd name="csX0" fmla="*/ 0 w 2044810"/>
              <a:gd name="csY0" fmla="*/ 0 h 938719"/>
              <a:gd name="csX1" fmla="*/ 490754 w 2044810"/>
              <a:gd name="csY1" fmla="*/ 0 h 938719"/>
              <a:gd name="csX2" fmla="*/ 940613 w 2044810"/>
              <a:gd name="csY2" fmla="*/ 0 h 938719"/>
              <a:gd name="csX3" fmla="*/ 1492711 w 2044810"/>
              <a:gd name="csY3" fmla="*/ 0 h 938719"/>
              <a:gd name="csX4" fmla="*/ 2044810 w 2044810"/>
              <a:gd name="csY4" fmla="*/ 0 h 938719"/>
              <a:gd name="csX5" fmla="*/ 2044810 w 2044810"/>
              <a:gd name="csY5" fmla="*/ 459972 h 938719"/>
              <a:gd name="csX6" fmla="*/ 2044810 w 2044810"/>
              <a:gd name="csY6" fmla="*/ 938719 h 938719"/>
              <a:gd name="csX7" fmla="*/ 1533608 w 2044810"/>
              <a:gd name="csY7" fmla="*/ 938719 h 938719"/>
              <a:gd name="csX8" fmla="*/ 981509 w 2044810"/>
              <a:gd name="csY8" fmla="*/ 938719 h 938719"/>
              <a:gd name="csX9" fmla="*/ 531651 w 2044810"/>
              <a:gd name="csY9" fmla="*/ 938719 h 938719"/>
              <a:gd name="csX10" fmla="*/ 0 w 2044810"/>
              <a:gd name="csY10" fmla="*/ 938719 h 938719"/>
              <a:gd name="csX11" fmla="*/ 0 w 2044810"/>
              <a:gd name="csY11" fmla="*/ 469360 h 938719"/>
              <a:gd name="csX12" fmla="*/ 0 w 2044810"/>
              <a:gd name="csY12" fmla="*/ 0 h 938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044810" h="938719" extrusionOk="0">
                <a:moveTo>
                  <a:pt x="0" y="0"/>
                </a:moveTo>
                <a:cubicBezTo>
                  <a:pt x="243503" y="-47437"/>
                  <a:pt x="270007" y="18120"/>
                  <a:pt x="490754" y="0"/>
                </a:cubicBezTo>
                <a:cubicBezTo>
                  <a:pt x="711501" y="-18120"/>
                  <a:pt x="763739" y="47886"/>
                  <a:pt x="940613" y="0"/>
                </a:cubicBezTo>
                <a:cubicBezTo>
                  <a:pt x="1117487" y="-47886"/>
                  <a:pt x="1341536" y="21483"/>
                  <a:pt x="1492711" y="0"/>
                </a:cubicBezTo>
                <a:cubicBezTo>
                  <a:pt x="1643886" y="-21483"/>
                  <a:pt x="1930485" y="23260"/>
                  <a:pt x="2044810" y="0"/>
                </a:cubicBezTo>
                <a:cubicBezTo>
                  <a:pt x="2094487" y="186282"/>
                  <a:pt x="2009582" y="361253"/>
                  <a:pt x="2044810" y="459972"/>
                </a:cubicBezTo>
                <a:cubicBezTo>
                  <a:pt x="2080038" y="558691"/>
                  <a:pt x="2031840" y="700492"/>
                  <a:pt x="2044810" y="938719"/>
                </a:cubicBezTo>
                <a:cubicBezTo>
                  <a:pt x="1864307" y="973759"/>
                  <a:pt x="1777847" y="889709"/>
                  <a:pt x="1533608" y="938719"/>
                </a:cubicBezTo>
                <a:cubicBezTo>
                  <a:pt x="1289369" y="987729"/>
                  <a:pt x="1123925" y="928316"/>
                  <a:pt x="981509" y="938719"/>
                </a:cubicBezTo>
                <a:cubicBezTo>
                  <a:pt x="839093" y="949122"/>
                  <a:pt x="631541" y="907123"/>
                  <a:pt x="531651" y="938719"/>
                </a:cubicBezTo>
                <a:cubicBezTo>
                  <a:pt x="431761" y="970315"/>
                  <a:pt x="236334" y="905283"/>
                  <a:pt x="0" y="938719"/>
                </a:cubicBezTo>
                <a:cubicBezTo>
                  <a:pt x="-42901" y="821119"/>
                  <a:pt x="28954" y="652278"/>
                  <a:pt x="0" y="469360"/>
                </a:cubicBezTo>
                <a:cubicBezTo>
                  <a:pt x="-28954" y="286442"/>
                  <a:pt x="26529" y="9514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altLang="en-IT" sz="1100" i="1" dirty="0">
                <a:ea typeface="ＭＳ Ｐゴシック" panose="020B0600070205080204" pitchFamily="34" charset="-128"/>
              </a:rPr>
              <a:t>In some cases, a ternary relationship can be represented as a weak entity if the data model allows a weak entity </a:t>
            </a:r>
            <a:endParaRPr lang="en-US" sz="1100" i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C106AC-11E3-8E4C-19C7-50682741FC99}"/>
              </a:ext>
            </a:extLst>
          </p:cNvPr>
          <p:cNvGrpSpPr/>
          <p:nvPr/>
        </p:nvGrpSpPr>
        <p:grpSpPr>
          <a:xfrm>
            <a:off x="2449440" y="5755120"/>
            <a:ext cx="1022040" cy="517320"/>
            <a:chOff x="2449440" y="5755120"/>
            <a:chExt cx="1022040" cy="517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37F5DA-37A4-A8CA-B478-C09E23A828E6}"/>
                    </a:ext>
                  </a:extLst>
                </p14:cNvPr>
                <p14:cNvContentPartPr/>
                <p14:nvPr/>
              </p14:nvContentPartPr>
              <p14:xfrm>
                <a:off x="2449440" y="5876080"/>
                <a:ext cx="1022040" cy="396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37F5DA-37A4-A8CA-B478-C09E23A828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13800" y="5660440"/>
                  <a:ext cx="109368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B8D5D1-A576-3AF9-5D2F-BA1547C67D06}"/>
                    </a:ext>
                  </a:extLst>
                </p14:cNvPr>
                <p14:cNvContentPartPr/>
                <p14:nvPr/>
              </p14:nvContentPartPr>
              <p14:xfrm>
                <a:off x="3280680" y="5755120"/>
                <a:ext cx="186840" cy="10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B8D5D1-A576-3AF9-5D2F-BA1547C67D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44680" y="5539120"/>
                  <a:ext cx="2584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8F2E16-D5B4-42FB-1F61-F28DDC853EB9}"/>
                    </a:ext>
                  </a:extLst>
                </p14:cNvPr>
                <p14:cNvContentPartPr/>
                <p14:nvPr/>
              </p14:nvContentPartPr>
              <p14:xfrm>
                <a:off x="3307320" y="5911360"/>
                <a:ext cx="123480" cy="115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8F2E16-D5B4-42FB-1F61-F28DDC853E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1680" y="5695360"/>
                  <a:ext cx="1951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818CB5-FC1F-0F2D-D21F-CAF66514846B}"/>
                    </a:ext>
                  </a:extLst>
                </p14:cNvPr>
                <p14:cNvContentPartPr/>
                <p14:nvPr/>
              </p14:nvContentPartPr>
              <p14:xfrm>
                <a:off x="3291480" y="5781760"/>
                <a:ext cx="23400" cy="211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818CB5-FC1F-0F2D-D21F-CAF6651484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5480" y="5565760"/>
                  <a:ext cx="9504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EEA1CB-6935-14AC-DBCE-B4962FCE60B5}"/>
                    </a:ext>
                  </a:extLst>
                </p14:cNvPr>
                <p14:cNvContentPartPr/>
                <p14:nvPr/>
              </p14:nvContentPartPr>
              <p14:xfrm>
                <a:off x="3310200" y="5812000"/>
                <a:ext cx="100800" cy="14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EEA1CB-6935-14AC-DBCE-B4962FCE60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4560" y="5596360"/>
                  <a:ext cx="172440" cy="572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26">
            <a:extLst>
              <a:ext uri="{FF2B5EF4-FFF2-40B4-BE49-F238E27FC236}">
                <a16:creationId xmlns:a16="http://schemas.microsoft.com/office/drawing/2014/main" id="{BBC19B84-9A51-3E8E-C12B-C8EEA33A5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Discussion of n-ary relationships (n &gt; 2)</a:t>
            </a:r>
          </a:p>
        </p:txBody>
      </p:sp>
      <p:sp>
        <p:nvSpPr>
          <p:cNvPr id="100355" name="Rectangle 1027">
            <a:extLst>
              <a:ext uri="{FF2B5EF4-FFF2-40B4-BE49-F238E27FC236}">
                <a16:creationId xmlns:a16="http://schemas.microsoft.com/office/drawing/2014/main" id="{37D5F573-1EDD-B2E3-A86B-BABADDF9D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If a particular binary relationship can be derived from a higher-degree relationship at all times, then it is redundant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For example, the TAUGHT_DURING binary relationship in Figure 3.18 (see next slide) can be derived from the ternary relationship OFFERS (based on the meaning of the relationships)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26">
            <a:extLst>
              <a:ext uri="{FF2B5EF4-FFF2-40B4-BE49-F238E27FC236}">
                <a16:creationId xmlns:a16="http://schemas.microsoft.com/office/drawing/2014/main" id="{5F8FD1CC-7001-E262-DEE6-8B1C585FD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Another example of a ternary relationship</a:t>
            </a:r>
          </a:p>
        </p:txBody>
      </p:sp>
      <p:pic>
        <p:nvPicPr>
          <p:cNvPr id="101379" name="Picture 1029" descr="fig03_18">
            <a:extLst>
              <a:ext uri="{FF2B5EF4-FFF2-40B4-BE49-F238E27FC236}">
                <a16:creationId xmlns:a16="http://schemas.microsoft.com/office/drawing/2014/main" id="{9F8E2D8C-EDBF-5085-F3FA-43822441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905000"/>
            <a:ext cx="798988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026">
            <a:extLst>
              <a:ext uri="{FF2B5EF4-FFF2-40B4-BE49-F238E27FC236}">
                <a16:creationId xmlns:a16="http://schemas.microsoft.com/office/drawing/2014/main" id="{07C5F1C5-8B10-64EA-39E3-FB44C4A65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Displaying constraints on higher-degree relationships</a:t>
            </a:r>
          </a:p>
        </p:txBody>
      </p:sp>
      <p:sp>
        <p:nvSpPr>
          <p:cNvPr id="102403" name="Rectangle 1027">
            <a:extLst>
              <a:ext uri="{FF2B5EF4-FFF2-40B4-BE49-F238E27FC236}">
                <a16:creationId xmlns:a16="http://schemas.microsoft.com/office/drawing/2014/main" id="{5FEE5AD0-6BAC-CF83-D65B-9FEDB8151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The (min, max) constraints can be displayed on the edges – however, they do not fully describe the constraints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Displaying a 1, M, or N indicates additional constraints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M or N indicates no constraint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1 indicates that an entity can participate in at most one relationship instance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that has a particular combination of the other participating entities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In general, both (min, max) and 1, M, or N are needed to describe fully the constraints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Overall, the constraint specification is difficult and possibly ambiguous when we consider relationships of a degree higher than two.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>
            <a:extLst>
              <a:ext uri="{FF2B5EF4-FFF2-40B4-BE49-F238E27FC236}">
                <a16:creationId xmlns:a16="http://schemas.microsoft.com/office/drawing/2014/main" id="{F43438AA-EF11-1D59-3C7D-5C6346F1A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Another Example: A UNIVERSITY Database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AB2083E6-5D87-D917-AB26-8B3D07FFF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To keep track of the enrollments in classes and student grades, another database is to be designed.</a:t>
            </a:r>
          </a:p>
          <a:p>
            <a:r>
              <a:rPr lang="en-US" altLang="en-IT">
                <a:ea typeface="ＭＳ Ｐゴシック" panose="020B0600070205080204" pitchFamily="34" charset="-128"/>
              </a:rPr>
              <a:t>It keeps track of the COLLEGEs, DEPARTMENTs within each college, the COURSEs offered by departments, and SECTIONs of courses, INSTRUCTORs who teach the sections etc.</a:t>
            </a:r>
          </a:p>
          <a:p>
            <a:r>
              <a:rPr lang="en-US" altLang="en-IT">
                <a:ea typeface="ＭＳ Ｐゴシック" panose="020B0600070205080204" pitchFamily="34" charset="-128"/>
              </a:rPr>
              <a:t>These entity types and the relationships among these entity types are shown on the next slide in Figure 3.20.</a:t>
            </a:r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2AC9CA6C-BE5C-3CA4-94DE-B10EA9826B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2BC91422-9E22-4147-9758-8422BCF74BDF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CA" altLang="en-IT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>
            <a:extLst>
              <a:ext uri="{FF2B5EF4-FFF2-40B4-BE49-F238E27FC236}">
                <a16:creationId xmlns:a16="http://schemas.microsoft.com/office/drawing/2014/main" id="{915D436B-39A7-057C-7EED-E24045889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latin typeface="Calibri Light" panose="020F0302020204030204" pitchFamily="34" charset="0"/>
                <a:ea typeface="ＭＳ Ｐゴシック" panose="020B0600070205080204" pitchFamily="34" charset="-128"/>
              </a:rPr>
              <a:t>UNIVERSITY database conceptual schema</a:t>
            </a:r>
          </a:p>
        </p:txBody>
      </p:sp>
      <p:sp>
        <p:nvSpPr>
          <p:cNvPr id="104451" name="Footer Placeholder 1">
            <a:extLst>
              <a:ext uri="{FF2B5EF4-FFF2-40B4-BE49-F238E27FC236}">
                <a16:creationId xmlns:a16="http://schemas.microsoft.com/office/drawing/2014/main" id="{AF6F96EF-0473-1FAC-6A29-B6E379D8BB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6356350"/>
            <a:ext cx="30861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900">
                <a:solidFill>
                  <a:srgbClr val="898989"/>
                </a:solidFill>
              </a:rPr>
              <a:t>©2016 Ramez Elmasri and Shamkant B. Navathe</a:t>
            </a:r>
          </a:p>
        </p:txBody>
      </p:sp>
      <p:sp>
        <p:nvSpPr>
          <p:cNvPr id="104450" name="Slide Number Placeholder 3">
            <a:extLst>
              <a:ext uri="{FF2B5EF4-FFF2-40B4-BE49-F238E27FC236}">
                <a16:creationId xmlns:a16="http://schemas.microsoft.com/office/drawing/2014/main" id="{BAB2304F-8525-723B-1592-1092B5F410C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55B64D01-8D7D-F14E-92E4-CCFCFCDBBA71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CA" altLang="en-IT" sz="1400">
              <a:solidFill>
                <a:srgbClr val="990033"/>
              </a:solidFill>
            </a:endParaRPr>
          </a:p>
        </p:txBody>
      </p:sp>
      <p:pic>
        <p:nvPicPr>
          <p:cNvPr id="104452" name="Picture 3">
            <a:extLst>
              <a:ext uri="{FF2B5EF4-FFF2-40B4-BE49-F238E27FC236}">
                <a16:creationId xmlns:a16="http://schemas.microsoft.com/office/drawing/2014/main" id="{46CE5375-8E0E-A81F-5EA7-DD18BCBE4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690688"/>
            <a:ext cx="7888287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5">
            <a:extLst>
              <a:ext uri="{FF2B5EF4-FFF2-40B4-BE49-F238E27FC236}">
                <a16:creationId xmlns:a16="http://schemas.microsoft.com/office/drawing/2014/main" id="{7CB24174-DA09-0815-7966-99A0230E3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243013"/>
            <a:ext cx="788987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4" name="Picture 6">
            <a:extLst>
              <a:ext uri="{FF2B5EF4-FFF2-40B4-BE49-F238E27FC236}">
                <a16:creationId xmlns:a16="http://schemas.microsoft.com/office/drawing/2014/main" id="{6112E138-7C68-5605-3893-5D4712F61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1690688"/>
            <a:ext cx="4733925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4">
            <a:extLst>
              <a:ext uri="{FF2B5EF4-FFF2-40B4-BE49-F238E27FC236}">
                <a16:creationId xmlns:a16="http://schemas.microsoft.com/office/drawing/2014/main" id="{272E6876-7BC6-C058-6E38-D472AD527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Extended Entity-Relationship (EER) Model (in the next chapter)</a:t>
            </a:r>
          </a:p>
        </p:txBody>
      </p:sp>
      <p:sp>
        <p:nvSpPr>
          <p:cNvPr id="111619" name="Rectangle 5">
            <a:extLst>
              <a:ext uri="{FF2B5EF4-FFF2-40B4-BE49-F238E27FC236}">
                <a16:creationId xmlns:a16="http://schemas.microsoft.com/office/drawing/2014/main" id="{62408854-4B82-EB05-B4F2-624354D58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The entity relationship model in its original form did not support the specialization and generalization abstractions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Next chapter illustrates how the ER model can be extended with 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Type-subtype and set-subset relationships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Specialization/Generalization Hierarchies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Notation to display them in EER diagrams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B58F282-D680-3E40-BAA0-C834AFA52925}" vid="{641FFC18-1A8E-6446-AF59-59AFE3328ED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8592</TotalTime>
  <Words>3194</Words>
  <Application>Microsoft Macintosh PowerPoint</Application>
  <PresentationFormat>Letter Paper (8.5x11 in)</PresentationFormat>
  <Paragraphs>320</Paragraphs>
  <Slides>56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MS PGothic</vt:lpstr>
      <vt:lpstr>MS PGothic</vt:lpstr>
      <vt:lpstr>Arial</vt:lpstr>
      <vt:lpstr>Calibri Light</vt:lpstr>
      <vt:lpstr>Tahoma</vt:lpstr>
      <vt:lpstr>Times New Roman</vt:lpstr>
      <vt:lpstr>Wingdings</vt:lpstr>
      <vt:lpstr>Theme1</vt:lpstr>
      <vt:lpstr> </vt:lpstr>
      <vt:lpstr>Overview of Database Design Process</vt:lpstr>
      <vt:lpstr>Overview of Database Design Process</vt:lpstr>
      <vt:lpstr>Methodologies for Conceptual Design</vt:lpstr>
      <vt:lpstr>Example COMPANY Database</vt:lpstr>
      <vt:lpstr>Example COMPANY Database</vt:lpstr>
      <vt:lpstr>Example COMPANY Database</vt:lpstr>
      <vt:lpstr>Example COMPANY Database</vt:lpstr>
      <vt:lpstr>The Company ER model</vt:lpstr>
      <vt:lpstr>ER Model Concepts</vt:lpstr>
      <vt:lpstr>ER Model Concepts</vt:lpstr>
      <vt:lpstr>Types of Attributes (1)</vt:lpstr>
      <vt:lpstr>Types of Attributes (2)</vt:lpstr>
      <vt:lpstr>Example of a composite attribute</vt:lpstr>
      <vt:lpstr>Entity Types and Key Attributes (1)</vt:lpstr>
      <vt:lpstr>Entity Types and Key Attributes (2)</vt:lpstr>
      <vt:lpstr>Displaying an Entity type</vt:lpstr>
      <vt:lpstr>NOTATION for ER diagrams</vt:lpstr>
      <vt:lpstr>Entity Type CAR with two keys and a corresponding Entity Set</vt:lpstr>
      <vt:lpstr>Value Sets (Domains) of Attributes</vt:lpstr>
      <vt:lpstr>Initial Conceptual Design of Entity Types for the COMPANY Database Schema</vt:lpstr>
      <vt:lpstr>Biblioteca universitaria (1)</vt:lpstr>
      <vt:lpstr>Biblioteca universitaria (2)</vt:lpstr>
      <vt:lpstr>Refining the initial design by introducing relationships</vt:lpstr>
      <vt:lpstr>Relationships and Relationship Types (1)</vt:lpstr>
      <vt:lpstr>Relationship instances of the WORKS_FOR N:1 relationship between EMPLOYEE and DEPARTMENT</vt:lpstr>
      <vt:lpstr>Relationship instances of the M:N  WORKS_ON relationship between EMPLOYEE and PROJECT</vt:lpstr>
      <vt:lpstr>Relationship type vs. relationship set (1)</vt:lpstr>
      <vt:lpstr>Relationship type vs. relationship set (2)</vt:lpstr>
      <vt:lpstr>Refining the COMPANY database schema by introducing relationships</vt:lpstr>
      <vt:lpstr>ER DIAGRAM – Relationship Types are: WORKS_FOR, MANAGES, WORKS_ON, CONTROLS, SUPERVISION, DEPENDENTS_OF</vt:lpstr>
      <vt:lpstr>NOTATION for ER diagrams</vt:lpstr>
      <vt:lpstr>Discussion on Relationship Types</vt:lpstr>
      <vt:lpstr>Constraints on Relationships</vt:lpstr>
      <vt:lpstr>Many-to-one (N:1) Relationship</vt:lpstr>
      <vt:lpstr>Many-to-many (M:N) Relationship</vt:lpstr>
      <vt:lpstr>Recursive Relationship Type</vt:lpstr>
      <vt:lpstr>A Recursive Relationship Supervision`</vt:lpstr>
      <vt:lpstr>ER DIAGRAM – Relationship Types are: WORKS_FOR, MANAGES, WORKS_ON, CONTROLS, SUPERVISION, DEPENDENTS_OF</vt:lpstr>
      <vt:lpstr>NOTATION for ER diagrams</vt:lpstr>
      <vt:lpstr>Weak Entity Types</vt:lpstr>
      <vt:lpstr>Attributes of Relationship types</vt:lpstr>
      <vt:lpstr>Example Attribute of a Relationship Type:  Hours of WORKS_ON</vt:lpstr>
      <vt:lpstr>Alternative (min, max) notation for relationship structural constraints:</vt:lpstr>
      <vt:lpstr>The (min,max) notation for relationship constraints</vt:lpstr>
      <vt:lpstr>COMPANY ER Schema Diagram using (min, max) notation</vt:lpstr>
      <vt:lpstr>Alternative diagrammatic notation</vt:lpstr>
      <vt:lpstr>UML class diagrams</vt:lpstr>
      <vt:lpstr>UML class diagram for COMPANY database schema</vt:lpstr>
      <vt:lpstr>Relationships of Higher Degree</vt:lpstr>
      <vt:lpstr>Discussion of n-ary relationships (n &gt; 2)</vt:lpstr>
      <vt:lpstr>Another example of a ternary relationship</vt:lpstr>
      <vt:lpstr>Displaying constraints on higher-degree relationships</vt:lpstr>
      <vt:lpstr>Another Example: A UNIVERSITY Database</vt:lpstr>
      <vt:lpstr>UNIVERSITY database conceptual schema</vt:lpstr>
      <vt:lpstr>Extended Entity-Relationship (EER) Model (in the next chapter)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subject>Data Modeling Using the Entity-Relationship (ER) Model</dc:subject>
  <dc:creator>Elmasri/Navathe</dc:creator>
  <cp:keywords/>
  <dc:description/>
  <cp:lastModifiedBy>Esperto Alba Project</cp:lastModifiedBy>
  <cp:revision>120</cp:revision>
  <cp:lastPrinted>2001-11-04T00:51:13Z</cp:lastPrinted>
  <dcterms:created xsi:type="dcterms:W3CDTF">2005-02-25T19:46:41Z</dcterms:created>
  <dcterms:modified xsi:type="dcterms:W3CDTF">2026-03-15T19:50:56Z</dcterms:modified>
  <cp:category/>
</cp:coreProperties>
</file>